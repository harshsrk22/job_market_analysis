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webextensions/webextension1.xml" ContentType="application/vnd.ms-office.webextension+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0" r:id="rId2"/>
    <p:sldId id="271" r:id="rId3"/>
    <p:sldId id="272" r:id="rId4"/>
    <p:sldId id="290" r:id="rId5"/>
    <p:sldId id="273" r:id="rId6"/>
    <p:sldId id="260" r:id="rId7"/>
    <p:sldId id="291" r:id="rId8"/>
    <p:sldId id="292" r:id="rId9"/>
    <p:sldId id="293" r:id="rId10"/>
    <p:sldId id="264" r:id="rId11"/>
    <p:sldId id="294" r:id="rId12"/>
    <p:sldId id="266" r:id="rId13"/>
    <p:sldId id="267" r:id="rId14"/>
    <p:sldId id="295" r:id="rId15"/>
    <p:sldId id="29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9A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674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2E263-3050-5DA2-83F5-15939F362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C5D74-5C2F-6E4B-251D-05206F0E1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7C17C-E279-7356-4306-178A24A816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16DB4C-FD97-2F32-737B-832B2FD28F8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54669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004E-9C1D-0BC5-471E-0D923172D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C3A95-8B6D-26DD-AAA4-79A3A89AE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EAD04-F480-AE42-E8D0-AC338DE687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D1BE79-A3B7-F667-1D22-DDB59B86AFF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83652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1258411abd8_2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8" name="Google Shape;458;g1258411abd8_2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94F5B-92D9-DF56-03A9-EAD206413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7D860-62FE-B492-E988-FD40D33B7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C3A34-0EDB-3FDD-63AB-F31791B79E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94935A-8F03-1F59-9AE6-87C86277284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12787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8E3EA-0309-50D7-7A4F-77CA06D01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01CDA-797A-40E2-C3F1-CBB024247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0D5AD-EDFC-4F3C-C13F-6CA815CF2D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24D9FD-4B05-3B15-F5DA-03DEF6F1FE8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24607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51D5C-A248-0168-FCA7-316152BBD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2E06A-E5CE-5BA2-1ECB-EB8EA411F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54607-C461-7D07-4AC1-D5E879613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E56B11-F414-A5B6-B2D1-B789235CEDB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56921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9F999-BDC6-8015-E012-8E0E5C15A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41DFB-62AF-5E10-BE3B-73DA282DF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AB966-20FE-2A95-D1AC-57C686BAA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AA72FC-697E-7F20-53F3-05AB1384525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10194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837F-6ABF-4BF0-9486-EB6AA710C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2D346-C4E4-3596-1E5A-F42480727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6010D-E0E4-AA24-A3B2-52BE76EC8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E788E2-6DA1-462B-839B-329B8F92FAA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76431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B1C6E-A818-259E-F048-72984976C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A58DF-068E-346C-5F9D-25B431192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B16E6-9A0D-0794-EE2F-B47E8AF32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53C7F-ECAB-F578-5F6D-CB5DC2151E6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35825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09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0448948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251444" y="2623343"/>
            <a:ext cx="10779629" cy="805657"/>
          </a:xfrm>
          <a:prstGeom prst="rect">
            <a:avLst/>
          </a:prstGeom>
          <a:noFill/>
          <a:ln/>
        </p:spPr>
        <p:txBody>
          <a:bodyPr wrap="square" lIns="0" tIns="0" rIns="0" bIns="0" rtlCol="0" anchor="t"/>
          <a:lstStyle/>
          <a:p>
            <a:pPr>
              <a:lnSpc>
                <a:spcPts val="4400"/>
              </a:lnSpc>
            </a:pPr>
            <a:r>
              <a:rPr lang="en-US" sz="3200" b="1" dirty="0">
                <a:solidFill>
                  <a:schemeClr val="accent2">
                    <a:lumMod val="50000"/>
                  </a:schemeClr>
                </a:solidFill>
                <a:latin typeface="Calibri" pitchFamily="34" charset="0"/>
                <a:ea typeface="Calibri" pitchFamily="34" charset="-122"/>
                <a:cs typeface="Calibri" pitchFamily="34" charset="-120"/>
              </a:rPr>
              <a:t>CUSTOMER SHOPPING</a:t>
            </a:r>
            <a:r>
              <a:rPr lang="en-US" sz="3200" dirty="0">
                <a:solidFill>
                  <a:schemeClr val="accent2">
                    <a:lumMod val="50000"/>
                  </a:schemeClr>
                </a:solidFill>
              </a:rPr>
              <a:t> </a:t>
            </a:r>
            <a:r>
              <a:rPr lang="en-US" sz="3200" b="1" dirty="0">
                <a:solidFill>
                  <a:schemeClr val="accent2">
                    <a:lumMod val="50000"/>
                  </a:schemeClr>
                </a:solidFill>
                <a:latin typeface="Calibri" pitchFamily="34" charset="0"/>
                <a:ea typeface="Calibri" pitchFamily="34" charset="-122"/>
                <a:cs typeface="Calibri" pitchFamily="34" charset="-120"/>
              </a:rPr>
              <a:t>BEHAVIOUR ANALYSIS</a:t>
            </a:r>
            <a:endParaRPr lang="en-US" sz="3600" b="1" dirty="0">
              <a:solidFill>
                <a:schemeClr val="accent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0">
            <a:extLst>
              <a:ext uri="{FF2B5EF4-FFF2-40B4-BE49-F238E27FC236}">
                <a16:creationId xmlns:a16="http://schemas.microsoft.com/office/drawing/2014/main" id="{031169C9-5872-101B-9D43-462AB1230D08}"/>
              </a:ext>
            </a:extLst>
          </p:cNvPr>
          <p:cNvSpPr/>
          <p:nvPr/>
        </p:nvSpPr>
        <p:spPr>
          <a:xfrm>
            <a:off x="2138912" y="3172094"/>
            <a:ext cx="7801644" cy="805657"/>
          </a:xfrm>
          <a:prstGeom prst="rect">
            <a:avLst/>
          </a:prstGeom>
          <a:noFill/>
          <a:ln/>
        </p:spPr>
        <p:txBody>
          <a:bodyPr wrap="square" lIns="0" tIns="0" rIns="0" bIns="0" rtlCol="0" anchor="t"/>
          <a:lstStyle/>
          <a:p>
            <a:pPr algn="ctr"/>
            <a:r>
              <a:rPr lang="en-IN" sz="1400" b="1" i="1" dirty="0"/>
              <a:t>An Interactive Power BI Analysis of Shopping Patterns Across 10 Istanbul Malls (2021–2023)</a:t>
            </a:r>
            <a:endParaRPr lang="en-IN" sz="1400" dirty="0"/>
          </a:p>
        </p:txBody>
      </p:sp>
      <p:sp>
        <p:nvSpPr>
          <p:cNvPr id="2" name="Rectangle 1">
            <a:extLst>
              <a:ext uri="{FF2B5EF4-FFF2-40B4-BE49-F238E27FC236}">
                <a16:creationId xmlns:a16="http://schemas.microsoft.com/office/drawing/2014/main" id="{F51AD601-EA4C-C6DA-7293-57F20386FC51}"/>
              </a:ext>
            </a:extLst>
          </p:cNvPr>
          <p:cNvSpPr/>
          <p:nvPr/>
        </p:nvSpPr>
        <p:spPr>
          <a:xfrm>
            <a:off x="336637" y="375781"/>
            <a:ext cx="11518726" cy="61064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8" name="TextBox 7">
            <a:extLst>
              <a:ext uri="{FF2B5EF4-FFF2-40B4-BE49-F238E27FC236}">
                <a16:creationId xmlns:a16="http://schemas.microsoft.com/office/drawing/2014/main" id="{4CBE3929-6A78-7D53-CCFC-2B32F8A6158F}"/>
              </a:ext>
            </a:extLst>
          </p:cNvPr>
          <p:cNvSpPr txBox="1"/>
          <p:nvPr/>
        </p:nvSpPr>
        <p:spPr>
          <a:xfrm>
            <a:off x="507704" y="6197525"/>
            <a:ext cx="6565604" cy="284693"/>
          </a:xfrm>
          <a:prstGeom prst="rect">
            <a:avLst/>
          </a:prstGeom>
          <a:noFill/>
        </p:spPr>
        <p:txBody>
          <a:bodyPr wrap="square">
            <a:spAutoFit/>
          </a:bodyPr>
          <a:lstStyle/>
          <a:p>
            <a:pPr marL="0" indent="0">
              <a:buNone/>
            </a:pPr>
            <a:r>
              <a:rPr lang="en-US" sz="1250" dirty="0">
                <a:solidFill>
                  <a:schemeClr val="accent2">
                    <a:lumMod val="50000"/>
                  </a:schemeClr>
                </a:solidFill>
                <a:latin typeface="Calibri" pitchFamily="34" charset="0"/>
                <a:ea typeface="Calibri" pitchFamily="34" charset="-122"/>
                <a:cs typeface="Calibri" pitchFamily="34" charset="-120"/>
              </a:rPr>
              <a:t>Customer shopping data across 10 Istanbul malls  •  99,457 transactions  •  2021–2023</a:t>
            </a:r>
            <a:endParaRPr lang="en-US" sz="1250" dirty="0">
              <a:solidFill>
                <a:schemeClr val="accent2">
                  <a:lumMod val="50000"/>
                </a:schemeClr>
              </a:solidFill>
            </a:endParaRPr>
          </a:p>
        </p:txBody>
      </p:sp>
      <p:sp>
        <p:nvSpPr>
          <p:cNvPr id="10" name="Text 0">
            <a:extLst>
              <a:ext uri="{FF2B5EF4-FFF2-40B4-BE49-F238E27FC236}">
                <a16:creationId xmlns:a16="http://schemas.microsoft.com/office/drawing/2014/main" id="{94D783A6-A453-ABA0-11FC-3A329D27EB59}"/>
              </a:ext>
            </a:extLst>
          </p:cNvPr>
          <p:cNvSpPr/>
          <p:nvPr/>
        </p:nvSpPr>
        <p:spPr>
          <a:xfrm>
            <a:off x="10621925" y="5524494"/>
            <a:ext cx="2509284" cy="622058"/>
          </a:xfrm>
          <a:prstGeom prst="rect">
            <a:avLst/>
          </a:prstGeom>
          <a:noFill/>
          <a:ln/>
        </p:spPr>
        <p:txBody>
          <a:bodyPr wrap="square" lIns="0" tIns="0" rIns="0" bIns="0" rtlCol="0" anchor="t"/>
          <a:lstStyle/>
          <a:p>
            <a:r>
              <a:rPr lang="en-IN" sz="1400" b="1" i="1" dirty="0"/>
              <a:t>Ritika Tak</a:t>
            </a:r>
          </a:p>
          <a:p>
            <a:r>
              <a:rPr lang="en-IN" sz="1400" b="1" i="1" dirty="0"/>
              <a:t>Harsh Raj Singh</a:t>
            </a:r>
          </a:p>
        </p:txBody>
      </p:sp>
      <p:sp>
        <p:nvSpPr>
          <p:cNvPr id="12" name="TextBox 11">
            <a:extLst>
              <a:ext uri="{FF2B5EF4-FFF2-40B4-BE49-F238E27FC236}">
                <a16:creationId xmlns:a16="http://schemas.microsoft.com/office/drawing/2014/main" id="{B7BADB6E-4CA5-E243-42AC-AC60BC449D60}"/>
              </a:ext>
            </a:extLst>
          </p:cNvPr>
          <p:cNvSpPr txBox="1"/>
          <p:nvPr/>
        </p:nvSpPr>
        <p:spPr>
          <a:xfrm>
            <a:off x="6657754" y="5503109"/>
            <a:ext cx="6565604" cy="307777"/>
          </a:xfrm>
          <a:prstGeom prst="rect">
            <a:avLst/>
          </a:prstGeom>
          <a:noFill/>
        </p:spPr>
        <p:txBody>
          <a:bodyPr wrap="square">
            <a:spAutoFit/>
          </a:bodyPr>
          <a:lstStyle/>
          <a:p>
            <a:pPr algn="ctr"/>
            <a:r>
              <a:rPr lang="en-IN" sz="1400" b="1" i="1" dirty="0"/>
              <a:t>Created by:-</a:t>
            </a:r>
          </a:p>
        </p:txBody>
      </p:sp>
      <p:sp>
        <p:nvSpPr>
          <p:cNvPr id="14" name="TextBox 13">
            <a:extLst>
              <a:ext uri="{FF2B5EF4-FFF2-40B4-BE49-F238E27FC236}">
                <a16:creationId xmlns:a16="http://schemas.microsoft.com/office/drawing/2014/main" id="{96850AED-634E-7A28-E284-F2D7DA972FAB}"/>
              </a:ext>
            </a:extLst>
          </p:cNvPr>
          <p:cNvSpPr txBox="1"/>
          <p:nvPr/>
        </p:nvSpPr>
        <p:spPr>
          <a:xfrm>
            <a:off x="2902974" y="2017854"/>
            <a:ext cx="6612192" cy="294183"/>
          </a:xfrm>
          <a:prstGeom prst="rect">
            <a:avLst/>
          </a:prstGeom>
          <a:noFill/>
        </p:spPr>
        <p:txBody>
          <a:bodyPr wrap="square">
            <a:spAutoFit/>
          </a:bodyPr>
          <a:lstStyle/>
          <a:p>
            <a:pPr marR="165735" algn="ctr">
              <a:lnSpc>
                <a:spcPct val="100000"/>
              </a:lnSpc>
              <a:spcAft>
                <a:spcPts val="800"/>
              </a:spcAft>
              <a:buNone/>
            </a:pPr>
            <a:r>
              <a:rPr lang="en-IN" sz="1800" b="1" kern="100" dirty="0">
                <a:effectLst/>
                <a:latin typeface="+mn-lt"/>
                <a:ea typeface="Aptos" panose="020B0004020202020204" pitchFamily="34" charset="0"/>
                <a:cs typeface="Times New Roman" panose="02020603050405020304" pitchFamily="18" charset="0"/>
              </a:rPr>
              <a:t>PRDA-05</a:t>
            </a:r>
            <a:endParaRPr lang="en-IN"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F6030-6BD3-F113-3FFA-D5DE3DE7D3E5}"/>
            </a:ext>
          </a:extLst>
        </p:cNvPr>
        <p:cNvGrpSpPr/>
        <p:nvPr/>
      </p:nvGrpSpPr>
      <p:grpSpPr>
        <a:xfrm>
          <a:off x="0" y="0"/>
          <a:ext cx="0" cy="0"/>
          <a:chOff x="0" y="0"/>
          <a:chExt cx="0" cy="0"/>
        </a:xfrm>
      </p:grpSpPr>
      <p:sp>
        <p:nvSpPr>
          <p:cNvPr id="32" name="Shape 5">
            <a:extLst>
              <a:ext uri="{FF2B5EF4-FFF2-40B4-BE49-F238E27FC236}">
                <a16:creationId xmlns:a16="http://schemas.microsoft.com/office/drawing/2014/main" id="{51645C45-C50D-179D-F4B4-3545D5C45218}"/>
              </a:ext>
            </a:extLst>
          </p:cNvPr>
          <p:cNvSpPr/>
          <p:nvPr/>
        </p:nvSpPr>
        <p:spPr>
          <a:xfrm>
            <a:off x="7738375" y="3153722"/>
            <a:ext cx="3945919" cy="807691"/>
          </a:xfrm>
          <a:prstGeom prst="roundRect">
            <a:avLst>
              <a:gd name="adj" fmla="val 7368"/>
            </a:avLst>
          </a:prstGeom>
          <a:ln w="19050"/>
        </p:spPr>
        <p:style>
          <a:lnRef idx="2">
            <a:schemeClr val="accent2"/>
          </a:lnRef>
          <a:fillRef idx="1">
            <a:schemeClr val="lt1"/>
          </a:fillRef>
          <a:effectRef idx="0">
            <a:schemeClr val="accent2"/>
          </a:effectRef>
          <a:fontRef idx="minor">
            <a:schemeClr val="dk1"/>
          </a:fontRef>
        </p:style>
        <p:txBody>
          <a:bodyPr/>
          <a:lstStyle/>
          <a:p>
            <a:endParaRPr lang="en-IN"/>
          </a:p>
        </p:txBody>
      </p:sp>
      <p:sp>
        <p:nvSpPr>
          <p:cNvPr id="2" name="Rectangle 1">
            <a:extLst>
              <a:ext uri="{FF2B5EF4-FFF2-40B4-BE49-F238E27FC236}">
                <a16:creationId xmlns:a16="http://schemas.microsoft.com/office/drawing/2014/main" id="{DB053774-0797-F71B-8454-1B144ECB464D}"/>
              </a:ext>
            </a:extLst>
          </p:cNvPr>
          <p:cNvSpPr/>
          <p:nvPr/>
        </p:nvSpPr>
        <p:spPr>
          <a:xfrm>
            <a:off x="336637" y="223284"/>
            <a:ext cx="11518726" cy="6517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5" name="TextBox 4">
            <a:extLst>
              <a:ext uri="{FF2B5EF4-FFF2-40B4-BE49-F238E27FC236}">
                <a16:creationId xmlns:a16="http://schemas.microsoft.com/office/drawing/2014/main" id="{31B90878-BC05-3733-9E4E-255C506D897D}"/>
              </a:ext>
            </a:extLst>
          </p:cNvPr>
          <p:cNvSpPr txBox="1"/>
          <p:nvPr/>
        </p:nvSpPr>
        <p:spPr>
          <a:xfrm>
            <a:off x="507705" y="1307447"/>
            <a:ext cx="6913821" cy="2270109"/>
          </a:xfrm>
          <a:prstGeom prst="rect">
            <a:avLst/>
          </a:prstGeom>
          <a:noFill/>
        </p:spPr>
        <p:txBody>
          <a:bodyPr wrap="square">
            <a:spAutoFit/>
          </a:bodyPr>
          <a:lstStyle/>
          <a:p>
            <a:pPr algn="just">
              <a:lnSpc>
                <a:spcPct val="150000"/>
              </a:lnSpc>
              <a:buNone/>
            </a:pPr>
            <a:r>
              <a:rPr lang="en-IN" sz="1600" dirty="0"/>
              <a:t>This project examines customer shopping behaviour across 10 malls in Istanbul, focusing on </a:t>
            </a:r>
            <a:r>
              <a:rPr lang="en-IN" sz="1600" b="1" dirty="0">
                <a:solidFill>
                  <a:schemeClr val="accent2">
                    <a:lumMod val="50000"/>
                  </a:schemeClr>
                </a:solidFill>
              </a:rPr>
              <a:t>who is buying, what they are buying, and how they are paying</a:t>
            </a:r>
            <a:r>
              <a:rPr lang="en-IN" sz="1600" dirty="0"/>
              <a:t>.</a:t>
            </a:r>
          </a:p>
          <a:p>
            <a:pPr algn="just">
              <a:lnSpc>
                <a:spcPct val="150000"/>
              </a:lnSpc>
              <a:buNone/>
            </a:pPr>
            <a:endParaRPr lang="en-IN" sz="1600" dirty="0"/>
          </a:p>
          <a:p>
            <a:pPr algn="just">
              <a:lnSpc>
                <a:spcPct val="150000"/>
              </a:lnSpc>
              <a:buNone/>
            </a:pPr>
            <a:r>
              <a:rPr lang="en-IN" sz="1600" dirty="0"/>
              <a:t>The aim is to turn the data into </a:t>
            </a:r>
            <a:r>
              <a:rPr lang="en-IN" sz="1600" b="1" dirty="0">
                <a:solidFill>
                  <a:schemeClr val="accent2">
                    <a:lumMod val="50000"/>
                  </a:schemeClr>
                </a:solidFill>
              </a:rPr>
              <a:t>useful business insights</a:t>
            </a:r>
            <a:r>
              <a:rPr lang="en-IN" sz="1600" dirty="0">
                <a:solidFill>
                  <a:schemeClr val="accent2">
                    <a:lumMod val="50000"/>
                  </a:schemeClr>
                </a:solidFill>
              </a:rPr>
              <a:t> </a:t>
            </a:r>
            <a:r>
              <a:rPr lang="en-IN" sz="1600" dirty="0"/>
              <a:t>that can support decisions around customers, products, marketing and payment strategies : rather than simply presenting charts.</a:t>
            </a:r>
          </a:p>
        </p:txBody>
      </p:sp>
      <p:sp>
        <p:nvSpPr>
          <p:cNvPr id="9" name="TextBox 8">
            <a:extLst>
              <a:ext uri="{FF2B5EF4-FFF2-40B4-BE49-F238E27FC236}">
                <a16:creationId xmlns:a16="http://schemas.microsoft.com/office/drawing/2014/main" id="{63C4CFA4-BD01-8152-1729-07FA3E1C0A0F}"/>
              </a:ext>
            </a:extLst>
          </p:cNvPr>
          <p:cNvSpPr txBox="1"/>
          <p:nvPr/>
        </p:nvSpPr>
        <p:spPr>
          <a:xfrm>
            <a:off x="507705" y="4066348"/>
            <a:ext cx="6097772" cy="1900777"/>
          </a:xfrm>
          <a:prstGeom prst="rect">
            <a:avLst/>
          </a:prstGeom>
          <a:noFill/>
        </p:spPr>
        <p:txBody>
          <a:bodyPr wrap="square">
            <a:spAutoFit/>
          </a:bodyPr>
          <a:lstStyle/>
          <a:p>
            <a:pPr>
              <a:lnSpc>
                <a:spcPct val="150000"/>
              </a:lnSpc>
              <a:buNone/>
            </a:pPr>
            <a:r>
              <a:rPr lang="en-IN" sz="1600" b="1" dirty="0">
                <a:solidFill>
                  <a:schemeClr val="accent2">
                    <a:lumMod val="50000"/>
                  </a:schemeClr>
                </a:solidFill>
              </a:rPr>
              <a:t>What’s Covered</a:t>
            </a:r>
          </a:p>
          <a:p>
            <a:pPr marL="342900" lvl="0" indent="-342900">
              <a:lnSpc>
                <a:spcPct val="150000"/>
              </a:lnSpc>
              <a:buFont typeface="Arial" panose="020B0604020202020204" pitchFamily="34" charset="0"/>
              <a:buChar char="•"/>
            </a:pPr>
            <a:r>
              <a:rPr lang="en-IN" sz="1600" dirty="0"/>
              <a:t>Shopping patterns by gender and age </a:t>
            </a:r>
          </a:p>
          <a:p>
            <a:pPr marL="342900" lvl="0" indent="-342900">
              <a:lnSpc>
                <a:spcPct val="150000"/>
              </a:lnSpc>
              <a:buFont typeface="Arial" panose="020B0604020202020204" pitchFamily="34" charset="0"/>
              <a:buChar char="•"/>
            </a:pPr>
            <a:r>
              <a:rPr lang="en-IN" sz="1600" dirty="0"/>
              <a:t>Best-selling product categories and the customers buying them </a:t>
            </a:r>
          </a:p>
          <a:p>
            <a:pPr marL="342900" lvl="0" indent="-342900">
              <a:lnSpc>
                <a:spcPct val="150000"/>
              </a:lnSpc>
              <a:buFont typeface="Arial" panose="020B0604020202020204" pitchFamily="34" charset="0"/>
              <a:buChar char="•"/>
            </a:pPr>
            <a:r>
              <a:rPr lang="en-IN" sz="1600" dirty="0"/>
              <a:t>Payment methods and how they vary across categories </a:t>
            </a:r>
          </a:p>
          <a:p>
            <a:pPr marL="342900" lvl="0" indent="-342900">
              <a:lnSpc>
                <a:spcPct val="150000"/>
              </a:lnSpc>
              <a:buFont typeface="Arial" panose="020B0604020202020204" pitchFamily="34" charset="0"/>
              <a:buChar char="•"/>
            </a:pPr>
            <a:r>
              <a:rPr lang="en-IN" sz="1600" dirty="0"/>
              <a:t>Power BI dashboard analysis and key business insights</a:t>
            </a:r>
          </a:p>
        </p:txBody>
      </p:sp>
      <p:sp>
        <p:nvSpPr>
          <p:cNvPr id="13" name="TextBox 12">
            <a:extLst>
              <a:ext uri="{FF2B5EF4-FFF2-40B4-BE49-F238E27FC236}">
                <a16:creationId xmlns:a16="http://schemas.microsoft.com/office/drawing/2014/main" id="{901D3BB9-3132-97BB-D7BE-8141D762B6AB}"/>
              </a:ext>
            </a:extLst>
          </p:cNvPr>
          <p:cNvSpPr txBox="1"/>
          <p:nvPr/>
        </p:nvSpPr>
        <p:spPr>
          <a:xfrm>
            <a:off x="507705" y="811098"/>
            <a:ext cx="6097772" cy="369332"/>
          </a:xfrm>
          <a:prstGeom prst="rect">
            <a:avLst/>
          </a:prstGeom>
          <a:noFill/>
        </p:spPr>
        <p:txBody>
          <a:bodyPr wrap="square">
            <a:spAutoFit/>
          </a:bodyPr>
          <a:lstStyle/>
          <a:p>
            <a:pPr marL="0" indent="0">
              <a:buNone/>
            </a:pPr>
            <a:r>
              <a:rPr lang="en-US" b="1" u="sng" dirty="0">
                <a:solidFill>
                  <a:schemeClr val="accent2">
                    <a:lumMod val="50000"/>
                  </a:schemeClr>
                </a:solidFill>
                <a:latin typeface="Calibri" pitchFamily="34" charset="0"/>
                <a:ea typeface="Calibri" pitchFamily="34" charset="-122"/>
                <a:cs typeface="Calibri" pitchFamily="34" charset="-120"/>
              </a:rPr>
              <a:t>Project Overview</a:t>
            </a:r>
            <a:endParaRPr lang="en-US" u="sng" dirty="0">
              <a:solidFill>
                <a:schemeClr val="accent2">
                  <a:lumMod val="50000"/>
                </a:schemeClr>
              </a:solidFill>
            </a:endParaRPr>
          </a:p>
        </p:txBody>
      </p:sp>
      <p:sp>
        <p:nvSpPr>
          <p:cNvPr id="16" name="TextBox 15">
            <a:extLst>
              <a:ext uri="{FF2B5EF4-FFF2-40B4-BE49-F238E27FC236}">
                <a16:creationId xmlns:a16="http://schemas.microsoft.com/office/drawing/2014/main" id="{42EEC857-8F06-B631-0575-176A844A6972}"/>
              </a:ext>
            </a:extLst>
          </p:cNvPr>
          <p:cNvSpPr txBox="1"/>
          <p:nvPr/>
        </p:nvSpPr>
        <p:spPr>
          <a:xfrm>
            <a:off x="8977545" y="778832"/>
            <a:ext cx="6097772" cy="369332"/>
          </a:xfrm>
          <a:prstGeom prst="rect">
            <a:avLst/>
          </a:prstGeom>
          <a:noFill/>
        </p:spPr>
        <p:txBody>
          <a:bodyPr wrap="square">
            <a:spAutoFit/>
          </a:bodyPr>
          <a:lstStyle/>
          <a:p>
            <a:pPr marL="0" indent="0">
              <a:buNone/>
            </a:pPr>
            <a:r>
              <a:rPr lang="en-US" b="1" u="sng" dirty="0">
                <a:solidFill>
                  <a:schemeClr val="accent2">
                    <a:lumMod val="50000"/>
                  </a:schemeClr>
                </a:solidFill>
                <a:latin typeface="Calibri" pitchFamily="34" charset="0"/>
                <a:ea typeface="Calibri" pitchFamily="34" charset="-122"/>
                <a:cs typeface="Calibri" pitchFamily="34" charset="-120"/>
              </a:rPr>
              <a:t>KEY METRICS</a:t>
            </a:r>
            <a:endParaRPr lang="en-US" u="sng" dirty="0">
              <a:solidFill>
                <a:schemeClr val="accent2">
                  <a:lumMod val="50000"/>
                </a:schemeClr>
              </a:solidFill>
            </a:endParaRPr>
          </a:p>
        </p:txBody>
      </p:sp>
      <p:grpSp>
        <p:nvGrpSpPr>
          <p:cNvPr id="17" name="Group 16">
            <a:extLst>
              <a:ext uri="{FF2B5EF4-FFF2-40B4-BE49-F238E27FC236}">
                <a16:creationId xmlns:a16="http://schemas.microsoft.com/office/drawing/2014/main" id="{26A2396B-C461-D291-081E-ADCC59435E3A}"/>
              </a:ext>
            </a:extLst>
          </p:cNvPr>
          <p:cNvGrpSpPr/>
          <p:nvPr/>
        </p:nvGrpSpPr>
        <p:grpSpPr>
          <a:xfrm>
            <a:off x="7738376" y="1307447"/>
            <a:ext cx="3945919" cy="4480560"/>
            <a:chOff x="6675120" y="1463040"/>
            <a:chExt cx="4937760" cy="4818888"/>
          </a:xfrm>
        </p:grpSpPr>
        <p:sp>
          <p:nvSpPr>
            <p:cNvPr id="18" name="Shape 5">
              <a:extLst>
                <a:ext uri="{FF2B5EF4-FFF2-40B4-BE49-F238E27FC236}">
                  <a16:creationId xmlns:a16="http://schemas.microsoft.com/office/drawing/2014/main" id="{00DA198D-4BA1-1F23-5938-8C631A7419F3}"/>
                </a:ext>
              </a:extLst>
            </p:cNvPr>
            <p:cNvSpPr/>
            <p:nvPr/>
          </p:nvSpPr>
          <p:spPr>
            <a:xfrm>
              <a:off x="6675120" y="1463040"/>
              <a:ext cx="4937760" cy="868680"/>
            </a:xfrm>
            <a:prstGeom prst="roundRect">
              <a:avLst>
                <a:gd name="adj" fmla="val 7368"/>
              </a:avLst>
            </a:prstGeom>
            <a:ln w="19050"/>
          </p:spPr>
          <p:style>
            <a:lnRef idx="2">
              <a:schemeClr val="accent2"/>
            </a:lnRef>
            <a:fillRef idx="1">
              <a:schemeClr val="lt1"/>
            </a:fillRef>
            <a:effectRef idx="0">
              <a:schemeClr val="accent2"/>
            </a:effectRef>
            <a:fontRef idx="minor">
              <a:schemeClr val="dk1"/>
            </a:fontRef>
          </p:style>
          <p:txBody>
            <a:bodyPr/>
            <a:lstStyle/>
            <a:p>
              <a:endParaRPr lang="en-IN"/>
            </a:p>
          </p:txBody>
        </p:sp>
        <p:sp>
          <p:nvSpPr>
            <p:cNvPr id="19" name="Text 6">
              <a:extLst>
                <a:ext uri="{FF2B5EF4-FFF2-40B4-BE49-F238E27FC236}">
                  <a16:creationId xmlns:a16="http://schemas.microsoft.com/office/drawing/2014/main" id="{B14E492A-A26C-2DD8-C566-75C93E35A3A4}"/>
                </a:ext>
              </a:extLst>
            </p:cNvPr>
            <p:cNvSpPr txBox="1"/>
            <p:nvPr/>
          </p:nvSpPr>
          <p:spPr>
            <a:xfrm>
              <a:off x="6812280" y="1554480"/>
              <a:ext cx="4663440" cy="457200"/>
            </a:xfrm>
            <a:prstGeom prst="rect">
              <a:avLst/>
            </a:prstGeom>
            <a:noFill/>
            <a:ln/>
          </p:spPr>
          <p:txBody>
            <a:bodyPr wrap="square" lIns="0" tIns="0" rIns="0" bIns="0" rtlCol="0" anchor="ctr"/>
            <a:lstStyle/>
            <a:p>
              <a:pPr marL="0" indent="0">
                <a:buNone/>
              </a:pPr>
              <a:r>
                <a:rPr lang="en-US" sz="1900" b="1" dirty="0">
                  <a:solidFill>
                    <a:srgbClr val="73361C"/>
                  </a:solidFill>
                  <a:latin typeface="Calibri" pitchFamily="34" charset="0"/>
                  <a:ea typeface="Calibri" pitchFamily="34" charset="-122"/>
                  <a:cs typeface="Calibri" pitchFamily="34" charset="-120"/>
                </a:rPr>
                <a:t>252M TL</a:t>
              </a:r>
              <a:endParaRPr lang="en-US" sz="1900" dirty="0"/>
            </a:p>
          </p:txBody>
        </p:sp>
        <p:sp>
          <p:nvSpPr>
            <p:cNvPr id="20" name="Text 7">
              <a:extLst>
                <a:ext uri="{FF2B5EF4-FFF2-40B4-BE49-F238E27FC236}">
                  <a16:creationId xmlns:a16="http://schemas.microsoft.com/office/drawing/2014/main" id="{94A2F683-C904-AEA0-6DA0-9F9024B7704B}"/>
                </a:ext>
              </a:extLst>
            </p:cNvPr>
            <p:cNvSpPr txBox="1"/>
            <p:nvPr/>
          </p:nvSpPr>
          <p:spPr>
            <a:xfrm>
              <a:off x="6812280" y="1993392"/>
              <a:ext cx="4663440" cy="274320"/>
            </a:xfrm>
            <a:prstGeom prst="rect">
              <a:avLst/>
            </a:prstGeom>
            <a:noFill/>
            <a:ln/>
          </p:spPr>
          <p:txBody>
            <a:bodyPr wrap="square" lIns="0" tIns="0" rIns="0" bIns="0" rtlCol="0" anchor="ctr"/>
            <a:lstStyle/>
            <a:p>
              <a:pPr marL="0" indent="0">
                <a:buNone/>
              </a:pPr>
              <a:r>
                <a:rPr lang="en-US" sz="950" dirty="0">
                  <a:solidFill>
                    <a:srgbClr val="898781"/>
                  </a:solidFill>
                  <a:latin typeface="Calibri" pitchFamily="34" charset="0"/>
                  <a:ea typeface="Calibri" pitchFamily="34" charset="-122"/>
                  <a:cs typeface="Calibri" pitchFamily="34" charset="-120"/>
                </a:rPr>
                <a:t>Total Revenue</a:t>
              </a:r>
              <a:endParaRPr lang="en-US" sz="950" dirty="0"/>
            </a:p>
          </p:txBody>
        </p:sp>
        <p:sp>
          <p:nvSpPr>
            <p:cNvPr id="21" name="Shape 8">
              <a:extLst>
                <a:ext uri="{FF2B5EF4-FFF2-40B4-BE49-F238E27FC236}">
                  <a16:creationId xmlns:a16="http://schemas.microsoft.com/office/drawing/2014/main" id="{C95302D6-E19B-045C-DC75-F3F7AF08F625}"/>
                </a:ext>
              </a:extLst>
            </p:cNvPr>
            <p:cNvSpPr/>
            <p:nvPr/>
          </p:nvSpPr>
          <p:spPr>
            <a:xfrm>
              <a:off x="6675120" y="2450592"/>
              <a:ext cx="4937760" cy="868680"/>
            </a:xfrm>
            <a:prstGeom prst="roundRect">
              <a:avLst>
                <a:gd name="adj" fmla="val 7368"/>
              </a:avLst>
            </a:prstGeom>
            <a:ln w="19050"/>
          </p:spPr>
          <p:style>
            <a:lnRef idx="2">
              <a:schemeClr val="accent2"/>
            </a:lnRef>
            <a:fillRef idx="1">
              <a:schemeClr val="lt1"/>
            </a:fillRef>
            <a:effectRef idx="0">
              <a:schemeClr val="accent2"/>
            </a:effectRef>
            <a:fontRef idx="minor">
              <a:schemeClr val="dk1"/>
            </a:fontRef>
          </p:style>
          <p:txBody>
            <a:bodyPr/>
            <a:lstStyle/>
            <a:p>
              <a:endParaRPr lang="en-IN" dirty="0"/>
            </a:p>
          </p:txBody>
        </p:sp>
        <p:sp>
          <p:nvSpPr>
            <p:cNvPr id="22" name="Text 9">
              <a:extLst>
                <a:ext uri="{FF2B5EF4-FFF2-40B4-BE49-F238E27FC236}">
                  <a16:creationId xmlns:a16="http://schemas.microsoft.com/office/drawing/2014/main" id="{4EAA51A9-C08B-2700-118B-21912909B4E0}"/>
                </a:ext>
              </a:extLst>
            </p:cNvPr>
            <p:cNvSpPr txBox="1"/>
            <p:nvPr/>
          </p:nvSpPr>
          <p:spPr>
            <a:xfrm>
              <a:off x="6812280" y="2542032"/>
              <a:ext cx="4663440" cy="457200"/>
            </a:xfrm>
            <a:prstGeom prst="rect">
              <a:avLst/>
            </a:prstGeom>
            <a:noFill/>
            <a:ln/>
          </p:spPr>
          <p:txBody>
            <a:bodyPr wrap="square" lIns="0" tIns="0" rIns="0" bIns="0" rtlCol="0" anchor="ctr"/>
            <a:lstStyle/>
            <a:p>
              <a:pPr marL="0" indent="0">
                <a:buNone/>
              </a:pPr>
              <a:r>
                <a:rPr lang="en-US" sz="1900" b="1" dirty="0">
                  <a:solidFill>
                    <a:srgbClr val="73361C"/>
                  </a:solidFill>
                  <a:latin typeface="Calibri" pitchFamily="34" charset="0"/>
                  <a:ea typeface="Calibri" pitchFamily="34" charset="-122"/>
                  <a:cs typeface="Calibri" pitchFamily="34" charset="-120"/>
                </a:rPr>
                <a:t>99K</a:t>
              </a:r>
              <a:endParaRPr lang="en-US" sz="1900" dirty="0"/>
            </a:p>
          </p:txBody>
        </p:sp>
        <p:sp>
          <p:nvSpPr>
            <p:cNvPr id="23" name="Text 10">
              <a:extLst>
                <a:ext uri="{FF2B5EF4-FFF2-40B4-BE49-F238E27FC236}">
                  <a16:creationId xmlns:a16="http://schemas.microsoft.com/office/drawing/2014/main" id="{990BBF46-AC72-CC9D-624F-63DDEFCC4976}"/>
                </a:ext>
              </a:extLst>
            </p:cNvPr>
            <p:cNvSpPr txBox="1"/>
            <p:nvPr/>
          </p:nvSpPr>
          <p:spPr>
            <a:xfrm>
              <a:off x="6812280" y="2980944"/>
              <a:ext cx="4663440" cy="274320"/>
            </a:xfrm>
            <a:prstGeom prst="rect">
              <a:avLst/>
            </a:prstGeom>
            <a:noFill/>
            <a:ln/>
          </p:spPr>
          <p:txBody>
            <a:bodyPr wrap="square" lIns="0" tIns="0" rIns="0" bIns="0" rtlCol="0" anchor="ctr"/>
            <a:lstStyle/>
            <a:p>
              <a:pPr marL="0" indent="0">
                <a:buNone/>
              </a:pPr>
              <a:r>
                <a:rPr lang="en-US" sz="950">
                  <a:solidFill>
                    <a:srgbClr val="898781"/>
                  </a:solidFill>
                  <a:latin typeface="Calibri" pitchFamily="34" charset="0"/>
                  <a:ea typeface="Calibri" pitchFamily="34" charset="-122"/>
                  <a:cs typeface="Calibri" pitchFamily="34" charset="-120"/>
                </a:rPr>
                <a:t>Total Orders</a:t>
              </a:r>
              <a:endParaRPr lang="en-US" sz="950" dirty="0"/>
            </a:p>
          </p:txBody>
        </p:sp>
        <p:sp>
          <p:nvSpPr>
            <p:cNvPr id="24" name="Text 12">
              <a:extLst>
                <a:ext uri="{FF2B5EF4-FFF2-40B4-BE49-F238E27FC236}">
                  <a16:creationId xmlns:a16="http://schemas.microsoft.com/office/drawing/2014/main" id="{6CFC1B84-757F-97F4-010F-7AE3131D6A1F}"/>
                </a:ext>
              </a:extLst>
            </p:cNvPr>
            <p:cNvSpPr txBox="1"/>
            <p:nvPr/>
          </p:nvSpPr>
          <p:spPr>
            <a:xfrm>
              <a:off x="6812280" y="3529584"/>
              <a:ext cx="4663440" cy="457200"/>
            </a:xfrm>
            <a:prstGeom prst="rect">
              <a:avLst/>
            </a:prstGeom>
            <a:noFill/>
            <a:ln/>
          </p:spPr>
          <p:txBody>
            <a:bodyPr wrap="square" lIns="0" tIns="0" rIns="0" bIns="0" rtlCol="0" anchor="ctr"/>
            <a:lstStyle/>
            <a:p>
              <a:pPr marL="0" indent="0">
                <a:buNone/>
              </a:pPr>
              <a:r>
                <a:rPr lang="en-US" sz="1900" b="1" dirty="0">
                  <a:solidFill>
                    <a:srgbClr val="73361C"/>
                  </a:solidFill>
                  <a:latin typeface="Calibri" pitchFamily="34" charset="0"/>
                  <a:ea typeface="Calibri" pitchFamily="34" charset="-122"/>
                  <a:cs typeface="Calibri" pitchFamily="34" charset="-120"/>
                </a:rPr>
                <a:t>99K</a:t>
              </a:r>
              <a:endParaRPr lang="en-US" sz="1900" dirty="0"/>
            </a:p>
          </p:txBody>
        </p:sp>
        <p:sp>
          <p:nvSpPr>
            <p:cNvPr id="25" name="Text 13">
              <a:extLst>
                <a:ext uri="{FF2B5EF4-FFF2-40B4-BE49-F238E27FC236}">
                  <a16:creationId xmlns:a16="http://schemas.microsoft.com/office/drawing/2014/main" id="{B62EF30A-F835-2C52-EB3A-D0B0402740BD}"/>
                </a:ext>
              </a:extLst>
            </p:cNvPr>
            <p:cNvSpPr txBox="1"/>
            <p:nvPr/>
          </p:nvSpPr>
          <p:spPr>
            <a:xfrm>
              <a:off x="6812280" y="3968496"/>
              <a:ext cx="4663440" cy="274320"/>
            </a:xfrm>
            <a:prstGeom prst="rect">
              <a:avLst/>
            </a:prstGeom>
            <a:noFill/>
            <a:ln/>
          </p:spPr>
          <p:txBody>
            <a:bodyPr wrap="square" lIns="0" tIns="0" rIns="0" bIns="0" rtlCol="0" anchor="ctr"/>
            <a:lstStyle/>
            <a:p>
              <a:pPr marL="0" indent="0">
                <a:buNone/>
              </a:pPr>
              <a:r>
                <a:rPr lang="en-US" sz="950" dirty="0">
                  <a:solidFill>
                    <a:srgbClr val="898781"/>
                  </a:solidFill>
                  <a:latin typeface="Calibri" pitchFamily="34" charset="0"/>
                  <a:ea typeface="Calibri" pitchFamily="34" charset="-122"/>
                  <a:cs typeface="Calibri" pitchFamily="34" charset="-120"/>
                </a:rPr>
                <a:t>Unique Customers</a:t>
              </a:r>
              <a:endParaRPr lang="en-US" sz="950" dirty="0"/>
            </a:p>
          </p:txBody>
        </p:sp>
        <p:sp>
          <p:nvSpPr>
            <p:cNvPr id="26" name="Shape 14">
              <a:extLst>
                <a:ext uri="{FF2B5EF4-FFF2-40B4-BE49-F238E27FC236}">
                  <a16:creationId xmlns:a16="http://schemas.microsoft.com/office/drawing/2014/main" id="{0CA7A3B5-A64B-663D-0870-501A21948D10}"/>
                </a:ext>
              </a:extLst>
            </p:cNvPr>
            <p:cNvSpPr/>
            <p:nvPr/>
          </p:nvSpPr>
          <p:spPr>
            <a:xfrm>
              <a:off x="6675120" y="4425696"/>
              <a:ext cx="4937760" cy="868680"/>
            </a:xfrm>
            <a:prstGeom prst="roundRect">
              <a:avLst>
                <a:gd name="adj" fmla="val 7368"/>
              </a:avLst>
            </a:prstGeom>
            <a:ln w="19050"/>
          </p:spPr>
          <p:style>
            <a:lnRef idx="2">
              <a:schemeClr val="accent2"/>
            </a:lnRef>
            <a:fillRef idx="1">
              <a:schemeClr val="lt1"/>
            </a:fillRef>
            <a:effectRef idx="0">
              <a:schemeClr val="accent2"/>
            </a:effectRef>
            <a:fontRef idx="minor">
              <a:schemeClr val="dk1"/>
            </a:fontRef>
          </p:style>
          <p:txBody>
            <a:bodyPr/>
            <a:lstStyle/>
            <a:p>
              <a:endParaRPr lang="en-IN"/>
            </a:p>
          </p:txBody>
        </p:sp>
        <p:sp>
          <p:nvSpPr>
            <p:cNvPr id="27" name="Text 16">
              <a:extLst>
                <a:ext uri="{FF2B5EF4-FFF2-40B4-BE49-F238E27FC236}">
                  <a16:creationId xmlns:a16="http://schemas.microsoft.com/office/drawing/2014/main" id="{99EE61BC-7DA3-3375-FDB3-6461DD713E6F}"/>
                </a:ext>
              </a:extLst>
            </p:cNvPr>
            <p:cNvSpPr txBox="1"/>
            <p:nvPr/>
          </p:nvSpPr>
          <p:spPr>
            <a:xfrm>
              <a:off x="6812280" y="4956048"/>
              <a:ext cx="4663440" cy="274320"/>
            </a:xfrm>
            <a:prstGeom prst="rect">
              <a:avLst/>
            </a:prstGeom>
            <a:noFill/>
            <a:ln/>
          </p:spPr>
          <p:txBody>
            <a:bodyPr wrap="square" lIns="0" tIns="0" rIns="0" bIns="0" rtlCol="0" anchor="ctr"/>
            <a:lstStyle/>
            <a:p>
              <a:pPr marL="0" indent="0">
                <a:buNone/>
              </a:pPr>
              <a:r>
                <a:rPr lang="en-US" sz="950" dirty="0">
                  <a:solidFill>
                    <a:srgbClr val="898781"/>
                  </a:solidFill>
                  <a:latin typeface="Calibri" pitchFamily="34" charset="0"/>
                  <a:ea typeface="Calibri" pitchFamily="34" charset="-122"/>
                  <a:cs typeface="Calibri" pitchFamily="34" charset="-120"/>
                </a:rPr>
                <a:t>Total Quantity</a:t>
              </a:r>
              <a:endParaRPr lang="en-US" sz="950" dirty="0"/>
            </a:p>
          </p:txBody>
        </p:sp>
        <p:sp>
          <p:nvSpPr>
            <p:cNvPr id="28" name="Shape 17">
              <a:extLst>
                <a:ext uri="{FF2B5EF4-FFF2-40B4-BE49-F238E27FC236}">
                  <a16:creationId xmlns:a16="http://schemas.microsoft.com/office/drawing/2014/main" id="{E8559FEC-3CD6-21A6-381B-FDB93C1EEAAF}"/>
                </a:ext>
              </a:extLst>
            </p:cNvPr>
            <p:cNvSpPr/>
            <p:nvPr/>
          </p:nvSpPr>
          <p:spPr>
            <a:xfrm>
              <a:off x="6675120" y="5413248"/>
              <a:ext cx="4937760" cy="868680"/>
            </a:xfrm>
            <a:prstGeom prst="roundRect">
              <a:avLst>
                <a:gd name="adj" fmla="val 7368"/>
              </a:avLst>
            </a:prstGeom>
            <a:solidFill>
              <a:srgbClr val="FFFFFF"/>
            </a:solidFill>
            <a:ln w="19050">
              <a:solidFill>
                <a:schemeClr val="accent2"/>
              </a:solidFill>
              <a:prstDash val="solid"/>
            </a:ln>
          </p:spPr>
          <p:txBody>
            <a:bodyPr/>
            <a:lstStyle/>
            <a:p>
              <a:endParaRPr lang="en-IN"/>
            </a:p>
          </p:txBody>
        </p:sp>
        <p:sp>
          <p:nvSpPr>
            <p:cNvPr id="29" name="Text 18">
              <a:extLst>
                <a:ext uri="{FF2B5EF4-FFF2-40B4-BE49-F238E27FC236}">
                  <a16:creationId xmlns:a16="http://schemas.microsoft.com/office/drawing/2014/main" id="{328A5A53-CBD9-B6CC-2474-DF356351738A}"/>
                </a:ext>
              </a:extLst>
            </p:cNvPr>
            <p:cNvSpPr txBox="1"/>
            <p:nvPr/>
          </p:nvSpPr>
          <p:spPr>
            <a:xfrm>
              <a:off x="6812280" y="5504688"/>
              <a:ext cx="4663440" cy="457200"/>
            </a:xfrm>
            <a:prstGeom prst="rect">
              <a:avLst/>
            </a:prstGeom>
            <a:noFill/>
            <a:ln/>
          </p:spPr>
          <p:txBody>
            <a:bodyPr wrap="square" lIns="0" tIns="0" rIns="0" bIns="0" rtlCol="0" anchor="ctr"/>
            <a:lstStyle/>
            <a:p>
              <a:pPr marL="0" indent="0">
                <a:buNone/>
              </a:pPr>
              <a:r>
                <a:rPr lang="en-US" sz="1900" b="1" dirty="0">
                  <a:solidFill>
                    <a:srgbClr val="73361C"/>
                  </a:solidFill>
                  <a:latin typeface="Calibri" pitchFamily="34" charset="0"/>
                  <a:ea typeface="Calibri" pitchFamily="34" charset="-122"/>
                  <a:cs typeface="Calibri" pitchFamily="34" charset="-120"/>
                </a:rPr>
                <a:t>2.53K TL</a:t>
              </a:r>
              <a:endParaRPr lang="en-US" sz="1900" dirty="0"/>
            </a:p>
          </p:txBody>
        </p:sp>
        <p:sp>
          <p:nvSpPr>
            <p:cNvPr id="30" name="Text 19">
              <a:extLst>
                <a:ext uri="{FF2B5EF4-FFF2-40B4-BE49-F238E27FC236}">
                  <a16:creationId xmlns:a16="http://schemas.microsoft.com/office/drawing/2014/main" id="{72C3B4F0-3745-FB49-6A1B-3C877433660E}"/>
                </a:ext>
              </a:extLst>
            </p:cNvPr>
            <p:cNvSpPr txBox="1"/>
            <p:nvPr/>
          </p:nvSpPr>
          <p:spPr>
            <a:xfrm>
              <a:off x="6812280" y="5943600"/>
              <a:ext cx="4663440" cy="274320"/>
            </a:xfrm>
            <a:prstGeom prst="rect">
              <a:avLst/>
            </a:prstGeom>
            <a:noFill/>
            <a:ln/>
          </p:spPr>
          <p:txBody>
            <a:bodyPr wrap="square" lIns="0" tIns="0" rIns="0" bIns="0" rtlCol="0" anchor="ctr"/>
            <a:lstStyle/>
            <a:p>
              <a:pPr marL="0" indent="0">
                <a:buNone/>
              </a:pPr>
              <a:r>
                <a:rPr lang="en-US" sz="950" dirty="0">
                  <a:solidFill>
                    <a:srgbClr val="898781"/>
                  </a:solidFill>
                  <a:latin typeface="Calibri" pitchFamily="34" charset="0"/>
                  <a:ea typeface="Calibri" pitchFamily="34" charset="-122"/>
                  <a:cs typeface="Calibri" pitchFamily="34" charset="-120"/>
                </a:rPr>
                <a:t>Avg. Order Value</a:t>
              </a:r>
              <a:endParaRPr lang="en-US" sz="950" dirty="0"/>
            </a:p>
          </p:txBody>
        </p:sp>
      </p:grpSp>
      <p:sp>
        <p:nvSpPr>
          <p:cNvPr id="34" name="TextBox 33">
            <a:extLst>
              <a:ext uri="{FF2B5EF4-FFF2-40B4-BE49-F238E27FC236}">
                <a16:creationId xmlns:a16="http://schemas.microsoft.com/office/drawing/2014/main" id="{48DE3F2A-A579-5AD6-DF95-34023BD321DD}"/>
              </a:ext>
            </a:extLst>
          </p:cNvPr>
          <p:cNvSpPr txBox="1"/>
          <p:nvPr/>
        </p:nvSpPr>
        <p:spPr>
          <a:xfrm>
            <a:off x="7738375" y="4199186"/>
            <a:ext cx="7538482" cy="384721"/>
          </a:xfrm>
          <a:prstGeom prst="rect">
            <a:avLst/>
          </a:prstGeom>
          <a:noFill/>
        </p:spPr>
        <p:txBody>
          <a:bodyPr wrap="square">
            <a:spAutoFit/>
          </a:bodyPr>
          <a:lstStyle/>
          <a:p>
            <a:pPr marL="0" indent="0">
              <a:buNone/>
            </a:pPr>
            <a:r>
              <a:rPr lang="en-US" sz="1900" b="1" dirty="0">
                <a:solidFill>
                  <a:srgbClr val="73361C"/>
                </a:solidFill>
                <a:latin typeface="Calibri" pitchFamily="34" charset="0"/>
                <a:ea typeface="Calibri" pitchFamily="34" charset="-122"/>
                <a:cs typeface="Calibri" pitchFamily="34" charset="-120"/>
              </a:rPr>
              <a:t>299K</a:t>
            </a:r>
            <a:endParaRPr lang="en-US" sz="1900" dirty="0"/>
          </a:p>
        </p:txBody>
      </p:sp>
    </p:spTree>
    <p:extLst>
      <p:ext uri="{BB962C8B-B14F-4D97-AF65-F5344CB8AC3E}">
        <p14:creationId xmlns:p14="http://schemas.microsoft.com/office/powerpoint/2010/main" val="98401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B39E2-B39C-A031-8F81-A862DA6ABA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93A46B-99EC-E98B-94D9-198F040C0F9C}"/>
              </a:ext>
            </a:extLst>
          </p:cNvPr>
          <p:cNvSpPr/>
          <p:nvPr/>
        </p:nvSpPr>
        <p:spPr>
          <a:xfrm>
            <a:off x="336637" y="223284"/>
            <a:ext cx="11518726" cy="6517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5" name="TextBox 4">
            <a:extLst>
              <a:ext uri="{FF2B5EF4-FFF2-40B4-BE49-F238E27FC236}">
                <a16:creationId xmlns:a16="http://schemas.microsoft.com/office/drawing/2014/main" id="{CC364A31-D9D8-280A-F9FF-D83890761FDB}"/>
              </a:ext>
            </a:extLst>
          </p:cNvPr>
          <p:cNvSpPr txBox="1"/>
          <p:nvPr/>
        </p:nvSpPr>
        <p:spPr>
          <a:xfrm>
            <a:off x="507705" y="1307447"/>
            <a:ext cx="11230639" cy="1008225"/>
          </a:xfrm>
          <a:prstGeom prst="rect">
            <a:avLst/>
          </a:prstGeom>
          <a:noFill/>
        </p:spPr>
        <p:txBody>
          <a:bodyPr wrap="square">
            <a:spAutoFit/>
          </a:bodyPr>
          <a:lstStyle/>
          <a:p>
            <a:pPr algn="just">
              <a:lnSpc>
                <a:spcPct val="200000"/>
              </a:lnSpc>
            </a:pPr>
            <a:r>
              <a:rPr lang="en-IN" sz="1600" dirty="0"/>
              <a:t>The dataset covers customer transactions from 10 shopping malls in Istanbul between </a:t>
            </a:r>
            <a:r>
              <a:rPr lang="en-IN" sz="1600" b="1" dirty="0"/>
              <a:t>2021 and 2023</a:t>
            </a:r>
            <a:r>
              <a:rPr lang="en-IN" sz="1600" dirty="0"/>
              <a:t>. Each row represents one purchase, including details about the customer, products purchased, amount paid, payment method and shopping location.</a:t>
            </a:r>
          </a:p>
        </p:txBody>
      </p:sp>
      <p:sp>
        <p:nvSpPr>
          <p:cNvPr id="13" name="TextBox 12">
            <a:extLst>
              <a:ext uri="{FF2B5EF4-FFF2-40B4-BE49-F238E27FC236}">
                <a16:creationId xmlns:a16="http://schemas.microsoft.com/office/drawing/2014/main" id="{D9E73DE2-847D-54C5-555B-9A5D6C5AAE1B}"/>
              </a:ext>
            </a:extLst>
          </p:cNvPr>
          <p:cNvSpPr txBox="1"/>
          <p:nvPr/>
        </p:nvSpPr>
        <p:spPr>
          <a:xfrm>
            <a:off x="4569342" y="803489"/>
            <a:ext cx="6097772" cy="369332"/>
          </a:xfrm>
          <a:prstGeom prst="rect">
            <a:avLst/>
          </a:prstGeom>
          <a:noFill/>
        </p:spPr>
        <p:txBody>
          <a:bodyPr wrap="square">
            <a:spAutoFit/>
          </a:bodyPr>
          <a:lstStyle/>
          <a:p>
            <a:pPr marL="0" indent="0">
              <a:buNone/>
            </a:pPr>
            <a:r>
              <a:rPr lang="en-US" b="1" u="sng" dirty="0">
                <a:solidFill>
                  <a:schemeClr val="accent2">
                    <a:lumMod val="50000"/>
                  </a:schemeClr>
                </a:solidFill>
                <a:latin typeface="Calibri" pitchFamily="34" charset="0"/>
                <a:ea typeface="Calibri" pitchFamily="34" charset="-122"/>
                <a:cs typeface="Calibri" pitchFamily="34" charset="-120"/>
              </a:rPr>
              <a:t>Dataset Overview</a:t>
            </a:r>
            <a:endParaRPr lang="en-US" u="sng" dirty="0">
              <a:solidFill>
                <a:schemeClr val="accent2">
                  <a:lumMod val="50000"/>
                </a:schemeClr>
              </a:solidFill>
            </a:endParaRPr>
          </a:p>
        </p:txBody>
      </p:sp>
      <p:graphicFrame>
        <p:nvGraphicFramePr>
          <p:cNvPr id="4" name="Table 0">
            <a:extLst>
              <a:ext uri="{FF2B5EF4-FFF2-40B4-BE49-F238E27FC236}">
                <a16:creationId xmlns:a16="http://schemas.microsoft.com/office/drawing/2014/main" id="{B925BE8C-96B3-071D-03DF-1B3AB9E121F0}"/>
              </a:ext>
            </a:extLst>
          </p:cNvPr>
          <p:cNvGraphicFramePr>
            <a:graphicFrameLocks noGrp="1"/>
          </p:cNvGraphicFramePr>
          <p:nvPr>
            <p:extLst>
              <p:ext uri="{D42A27DB-BD31-4B8C-83A1-F6EECF244321}">
                <p14:modId xmlns:p14="http://schemas.microsoft.com/office/powerpoint/2010/main" val="3581841896"/>
              </p:ext>
            </p:extLst>
          </p:nvPr>
        </p:nvGraphicFramePr>
        <p:xfrm>
          <a:off x="686863" y="2830039"/>
          <a:ext cx="6400800" cy="2743200"/>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solidFill>
                      <a:srgbClr val="3D9A8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means</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solidFill>
                      <a:srgbClr val="3D9A8B"/>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3A3936"/>
                          </a:solidFill>
                          <a:latin typeface="Calibri" pitchFamily="34" charset="0"/>
                          <a:ea typeface="Calibri" pitchFamily="34" charset="-122"/>
                          <a:cs typeface="Calibri" pitchFamily="34" charset="-120"/>
                        </a:rPr>
                        <a:t>Gender / Age</a:t>
                      </a:r>
                      <a:endParaRPr lang="en-US" sz="1150" b="1"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tc>
                  <a:txBody>
                    <a:bodyPr/>
                    <a:lstStyle/>
                    <a:p>
                      <a:pPr marL="0" indent="0">
                        <a:buNone/>
                      </a:pPr>
                      <a:r>
                        <a:rPr lang="en-US" sz="1150" dirty="0">
                          <a:solidFill>
                            <a:srgbClr val="3A3936"/>
                          </a:solidFill>
                          <a:latin typeface="Calibri" pitchFamily="34" charset="0"/>
                          <a:ea typeface="Calibri" pitchFamily="34" charset="-122"/>
                          <a:cs typeface="Calibri" pitchFamily="34" charset="-120"/>
                        </a:rPr>
                        <a:t>Basic customer details</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3A3936"/>
                          </a:solidFill>
                          <a:latin typeface="Calibri" pitchFamily="34" charset="0"/>
                          <a:ea typeface="Calibri" pitchFamily="34" charset="-122"/>
                          <a:cs typeface="Calibri" pitchFamily="34" charset="-120"/>
                        </a:rPr>
                        <a:t>Category</a:t>
                      </a:r>
                      <a:endParaRPr lang="en-US" sz="1150" b="1"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tc>
                  <a:txBody>
                    <a:bodyPr/>
                    <a:lstStyle/>
                    <a:p>
                      <a:pPr marL="0" indent="0">
                        <a:buNone/>
                      </a:pPr>
                      <a:r>
                        <a:rPr lang="en-US" sz="1150" dirty="0">
                          <a:solidFill>
                            <a:srgbClr val="3A3936"/>
                          </a:solidFill>
                          <a:latin typeface="Calibri" pitchFamily="34" charset="0"/>
                          <a:ea typeface="Calibri" pitchFamily="34" charset="-122"/>
                          <a:cs typeface="Calibri" pitchFamily="34" charset="-120"/>
                        </a:rPr>
                        <a:t>What was bought (8 product types)</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3A3936"/>
                          </a:solidFill>
                          <a:latin typeface="Calibri" pitchFamily="34" charset="0"/>
                          <a:ea typeface="Calibri" pitchFamily="34" charset="-122"/>
                          <a:cs typeface="Calibri" pitchFamily="34" charset="-120"/>
                        </a:rPr>
                        <a:t>Quantity / Price</a:t>
                      </a:r>
                      <a:endParaRPr lang="en-US" sz="1150" b="1"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tc>
                  <a:txBody>
                    <a:bodyPr/>
                    <a:lstStyle/>
                    <a:p>
                      <a:pPr marL="0" indent="0">
                        <a:buNone/>
                      </a:pPr>
                      <a:r>
                        <a:rPr lang="en-US" sz="1150" dirty="0">
                          <a:solidFill>
                            <a:srgbClr val="3A3936"/>
                          </a:solidFill>
                          <a:latin typeface="Calibri" pitchFamily="34" charset="0"/>
                          <a:ea typeface="Calibri" pitchFamily="34" charset="-122"/>
                          <a:cs typeface="Calibri" pitchFamily="34" charset="-120"/>
                        </a:rPr>
                        <a:t>How many items, and the price per item, in Turkish Lira</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3A3936"/>
                          </a:solidFill>
                          <a:latin typeface="Calibri" pitchFamily="34" charset="0"/>
                          <a:ea typeface="Calibri" pitchFamily="34" charset="-122"/>
                          <a:cs typeface="Calibri" pitchFamily="34" charset="-120"/>
                        </a:rPr>
                        <a:t>Payment method</a:t>
                      </a:r>
                      <a:endParaRPr lang="en-US" sz="1150" b="1"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tc>
                  <a:txBody>
                    <a:bodyPr/>
                    <a:lstStyle/>
                    <a:p>
                      <a:pPr marL="0" indent="0">
                        <a:buNone/>
                      </a:pPr>
                      <a:r>
                        <a:rPr lang="en-US" sz="1150" dirty="0">
                          <a:solidFill>
                            <a:srgbClr val="3A3936"/>
                          </a:solidFill>
                          <a:latin typeface="Calibri" pitchFamily="34" charset="0"/>
                          <a:ea typeface="Calibri" pitchFamily="34" charset="-122"/>
                          <a:cs typeface="Calibri" pitchFamily="34" charset="-120"/>
                        </a:rPr>
                        <a:t>Cash, Credit Card, or Debit Card</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3A3936"/>
                          </a:solidFill>
                          <a:latin typeface="Calibri" pitchFamily="34" charset="0"/>
                          <a:ea typeface="Calibri" pitchFamily="34" charset="-122"/>
                          <a:cs typeface="Calibri" pitchFamily="34" charset="-120"/>
                        </a:rPr>
                        <a:t>Mall / Date</a:t>
                      </a:r>
                      <a:endParaRPr lang="en-US" sz="1150" b="1"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tc>
                  <a:txBody>
                    <a:bodyPr/>
                    <a:lstStyle/>
                    <a:p>
                      <a:pPr marL="0" indent="0">
                        <a:buNone/>
                      </a:pPr>
                      <a:r>
                        <a:rPr lang="en-US" sz="1150" dirty="0">
                          <a:solidFill>
                            <a:srgbClr val="3A3936"/>
                          </a:solidFill>
                          <a:latin typeface="Calibri" pitchFamily="34" charset="0"/>
                          <a:ea typeface="Calibri" pitchFamily="34" charset="-122"/>
                          <a:cs typeface="Calibri" pitchFamily="34" charset="-120"/>
                        </a:rPr>
                        <a:t>Where and when the purchase happened</a:t>
                      </a:r>
                      <a:endParaRPr lang="en-US" sz="1150" dirty="0">
                        <a:latin typeface="Calibri" charset="0"/>
                        <a:ea typeface="Calibri" charset="0"/>
                        <a:cs typeface="Calibri" charset="0"/>
                      </a:endParaRPr>
                    </a:p>
                  </a:txBody>
                  <a:tcPr anchor="ctr">
                    <a:lnL w="9525" cap="flat" cmpd="sng" algn="ctr">
                      <a:solidFill>
                        <a:srgbClr val="E5DED4"/>
                      </a:solidFill>
                      <a:prstDash val="solid"/>
                      <a:round/>
                      <a:headEnd type="none" w="med" len="med"/>
                      <a:tailEnd type="none" w="med" len="med"/>
                    </a:lnL>
                    <a:lnR w="9525" cap="flat" cmpd="sng" algn="ctr">
                      <a:solidFill>
                        <a:srgbClr val="E5DED4"/>
                      </a:solidFill>
                      <a:prstDash val="solid"/>
                      <a:round/>
                      <a:headEnd type="none" w="med" len="med"/>
                      <a:tailEnd type="none" w="med" len="med"/>
                    </a:lnR>
                    <a:lnT w="9525" cap="flat" cmpd="sng" algn="ctr">
                      <a:solidFill>
                        <a:srgbClr val="E5DED4"/>
                      </a:solidFill>
                      <a:prstDash val="solid"/>
                      <a:round/>
                      <a:headEnd type="none" w="med" len="med"/>
                      <a:tailEnd type="none" w="med" len="med"/>
                    </a:lnT>
                    <a:lnB w="9525" cap="flat" cmpd="sng" algn="ctr">
                      <a:solidFill>
                        <a:srgbClr val="E5DED4"/>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7" name="Text 3">
            <a:extLst>
              <a:ext uri="{FF2B5EF4-FFF2-40B4-BE49-F238E27FC236}">
                <a16:creationId xmlns:a16="http://schemas.microsoft.com/office/drawing/2014/main" id="{9AC219B3-6B9B-2F70-CADC-AC844F409CAF}"/>
              </a:ext>
            </a:extLst>
          </p:cNvPr>
          <p:cNvSpPr txBox="1"/>
          <p:nvPr/>
        </p:nvSpPr>
        <p:spPr>
          <a:xfrm>
            <a:off x="8746342" y="3698719"/>
            <a:ext cx="4206240" cy="502920"/>
          </a:xfrm>
          <a:prstGeom prst="rect">
            <a:avLst/>
          </a:prstGeom>
          <a:noFill/>
          <a:ln/>
        </p:spPr>
        <p:txBody>
          <a:bodyPr wrap="square" lIns="0" tIns="0" rIns="0" bIns="0" rtlCol="0" anchor="ctr"/>
          <a:lstStyle/>
          <a:p>
            <a:pPr marL="0" indent="0">
              <a:buNone/>
            </a:pPr>
            <a:r>
              <a:rPr lang="en-US" sz="2400" b="1" dirty="0">
                <a:solidFill>
                  <a:schemeClr val="accent2"/>
                </a:solidFill>
                <a:latin typeface="Calibri" pitchFamily="34" charset="0"/>
                <a:ea typeface="Calibri" pitchFamily="34" charset="-122"/>
                <a:cs typeface="Calibri" pitchFamily="34" charset="-120"/>
              </a:rPr>
              <a:t>99,457</a:t>
            </a:r>
            <a:endParaRPr lang="en-US" sz="2400" dirty="0">
              <a:solidFill>
                <a:schemeClr val="accent2"/>
              </a:solidFill>
            </a:endParaRPr>
          </a:p>
        </p:txBody>
      </p:sp>
      <p:sp>
        <p:nvSpPr>
          <p:cNvPr id="10" name="Text 4">
            <a:extLst>
              <a:ext uri="{FF2B5EF4-FFF2-40B4-BE49-F238E27FC236}">
                <a16:creationId xmlns:a16="http://schemas.microsoft.com/office/drawing/2014/main" id="{119D5DA7-E8DB-F581-3BE5-8BAB88B67DC0}"/>
              </a:ext>
            </a:extLst>
          </p:cNvPr>
          <p:cNvSpPr txBox="1"/>
          <p:nvPr/>
        </p:nvSpPr>
        <p:spPr>
          <a:xfrm>
            <a:off x="8654933" y="4095264"/>
            <a:ext cx="4206240" cy="274320"/>
          </a:xfrm>
          <a:prstGeom prst="rect">
            <a:avLst/>
          </a:prstGeom>
          <a:noFill/>
          <a:ln/>
        </p:spPr>
        <p:txBody>
          <a:bodyPr wrap="square" lIns="0" tIns="0" rIns="0" bIns="0" rtlCol="0" anchor="ctr"/>
          <a:lstStyle/>
          <a:p>
            <a:pPr marL="0" indent="0">
              <a:buNone/>
            </a:pPr>
            <a:r>
              <a:rPr lang="en-US" sz="1150" dirty="0">
                <a:solidFill>
                  <a:srgbClr val="898781"/>
                </a:solidFill>
                <a:latin typeface="Calibri" pitchFamily="34" charset="0"/>
                <a:ea typeface="Calibri" pitchFamily="34" charset="-122"/>
                <a:cs typeface="Calibri" pitchFamily="34" charset="-120"/>
              </a:rPr>
              <a:t>purchases in total</a:t>
            </a:r>
            <a:endParaRPr lang="en-US" sz="1150" dirty="0"/>
          </a:p>
        </p:txBody>
      </p:sp>
    </p:spTree>
    <p:extLst>
      <p:ext uri="{BB962C8B-B14F-4D97-AF65-F5344CB8AC3E}">
        <p14:creationId xmlns:p14="http://schemas.microsoft.com/office/powerpoint/2010/main" val="3140851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4" name="Google Shape;464;p74"/>
          <p:cNvSpPr/>
          <p:nvPr/>
        </p:nvSpPr>
        <p:spPr>
          <a:xfrm>
            <a:off x="1772293" y="3244334"/>
            <a:ext cx="9203933" cy="369332"/>
          </a:xfrm>
          <a:prstGeom prst="rect">
            <a:avLst/>
          </a:prstGeom>
          <a:noFill/>
          <a:ln>
            <a:noFill/>
          </a:ln>
        </p:spPr>
        <p:txBody>
          <a:bodyPr spcFirstLastPara="1" wrap="square" lIns="0" tIns="0" rIns="0" bIns="0" anchor="ctr" anchorCtr="0">
            <a:noAutofit/>
          </a:bodyPr>
          <a:lstStyle/>
          <a:p>
            <a:pPr algn="ctr" defTabSz="1219121">
              <a:buClr>
                <a:srgbClr val="083D65"/>
              </a:buClr>
              <a:buSzPts val="900"/>
            </a:pPr>
            <a:r>
              <a:rPr lang="en-US" sz="3333" b="1" dirty="0">
                <a:solidFill>
                  <a:schemeClr val="accent2">
                    <a:lumMod val="50000"/>
                  </a:schemeClr>
                </a:solidFill>
              </a:rPr>
              <a:t>INTERACTIVE DASHBOARD</a:t>
            </a:r>
            <a:endParaRPr sz="3000" b="1" kern="0" dirty="0">
              <a:solidFill>
                <a:schemeClr val="accent2">
                  <a:lumMod val="50000"/>
                </a:schemeClr>
              </a:solidFill>
              <a:latin typeface="Inter"/>
              <a:ea typeface="Inter"/>
              <a:cs typeface="Inter"/>
              <a:sym typeface="Inter"/>
            </a:endParaRPr>
          </a:p>
        </p:txBody>
      </p:sp>
      <p:pic>
        <p:nvPicPr>
          <p:cNvPr id="3" name="Picture 2">
            <a:extLst>
              <a:ext uri="{FF2B5EF4-FFF2-40B4-BE49-F238E27FC236}">
                <a16:creationId xmlns:a16="http://schemas.microsoft.com/office/drawing/2014/main" id="{56157049-167A-71B3-CC1B-807EC2591836}"/>
              </a:ext>
            </a:extLst>
          </p:cNvPr>
          <p:cNvPicPr>
            <a:picLocks noChangeAspect="1"/>
          </p:cNvPicPr>
          <p:nvPr/>
        </p:nvPicPr>
        <p:blipFill>
          <a:blip r:embed="rId3"/>
          <a:stretch>
            <a:fillRect/>
          </a:stretch>
        </p:blipFill>
        <p:spPr>
          <a:xfrm>
            <a:off x="4967847" y="1413324"/>
            <a:ext cx="2269278" cy="1369034"/>
          </a:xfrm>
          <a:prstGeom prst="rect">
            <a:avLst/>
          </a:prstGeom>
        </p:spPr>
      </p:pic>
      <p:sp>
        <p:nvSpPr>
          <p:cNvPr id="4" name="Rectangle 3">
            <a:extLst>
              <a:ext uri="{FF2B5EF4-FFF2-40B4-BE49-F238E27FC236}">
                <a16:creationId xmlns:a16="http://schemas.microsoft.com/office/drawing/2014/main" id="{8F86DD23-87F7-2AE2-0A5C-66ADF9670800}"/>
              </a:ext>
            </a:extLst>
          </p:cNvPr>
          <p:cNvSpPr/>
          <p:nvPr/>
        </p:nvSpPr>
        <p:spPr>
          <a:xfrm>
            <a:off x="336637" y="375781"/>
            <a:ext cx="11518726" cy="61064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p:sp>
        <p:nvSpPr>
          <p:cNvPr id="8" name="TextBox 7">
            <a:extLst>
              <a:ext uri="{FF2B5EF4-FFF2-40B4-BE49-F238E27FC236}">
                <a16:creationId xmlns:a16="http://schemas.microsoft.com/office/drawing/2014/main" id="{1D45A118-4317-6CEB-7293-3420FB55100D}"/>
              </a:ext>
            </a:extLst>
          </p:cNvPr>
          <p:cNvSpPr txBox="1"/>
          <p:nvPr/>
        </p:nvSpPr>
        <p:spPr>
          <a:xfrm>
            <a:off x="3097161" y="3824988"/>
            <a:ext cx="7049728" cy="523220"/>
          </a:xfrm>
          <a:prstGeom prst="rect">
            <a:avLst/>
          </a:prstGeom>
          <a:noFill/>
        </p:spPr>
        <p:txBody>
          <a:bodyPr wrap="square">
            <a:spAutoFit/>
          </a:bodyPr>
          <a:lstStyle/>
          <a:p>
            <a:r>
              <a:rPr lang="en-IN" sz="1400" dirty="0"/>
              <a:t>The interactive Power BI dashboard allows the analysis to be filtered by </a:t>
            </a:r>
            <a:r>
              <a:rPr lang="en-IN" sz="1400" b="1" dirty="0"/>
              <a:t>gender, age group, category and shopping mall</a:t>
            </a:r>
            <a:r>
              <a:rPr lang="en-IN" sz="1400" dirty="0"/>
              <a:t> to explore customer behaviour from different perspectives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64"/>
                                        </p:tgtEl>
                                        <p:attrNameLst>
                                          <p:attrName>style.visibility</p:attrName>
                                        </p:attrNameLst>
                                      </p:cBhvr>
                                      <p:to>
                                        <p:strVal val="visible"/>
                                      </p:to>
                                    </p:set>
                                    <p:anim calcmode="lin" valueType="num">
                                      <p:cBhvr additive="base">
                                        <p:cTn id="11" dur="500" fill="hold"/>
                                        <p:tgtEl>
                                          <p:spTgt spid="464"/>
                                        </p:tgtEl>
                                        <p:attrNameLst>
                                          <p:attrName>ppt_x</p:attrName>
                                        </p:attrNameLst>
                                      </p:cBhvr>
                                      <p:tavLst>
                                        <p:tav tm="0">
                                          <p:val>
                                            <p:strVal val="#ppt_x"/>
                                          </p:val>
                                        </p:tav>
                                        <p:tav tm="100000">
                                          <p:val>
                                            <p:strVal val="#ppt_x"/>
                                          </p:val>
                                        </p:tav>
                                      </p:tavLst>
                                    </p:anim>
                                    <p:anim calcmode="lin" valueType="num">
                                      <p:cBhvr additive="base">
                                        <p:cTn id="12" dur="500" fill="hold"/>
                                        <p:tgtEl>
                                          <p:spTgt spid="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DE46E-20F5-F515-C94F-6B1D890278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7F34D7-4024-F040-BEA0-1C7EB3A55422}"/>
              </a:ext>
            </a:extLst>
          </p:cNvPr>
          <p:cNvSpPr/>
          <p:nvPr/>
        </p:nvSpPr>
        <p:spPr>
          <a:xfrm>
            <a:off x="336637" y="223284"/>
            <a:ext cx="11518726" cy="6517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500"/>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8" name="Add-in 7">
                <a:extLst>
                  <a:ext uri="{FF2B5EF4-FFF2-40B4-BE49-F238E27FC236}">
                    <a16:creationId xmlns:a16="http://schemas.microsoft.com/office/drawing/2014/main" id="{E57CF879-70FE-2703-E270-CD3D439A47BC}"/>
                  </a:ext>
                </a:extLst>
              </p:cNvPr>
              <p:cNvGraphicFramePr>
                <a:graphicFrameLocks noGrp="1"/>
              </p:cNvGraphicFramePr>
              <p:nvPr>
                <p:extLst>
                  <p:ext uri="{D42A27DB-BD31-4B8C-83A1-F6EECF244321}">
                    <p14:modId xmlns:p14="http://schemas.microsoft.com/office/powerpoint/2010/main" val="1861713217"/>
                  </p:ext>
                </p:extLst>
              </p:nvPr>
            </p:nvGraphicFramePr>
            <p:xfrm>
              <a:off x="1158949" y="424379"/>
              <a:ext cx="9637682" cy="600924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8" name="Add-in 7">
                <a:extLst>
                  <a:ext uri="{FF2B5EF4-FFF2-40B4-BE49-F238E27FC236}">
                    <a16:creationId xmlns:a16="http://schemas.microsoft.com/office/drawing/2014/main" id="{E57CF879-70FE-2703-E270-CD3D439A47BC}"/>
                  </a:ext>
                </a:extLst>
              </p:cNvPr>
              <p:cNvPicPr>
                <a:picLocks noGrp="1" noRot="1" noChangeAspect="1" noMove="1" noResize="1" noEditPoints="1" noAdjustHandles="1" noChangeArrowheads="1" noChangeShapeType="1"/>
              </p:cNvPicPr>
              <p:nvPr/>
            </p:nvPicPr>
            <p:blipFill>
              <a:blip r:embed="rId4"/>
              <a:stretch>
                <a:fillRect/>
              </a:stretch>
            </p:blipFill>
            <p:spPr>
              <a:xfrm>
                <a:off x="1158949" y="424379"/>
                <a:ext cx="9637682" cy="6009241"/>
              </a:xfrm>
              <a:prstGeom prst="rect">
                <a:avLst/>
              </a:prstGeom>
            </p:spPr>
          </p:pic>
        </mc:Fallback>
      </mc:AlternateContent>
      <p:sp>
        <p:nvSpPr>
          <p:cNvPr id="11" name="Freeform: Shape 10">
            <a:extLst>
              <a:ext uri="{FF2B5EF4-FFF2-40B4-BE49-F238E27FC236}">
                <a16:creationId xmlns:a16="http://schemas.microsoft.com/office/drawing/2014/main" id="{4DC251C1-FBFF-CC7E-9387-EE9026F270C0}"/>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0560019C-F357-CA0E-FA1B-E4DE3F2340F9}"/>
              </a:ext>
            </a:extLst>
          </p:cNvPr>
          <p:cNvSpPr/>
          <p:nvPr/>
        </p:nvSpPr>
        <p:spPr>
          <a:xfrm rot="10800000">
            <a:off x="0" y="4533710"/>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2455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CFAF8"/>
        </a:solidFill>
        <a:effectLst/>
      </p:bgPr>
    </p:bg>
    <p:spTree>
      <p:nvGrpSpPr>
        <p:cNvPr id="1" name=""/>
        <p:cNvGrpSpPr/>
        <p:nvPr/>
      </p:nvGrpSpPr>
      <p:grpSpPr>
        <a:xfrm>
          <a:off x="0" y="0"/>
          <a:ext cx="0" cy="0"/>
          <a:chOff x="0" y="0"/>
          <a:chExt cx="0" cy="0"/>
        </a:xfrm>
      </p:grpSpPr>
      <p:sp>
        <p:nvSpPr>
          <p:cNvPr id="3" name="Text 1"/>
          <p:cNvSpPr txBox="1"/>
          <p:nvPr/>
        </p:nvSpPr>
        <p:spPr>
          <a:xfrm>
            <a:off x="548640" y="585216"/>
            <a:ext cx="8686800" cy="594360"/>
          </a:xfrm>
          <a:prstGeom prst="rect">
            <a:avLst/>
          </a:prstGeom>
          <a:noFill/>
          <a:ln/>
        </p:spPr>
        <p:txBody>
          <a:bodyPr wrap="square" lIns="0" tIns="0" rIns="0" bIns="0" rtlCol="0" anchor="ctr"/>
          <a:lstStyle/>
          <a:p>
            <a:pPr marL="0" indent="0">
              <a:buNone/>
            </a:pPr>
            <a:r>
              <a:rPr lang="en-US" sz="2200" b="1" dirty="0">
                <a:solidFill>
                  <a:srgbClr val="3D9A8B"/>
                </a:solidFill>
                <a:latin typeface="Calibri" pitchFamily="34" charset="0"/>
                <a:ea typeface="Calibri" pitchFamily="34" charset="-122"/>
                <a:cs typeface="Calibri" pitchFamily="34" charset="-120"/>
              </a:rPr>
              <a:t>Who's Shopping More?</a:t>
            </a:r>
            <a:endParaRPr lang="en-US" sz="2200" dirty="0">
              <a:solidFill>
                <a:srgbClr val="3D9A8B"/>
              </a:solidFill>
            </a:endParaRPr>
          </a:p>
        </p:txBody>
      </p:sp>
      <p:grpSp>
        <p:nvGrpSpPr>
          <p:cNvPr id="18" name="Group 17">
            <a:extLst>
              <a:ext uri="{FF2B5EF4-FFF2-40B4-BE49-F238E27FC236}">
                <a16:creationId xmlns:a16="http://schemas.microsoft.com/office/drawing/2014/main" id="{71CE34C7-FA8B-E53E-4FE5-3BB28C38E582}"/>
              </a:ext>
            </a:extLst>
          </p:cNvPr>
          <p:cNvGrpSpPr/>
          <p:nvPr/>
        </p:nvGrpSpPr>
        <p:grpSpPr>
          <a:xfrm>
            <a:off x="9278112" y="2656332"/>
            <a:ext cx="2194560" cy="896112"/>
            <a:chOff x="9418320" y="256032"/>
            <a:chExt cx="2194560" cy="896112"/>
          </a:xfrm>
        </p:grpSpPr>
        <p:sp>
          <p:nvSpPr>
            <p:cNvPr id="4" name="Shape 2"/>
            <p:cNvSpPr/>
            <p:nvPr/>
          </p:nvSpPr>
          <p:spPr>
            <a:xfrm>
              <a:off x="9418320" y="256032"/>
              <a:ext cx="2194560" cy="896112"/>
            </a:xfrm>
            <a:prstGeom prst="roundRect">
              <a:avLst>
                <a:gd name="adj" fmla="val 8163"/>
              </a:avLst>
            </a:prstGeom>
            <a:solidFill>
              <a:schemeClr val="accent2"/>
            </a:solidFill>
            <a:ln/>
          </p:spPr>
          <p:txBody>
            <a:bodyPr/>
            <a:lstStyle/>
            <a:p>
              <a:endParaRPr lang="en-IN"/>
            </a:p>
          </p:txBody>
        </p:sp>
        <p:sp>
          <p:nvSpPr>
            <p:cNvPr id="5" name="Text 3"/>
            <p:cNvSpPr txBox="1"/>
            <p:nvPr/>
          </p:nvSpPr>
          <p:spPr>
            <a:xfrm>
              <a:off x="9528048" y="329184"/>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59.8%</a:t>
              </a:r>
              <a:endParaRPr lang="en-US" sz="2200" dirty="0"/>
            </a:p>
          </p:txBody>
        </p:sp>
        <p:sp>
          <p:nvSpPr>
            <p:cNvPr id="6" name="Text 4"/>
            <p:cNvSpPr txBox="1"/>
            <p:nvPr/>
          </p:nvSpPr>
          <p:spPr>
            <a:xfrm>
              <a:off x="9528048" y="777240"/>
              <a:ext cx="1975104" cy="347472"/>
            </a:xfrm>
            <a:prstGeom prst="rect">
              <a:avLst/>
            </a:prstGeom>
            <a:noFill/>
            <a:ln/>
          </p:spPr>
          <p:txBody>
            <a:bodyPr wrap="square" lIns="0" tIns="0" rIns="0" bIns="0" rtlCol="0" anchor="ctr"/>
            <a:lstStyle/>
            <a:p>
              <a:pPr marL="0" indent="0" algn="ctr">
                <a:lnSpc>
                  <a:spcPts val="1000"/>
                </a:lnSpc>
                <a:buNone/>
              </a:pPr>
              <a:r>
                <a:rPr lang="en-US" sz="1100" b="1" dirty="0">
                  <a:solidFill>
                    <a:srgbClr val="F5D9C4"/>
                  </a:solidFill>
                  <a:latin typeface="Calibri" pitchFamily="34" charset="0"/>
                  <a:ea typeface="Calibri" pitchFamily="34" charset="-122"/>
                  <a:cs typeface="Calibri" pitchFamily="34" charset="-120"/>
                </a:rPr>
                <a:t>of all orders placed by women</a:t>
              </a:r>
              <a:endParaRPr lang="en-US" sz="1100" b="1" dirty="0"/>
            </a:p>
          </p:txBody>
        </p:sp>
      </p:grpSp>
      <p:sp>
        <p:nvSpPr>
          <p:cNvPr id="7" name="Text 5"/>
          <p:cNvSpPr txBox="1"/>
          <p:nvPr/>
        </p:nvSpPr>
        <p:spPr>
          <a:xfrm>
            <a:off x="548640" y="1207008"/>
            <a:ext cx="4220005" cy="292608"/>
          </a:xfrm>
          <a:prstGeom prst="rect">
            <a:avLst/>
          </a:prstGeom>
          <a:noFill/>
          <a:ln/>
        </p:spPr>
        <p:txBody>
          <a:bodyPr wrap="square" lIns="0" tIns="0" rIns="0" bIns="0" rtlCol="0" anchor="ctr"/>
          <a:lstStyle/>
          <a:p>
            <a:pPr marL="0" indent="0">
              <a:buNone/>
            </a:pPr>
            <a:r>
              <a:rPr lang="en-US" sz="1150" i="1" dirty="0">
                <a:solidFill>
                  <a:srgbClr val="898781"/>
                </a:solidFill>
                <a:latin typeface="Calibri" pitchFamily="34" charset="0"/>
                <a:ea typeface="Calibri" pitchFamily="34" charset="-122"/>
                <a:cs typeface="Calibri" pitchFamily="34" charset="-120"/>
              </a:rPr>
              <a:t>Q1. How is the shopping distribution according to gender?    </a:t>
            </a:r>
            <a:endParaRPr lang="en-US" sz="1150" dirty="0"/>
          </a:p>
        </p:txBody>
      </p:sp>
      <p:sp>
        <p:nvSpPr>
          <p:cNvPr id="10" name="Text 6"/>
          <p:cNvSpPr txBox="1"/>
          <p:nvPr/>
        </p:nvSpPr>
        <p:spPr>
          <a:xfrm>
            <a:off x="548640" y="5029200"/>
            <a:ext cx="11064240" cy="594360"/>
          </a:xfrm>
          <a:prstGeom prst="rect">
            <a:avLst/>
          </a:prstGeom>
          <a:noFill/>
          <a:ln/>
        </p:spPr>
        <p:txBody>
          <a:bodyPr wrap="square" lIns="0" tIns="0" rIns="0" bIns="0" rtlCol="0" anchor="t"/>
          <a:lstStyle/>
          <a:p>
            <a:pPr>
              <a:lnSpc>
                <a:spcPct val="150000"/>
              </a:lnSpc>
            </a:pPr>
            <a:r>
              <a:rPr lang="en-US" sz="1200" b="1" dirty="0">
                <a:solidFill>
                  <a:srgbClr val="73361C"/>
                </a:solidFill>
                <a:latin typeface="Calibri" pitchFamily="34" charset="0"/>
                <a:ea typeface="Calibri" pitchFamily="34" charset="-122"/>
                <a:cs typeface="Calibri" pitchFamily="34" charset="-120"/>
              </a:rPr>
              <a:t>Observation   </a:t>
            </a:r>
            <a:r>
              <a:rPr lang="en-IN" sz="1200" dirty="0"/>
              <a:t>Out of </a:t>
            </a:r>
            <a:r>
              <a:rPr lang="en-IN" sz="1200" b="1" dirty="0"/>
              <a:t>99,457 total orders</a:t>
            </a:r>
            <a:r>
              <a:rPr lang="en-IN" sz="1200" dirty="0"/>
              <a:t>, women placed </a:t>
            </a:r>
            <a:r>
              <a:rPr lang="en-IN" sz="1200" b="1" dirty="0"/>
              <a:t>59,482 (about 60%)</a:t>
            </a:r>
            <a:r>
              <a:rPr lang="en-IN" sz="1200" dirty="0"/>
              <a:t>, compared with </a:t>
            </a:r>
            <a:r>
              <a:rPr lang="en-IN" sz="1200" b="1" dirty="0"/>
              <a:t>39,975 by men</a:t>
            </a:r>
            <a:r>
              <a:rPr lang="en-IN" sz="1200" dirty="0"/>
              <a:t>. The same pattern is seen in quantity purchased, with women buying </a:t>
            </a:r>
            <a:r>
              <a:rPr lang="en-IN" sz="1200" b="1" dirty="0"/>
              <a:t>179K units</a:t>
            </a:r>
            <a:r>
              <a:rPr lang="en-IN" sz="1200" dirty="0"/>
              <a:t> compared with </a:t>
            </a:r>
            <a:r>
              <a:rPr lang="en-IN" sz="1200" b="1" dirty="0"/>
              <a:t>120K units</a:t>
            </a:r>
            <a:r>
              <a:rPr lang="en-IN" sz="1200" dirty="0"/>
              <a:t> by men</a:t>
            </a:r>
            <a:endParaRPr lang="en-US" sz="1200" dirty="0"/>
          </a:p>
        </p:txBody>
      </p:sp>
      <p:sp>
        <p:nvSpPr>
          <p:cNvPr id="11" name="Text 7"/>
          <p:cNvSpPr txBox="1"/>
          <p:nvPr/>
        </p:nvSpPr>
        <p:spPr>
          <a:xfrm>
            <a:off x="548640" y="5733288"/>
            <a:ext cx="11064240" cy="1463040"/>
          </a:xfrm>
          <a:prstGeom prst="rect">
            <a:avLst/>
          </a:prstGeom>
          <a:noFill/>
          <a:ln/>
        </p:spPr>
        <p:txBody>
          <a:bodyPr wrap="square" lIns="0" tIns="0" rIns="0" bIns="0" rtlCol="0" anchor="t"/>
          <a:lstStyle/>
          <a:p>
            <a:pPr>
              <a:lnSpc>
                <a:spcPct val="200000"/>
              </a:lnSpc>
            </a:pPr>
            <a:r>
              <a:rPr lang="en-US" sz="1200" b="1" dirty="0">
                <a:solidFill>
                  <a:srgbClr val="3D9A8B"/>
                </a:solidFill>
                <a:latin typeface="Calibri" pitchFamily="34" charset="0"/>
                <a:ea typeface="Calibri" pitchFamily="34" charset="-122"/>
                <a:cs typeface="Calibri" pitchFamily="34" charset="-120"/>
              </a:rPr>
              <a:t>Business Insight   </a:t>
            </a:r>
            <a:r>
              <a:rPr lang="en-IN" sz="1200" dirty="0"/>
              <a:t>Female customers are clearly the larger shopping segment across both orders and quantity. This makes them an important audience for customer acquisition and retention, while the male segment presents an opportunity for further growth.</a:t>
            </a:r>
          </a:p>
          <a:p>
            <a:pPr marL="0" indent="0">
              <a:lnSpc>
                <a:spcPct val="200000"/>
              </a:lnSpc>
              <a:buNone/>
            </a:pPr>
            <a:endParaRPr lang="en-US" sz="1200" dirty="0"/>
          </a:p>
        </p:txBody>
      </p:sp>
      <p:sp>
        <p:nvSpPr>
          <p:cNvPr id="13" name="Text 9"/>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pic>
        <p:nvPicPr>
          <p:cNvPr id="17" name="Picture 16">
            <a:extLst>
              <a:ext uri="{FF2B5EF4-FFF2-40B4-BE49-F238E27FC236}">
                <a16:creationId xmlns:a16="http://schemas.microsoft.com/office/drawing/2014/main" id="{5D40C823-68F6-572B-B53C-2FA259107A51}"/>
              </a:ext>
            </a:extLst>
          </p:cNvPr>
          <p:cNvPicPr>
            <a:picLocks noChangeAspect="1"/>
          </p:cNvPicPr>
          <p:nvPr/>
        </p:nvPicPr>
        <p:blipFill>
          <a:blip r:embed="rId3"/>
          <a:stretch>
            <a:fillRect/>
          </a:stretch>
        </p:blipFill>
        <p:spPr>
          <a:xfrm>
            <a:off x="2165394" y="1708578"/>
            <a:ext cx="6248721" cy="3111660"/>
          </a:xfrm>
          <a:prstGeom prst="rect">
            <a:avLst/>
          </a:prstGeom>
        </p:spPr>
      </p:pic>
      <p:sp>
        <p:nvSpPr>
          <p:cNvPr id="20" name="TextBox 19">
            <a:extLst>
              <a:ext uri="{FF2B5EF4-FFF2-40B4-BE49-F238E27FC236}">
                <a16:creationId xmlns:a16="http://schemas.microsoft.com/office/drawing/2014/main" id="{410E398A-D525-F70D-F227-2BEC4BB0CF6A}"/>
              </a:ext>
            </a:extLst>
          </p:cNvPr>
          <p:cNvSpPr txBox="1"/>
          <p:nvPr/>
        </p:nvSpPr>
        <p:spPr>
          <a:xfrm>
            <a:off x="5132439" y="1231736"/>
            <a:ext cx="6096000" cy="269304"/>
          </a:xfrm>
          <a:prstGeom prst="rect">
            <a:avLst/>
          </a:prstGeom>
          <a:noFill/>
        </p:spPr>
        <p:txBody>
          <a:bodyPr wrap="square">
            <a:spAutoFit/>
          </a:bodyPr>
          <a:lstStyle/>
          <a:p>
            <a:r>
              <a:rPr lang="en-US" sz="1150" i="1" dirty="0">
                <a:solidFill>
                  <a:srgbClr val="898781"/>
                </a:solidFill>
                <a:latin typeface="Calibri" pitchFamily="34" charset="0"/>
                <a:ea typeface="Calibri" pitchFamily="34" charset="-122"/>
                <a:cs typeface="Calibri" pitchFamily="34" charset="-120"/>
              </a:rPr>
              <a:t>Q2. Which gender did we sell more products to?</a:t>
            </a:r>
            <a:endParaRPr lang="en-IN" dirty="0"/>
          </a:p>
        </p:txBody>
      </p:sp>
      <p:grpSp>
        <p:nvGrpSpPr>
          <p:cNvPr id="25" name="Group 24">
            <a:extLst>
              <a:ext uri="{FF2B5EF4-FFF2-40B4-BE49-F238E27FC236}">
                <a16:creationId xmlns:a16="http://schemas.microsoft.com/office/drawing/2014/main" id="{5DD33380-52FB-4897-2D35-4516206BCFE8}"/>
              </a:ext>
            </a:extLst>
          </p:cNvPr>
          <p:cNvGrpSpPr/>
          <p:nvPr/>
        </p:nvGrpSpPr>
        <p:grpSpPr>
          <a:xfrm>
            <a:off x="-314632" y="19466"/>
            <a:ext cx="12487421" cy="6895952"/>
            <a:chOff x="-314632" y="19466"/>
            <a:chExt cx="12487421" cy="6895952"/>
          </a:xfrm>
        </p:grpSpPr>
        <p:sp>
          <p:nvSpPr>
            <p:cNvPr id="22" name="Freeform: Shape 21">
              <a:extLst>
                <a:ext uri="{FF2B5EF4-FFF2-40B4-BE49-F238E27FC236}">
                  <a16:creationId xmlns:a16="http://schemas.microsoft.com/office/drawing/2014/main" id="{10DD0F0F-5839-3A47-EBCC-1121C62479B2}"/>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6697CF3D-ECD6-CF93-8F46-6806A963DB1E}"/>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26" name="Picture 25" descr="Online Shopping Png Transparent Images - Online Shop Icon Png - Free Transparent PNG Clipart Images Download">
            <a:extLst>
              <a:ext uri="{FF2B5EF4-FFF2-40B4-BE49-F238E27FC236}">
                <a16:creationId xmlns:a16="http://schemas.microsoft.com/office/drawing/2014/main" id="{378709FE-722F-5DE0-7BA4-3D8ECEE1E8DD}"/>
              </a:ext>
            </a:extLst>
          </p:cNvPr>
          <p:cNvPicPr>
            <a:picLocks noChangeAspect="1"/>
          </p:cNvPicPr>
          <p:nvPr/>
        </p:nvPicPr>
        <p:blipFill>
          <a:blip r:embed="rId4"/>
          <a:srcRect/>
          <a:stretch>
            <a:fillRect/>
          </a:stretch>
        </p:blipFill>
        <p:spPr>
          <a:xfrm>
            <a:off x="3102128" y="228597"/>
            <a:ext cx="1425795" cy="10031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9D27-6FAF-DE2D-0133-1CD04772120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04AF659-36D3-A5AE-4BFF-9C82D3FF8A9E}"/>
              </a:ext>
            </a:extLst>
          </p:cNvPr>
          <p:cNvSpPr txBox="1"/>
          <p:nvPr/>
        </p:nvSpPr>
        <p:spPr>
          <a:xfrm>
            <a:off x="548640" y="585216"/>
            <a:ext cx="8686800" cy="594360"/>
          </a:xfrm>
          <a:prstGeom prst="rect">
            <a:avLst/>
          </a:prstGeom>
          <a:noFill/>
          <a:ln/>
        </p:spPr>
        <p:txBody>
          <a:bodyPr wrap="square" lIns="0" tIns="0" rIns="0" bIns="0" rtlCol="0" anchor="ctr"/>
          <a:lstStyle/>
          <a:p>
            <a:r>
              <a:rPr lang="en-US" sz="2200" b="1" dirty="0">
                <a:solidFill>
                  <a:srgbClr val="3D9A8B"/>
                </a:solidFill>
                <a:latin typeface="Calibri" pitchFamily="34" charset="0"/>
                <a:ea typeface="Calibri" pitchFamily="34" charset="-122"/>
                <a:cs typeface="Calibri" pitchFamily="34" charset="-120"/>
              </a:rPr>
              <a:t>Who's Bringing in More Revenue?</a:t>
            </a:r>
          </a:p>
        </p:txBody>
      </p:sp>
      <p:grpSp>
        <p:nvGrpSpPr>
          <p:cNvPr id="18" name="Group 17">
            <a:extLst>
              <a:ext uri="{FF2B5EF4-FFF2-40B4-BE49-F238E27FC236}">
                <a16:creationId xmlns:a16="http://schemas.microsoft.com/office/drawing/2014/main" id="{E1764D51-E30B-D31C-C770-B8B6A608C081}"/>
              </a:ext>
            </a:extLst>
          </p:cNvPr>
          <p:cNvGrpSpPr/>
          <p:nvPr/>
        </p:nvGrpSpPr>
        <p:grpSpPr>
          <a:xfrm>
            <a:off x="8273830" y="913560"/>
            <a:ext cx="2194560" cy="896112"/>
            <a:chOff x="9418320" y="256032"/>
            <a:chExt cx="2194560" cy="896112"/>
          </a:xfrm>
        </p:grpSpPr>
        <p:sp>
          <p:nvSpPr>
            <p:cNvPr id="4" name="Shape 2">
              <a:extLst>
                <a:ext uri="{FF2B5EF4-FFF2-40B4-BE49-F238E27FC236}">
                  <a16:creationId xmlns:a16="http://schemas.microsoft.com/office/drawing/2014/main" id="{91067F55-2F26-BD9B-48B9-9C21C3A45E5C}"/>
                </a:ext>
              </a:extLst>
            </p:cNvPr>
            <p:cNvSpPr/>
            <p:nvPr/>
          </p:nvSpPr>
          <p:spPr>
            <a:xfrm>
              <a:off x="9418320" y="256032"/>
              <a:ext cx="2194560" cy="896112"/>
            </a:xfrm>
            <a:prstGeom prst="roundRect">
              <a:avLst>
                <a:gd name="adj" fmla="val 8163"/>
              </a:avLst>
            </a:prstGeom>
            <a:solidFill>
              <a:schemeClr val="accent2"/>
            </a:solidFill>
            <a:ln/>
          </p:spPr>
          <p:txBody>
            <a:bodyPr/>
            <a:lstStyle/>
            <a:p>
              <a:endParaRPr lang="en-IN"/>
            </a:p>
          </p:txBody>
        </p:sp>
        <p:sp>
          <p:nvSpPr>
            <p:cNvPr id="5" name="Text 3">
              <a:extLst>
                <a:ext uri="{FF2B5EF4-FFF2-40B4-BE49-F238E27FC236}">
                  <a16:creationId xmlns:a16="http://schemas.microsoft.com/office/drawing/2014/main" id="{D970C82E-9E49-FDE3-92A4-FE32BEAF8AD3}"/>
                </a:ext>
              </a:extLst>
            </p:cNvPr>
            <p:cNvSpPr txBox="1"/>
            <p:nvPr/>
          </p:nvSpPr>
          <p:spPr>
            <a:xfrm>
              <a:off x="9528048" y="329184"/>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59.6%</a:t>
              </a:r>
              <a:endParaRPr lang="en-US" sz="2200" dirty="0"/>
            </a:p>
          </p:txBody>
        </p:sp>
        <p:sp>
          <p:nvSpPr>
            <p:cNvPr id="6" name="Text 4">
              <a:extLst>
                <a:ext uri="{FF2B5EF4-FFF2-40B4-BE49-F238E27FC236}">
                  <a16:creationId xmlns:a16="http://schemas.microsoft.com/office/drawing/2014/main" id="{A091F050-D42C-179B-CB10-7F8BB9E62E06}"/>
                </a:ext>
              </a:extLst>
            </p:cNvPr>
            <p:cNvSpPr txBox="1"/>
            <p:nvPr/>
          </p:nvSpPr>
          <p:spPr>
            <a:xfrm>
              <a:off x="9528048" y="777240"/>
              <a:ext cx="1975104" cy="347472"/>
            </a:xfrm>
            <a:prstGeom prst="rect">
              <a:avLst/>
            </a:prstGeom>
            <a:noFill/>
            <a:ln/>
          </p:spPr>
          <p:txBody>
            <a:bodyPr wrap="square" lIns="0" tIns="0" rIns="0" bIns="0" rtlCol="0" anchor="ctr"/>
            <a:lstStyle/>
            <a:p>
              <a:pPr marL="0" indent="0" algn="ctr">
                <a:lnSpc>
                  <a:spcPts val="1000"/>
                </a:lnSpc>
                <a:buNone/>
              </a:pPr>
              <a:r>
                <a:rPr lang="en-US" sz="1100" b="1" dirty="0">
                  <a:solidFill>
                    <a:srgbClr val="F5D9C4"/>
                  </a:solidFill>
                  <a:latin typeface="Calibri" pitchFamily="34" charset="0"/>
                  <a:ea typeface="Calibri" pitchFamily="34" charset="-122"/>
                  <a:cs typeface="Calibri" pitchFamily="34" charset="-120"/>
                </a:rPr>
                <a:t>of total revenue from women</a:t>
              </a:r>
              <a:endParaRPr lang="en-US" sz="1100" b="1" dirty="0"/>
            </a:p>
          </p:txBody>
        </p:sp>
      </p:grpSp>
      <p:sp>
        <p:nvSpPr>
          <p:cNvPr id="7" name="Text 5">
            <a:extLst>
              <a:ext uri="{FF2B5EF4-FFF2-40B4-BE49-F238E27FC236}">
                <a16:creationId xmlns:a16="http://schemas.microsoft.com/office/drawing/2014/main" id="{ED8F3CA3-8C15-5B3F-47AA-AE64BFA95BB4}"/>
              </a:ext>
            </a:extLst>
          </p:cNvPr>
          <p:cNvSpPr txBox="1"/>
          <p:nvPr/>
        </p:nvSpPr>
        <p:spPr>
          <a:xfrm>
            <a:off x="548640" y="1142160"/>
            <a:ext cx="4220005" cy="292608"/>
          </a:xfrm>
          <a:prstGeom prst="rect">
            <a:avLst/>
          </a:prstGeom>
          <a:noFill/>
          <a:ln/>
        </p:spPr>
        <p:txBody>
          <a:bodyPr wrap="square" lIns="0" tIns="0" rIns="0" bIns="0" rtlCol="0" anchor="ctr"/>
          <a:lstStyle/>
          <a:p>
            <a:r>
              <a:rPr lang="en-US" sz="1150" i="1" dirty="0">
                <a:solidFill>
                  <a:srgbClr val="898781"/>
                </a:solidFill>
                <a:latin typeface="Calibri" pitchFamily="34" charset="0"/>
                <a:ea typeface="Calibri" pitchFamily="34" charset="-122"/>
                <a:cs typeface="Calibri" pitchFamily="34" charset="-120"/>
              </a:rPr>
              <a:t>Q3. Which gender generated more revenue?</a:t>
            </a:r>
            <a:endParaRPr lang="en-US" sz="1150" dirty="0"/>
          </a:p>
        </p:txBody>
      </p:sp>
      <p:sp>
        <p:nvSpPr>
          <p:cNvPr id="13" name="Text 9">
            <a:extLst>
              <a:ext uri="{FF2B5EF4-FFF2-40B4-BE49-F238E27FC236}">
                <a16:creationId xmlns:a16="http://schemas.microsoft.com/office/drawing/2014/main" id="{6E2626B0-F351-88E1-3BF4-8E914168F191}"/>
              </a:ext>
            </a:extLst>
          </p:cNvPr>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sp>
        <p:nvSpPr>
          <p:cNvPr id="15" name="TextBox 14">
            <a:extLst>
              <a:ext uri="{FF2B5EF4-FFF2-40B4-BE49-F238E27FC236}">
                <a16:creationId xmlns:a16="http://schemas.microsoft.com/office/drawing/2014/main" id="{C5F418AB-23A8-D329-44B4-901F56A389A5}"/>
              </a:ext>
            </a:extLst>
          </p:cNvPr>
          <p:cNvSpPr txBox="1"/>
          <p:nvPr/>
        </p:nvSpPr>
        <p:spPr>
          <a:xfrm>
            <a:off x="5791200" y="2582315"/>
            <a:ext cx="6096000" cy="1077218"/>
          </a:xfrm>
          <a:prstGeom prst="rect">
            <a:avLst/>
          </a:prstGeom>
          <a:noFill/>
        </p:spPr>
        <p:txBody>
          <a:bodyPr wrap="square">
            <a:spAutoFit/>
          </a:bodyPr>
          <a:lstStyle/>
          <a:p>
            <a:pPr algn="just"/>
            <a:r>
              <a:rPr lang="en-IN" sz="1600" dirty="0"/>
              <a:t>Women generated </a:t>
            </a:r>
            <a:r>
              <a:rPr lang="en-IN" sz="1600" b="1" dirty="0">
                <a:solidFill>
                  <a:schemeClr val="accent2">
                    <a:lumMod val="75000"/>
                  </a:schemeClr>
                </a:solidFill>
              </a:rPr>
              <a:t>150.2M TL</a:t>
            </a:r>
            <a:r>
              <a:rPr lang="en-IN" sz="1600" dirty="0">
                <a:solidFill>
                  <a:schemeClr val="accent2">
                    <a:lumMod val="75000"/>
                  </a:schemeClr>
                </a:solidFill>
              </a:rPr>
              <a:t> </a:t>
            </a:r>
            <a:r>
              <a:rPr lang="en-IN" sz="1600" dirty="0"/>
              <a:t>in revenue compared with </a:t>
            </a:r>
            <a:r>
              <a:rPr lang="en-IN" sz="1600" b="1" dirty="0">
                <a:solidFill>
                  <a:schemeClr val="accent2">
                    <a:lumMod val="75000"/>
                  </a:schemeClr>
                </a:solidFill>
              </a:rPr>
              <a:t>101.3M TL</a:t>
            </a:r>
            <a:r>
              <a:rPr lang="en-IN" sz="1600" dirty="0">
                <a:solidFill>
                  <a:schemeClr val="accent2">
                    <a:lumMod val="75000"/>
                  </a:schemeClr>
                </a:solidFill>
              </a:rPr>
              <a:t> </a:t>
            </a:r>
            <a:r>
              <a:rPr lang="en-IN" sz="1600" dirty="0"/>
              <a:t>for men, a difference of almost </a:t>
            </a:r>
            <a:r>
              <a:rPr lang="en-IN" sz="1600" b="1" dirty="0">
                <a:solidFill>
                  <a:schemeClr val="accent2">
                    <a:lumMod val="75000"/>
                  </a:schemeClr>
                </a:solidFill>
              </a:rPr>
              <a:t>49M TL</a:t>
            </a:r>
            <a:r>
              <a:rPr lang="en-IN" sz="1600" dirty="0"/>
              <a:t>. This follows the same overall pattern seen in orders and quantity, with women contributing roughly </a:t>
            </a:r>
            <a:r>
              <a:rPr lang="en-IN" sz="1600" b="1" dirty="0"/>
              <a:t>60%</a:t>
            </a:r>
            <a:r>
              <a:rPr lang="en-IN" sz="1600" dirty="0"/>
              <a:t> of the total.</a:t>
            </a:r>
          </a:p>
        </p:txBody>
      </p:sp>
      <p:sp>
        <p:nvSpPr>
          <p:cNvPr id="19" name="TextBox 18">
            <a:extLst>
              <a:ext uri="{FF2B5EF4-FFF2-40B4-BE49-F238E27FC236}">
                <a16:creationId xmlns:a16="http://schemas.microsoft.com/office/drawing/2014/main" id="{FA8C75B5-A7B1-3F40-131D-D9D423424B67}"/>
              </a:ext>
            </a:extLst>
          </p:cNvPr>
          <p:cNvSpPr txBox="1"/>
          <p:nvPr/>
        </p:nvSpPr>
        <p:spPr>
          <a:xfrm>
            <a:off x="4352726" y="2843079"/>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23" name="TextBox 22">
            <a:extLst>
              <a:ext uri="{FF2B5EF4-FFF2-40B4-BE49-F238E27FC236}">
                <a16:creationId xmlns:a16="http://schemas.microsoft.com/office/drawing/2014/main" id="{8BECD622-589C-68D8-401C-24297342A0EB}"/>
              </a:ext>
            </a:extLst>
          </p:cNvPr>
          <p:cNvSpPr txBox="1"/>
          <p:nvPr/>
        </p:nvSpPr>
        <p:spPr>
          <a:xfrm>
            <a:off x="5791200" y="4068085"/>
            <a:ext cx="6120580" cy="1077218"/>
          </a:xfrm>
          <a:prstGeom prst="rect">
            <a:avLst/>
          </a:prstGeom>
          <a:noFill/>
        </p:spPr>
        <p:txBody>
          <a:bodyPr wrap="square">
            <a:spAutoFit/>
          </a:bodyPr>
          <a:lstStyle/>
          <a:p>
            <a:pPr algn="just"/>
            <a:r>
              <a:rPr lang="en-IN" sz="1600" dirty="0"/>
              <a:t>Female customers contribute more revenue alongside higher order volume and quantity. This suggests that </a:t>
            </a:r>
            <a:r>
              <a:rPr lang="en-IN" sz="1600" b="1" i="1" dirty="0">
                <a:solidFill>
                  <a:schemeClr val="accent2">
                    <a:lumMod val="75000"/>
                  </a:schemeClr>
                </a:solidFill>
              </a:rPr>
              <a:t>customer reach and repeat purchases</a:t>
            </a:r>
            <a:r>
              <a:rPr lang="en-IN" sz="1600" i="1" dirty="0">
                <a:solidFill>
                  <a:schemeClr val="accent2">
                    <a:lumMod val="75000"/>
                  </a:schemeClr>
                </a:solidFill>
              </a:rPr>
              <a:t> </a:t>
            </a:r>
            <a:r>
              <a:rPr lang="en-IN" sz="1600" dirty="0"/>
              <a:t>could be important areas to focus on, while the male segment provides an opportunity for further revenue growth.</a:t>
            </a:r>
          </a:p>
        </p:txBody>
      </p:sp>
      <p:sp>
        <p:nvSpPr>
          <p:cNvPr id="25" name="TextBox 24">
            <a:extLst>
              <a:ext uri="{FF2B5EF4-FFF2-40B4-BE49-F238E27FC236}">
                <a16:creationId xmlns:a16="http://schemas.microsoft.com/office/drawing/2014/main" id="{A3DC1D4B-9142-2BE1-046B-26D147B059BB}"/>
              </a:ext>
            </a:extLst>
          </p:cNvPr>
          <p:cNvSpPr txBox="1"/>
          <p:nvPr/>
        </p:nvSpPr>
        <p:spPr>
          <a:xfrm>
            <a:off x="4352726" y="4090995"/>
            <a:ext cx="1438474" cy="646331"/>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Business </a:t>
            </a:r>
          </a:p>
          <a:p>
            <a:r>
              <a:rPr lang="en-US" b="1" dirty="0">
                <a:solidFill>
                  <a:srgbClr val="73361C"/>
                </a:solidFill>
                <a:latin typeface="Calibri" pitchFamily="34" charset="0"/>
                <a:ea typeface="Calibri" pitchFamily="34" charset="-122"/>
                <a:cs typeface="Calibri" pitchFamily="34" charset="-120"/>
              </a:rPr>
              <a:t>Insight </a:t>
            </a:r>
            <a:endParaRPr lang="en-IN" b="1" dirty="0">
              <a:solidFill>
                <a:srgbClr val="73361C"/>
              </a:solidFill>
              <a:latin typeface="Calibri" pitchFamily="34" charset="0"/>
              <a:ea typeface="Calibri" pitchFamily="34" charset="-122"/>
              <a:cs typeface="Calibri" pitchFamily="34" charset="-120"/>
            </a:endParaRPr>
          </a:p>
        </p:txBody>
      </p:sp>
      <p:grpSp>
        <p:nvGrpSpPr>
          <p:cNvPr id="29" name="Group 28">
            <a:extLst>
              <a:ext uri="{FF2B5EF4-FFF2-40B4-BE49-F238E27FC236}">
                <a16:creationId xmlns:a16="http://schemas.microsoft.com/office/drawing/2014/main" id="{3B2B8ECD-8B29-B4AA-83E5-B9A524DB04BE}"/>
              </a:ext>
            </a:extLst>
          </p:cNvPr>
          <p:cNvGrpSpPr/>
          <p:nvPr/>
        </p:nvGrpSpPr>
        <p:grpSpPr>
          <a:xfrm>
            <a:off x="0" y="19466"/>
            <a:ext cx="12172789" cy="6878504"/>
            <a:chOff x="0" y="19466"/>
            <a:chExt cx="12172789" cy="6878504"/>
          </a:xfrm>
        </p:grpSpPr>
        <p:sp>
          <p:nvSpPr>
            <p:cNvPr id="12" name="Freeform: Shape 11">
              <a:extLst>
                <a:ext uri="{FF2B5EF4-FFF2-40B4-BE49-F238E27FC236}">
                  <a16:creationId xmlns:a16="http://schemas.microsoft.com/office/drawing/2014/main" id="{B6B30ADA-501D-C5D6-1CAE-94D80E07034B}"/>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Freeform: Shape 27">
              <a:extLst>
                <a:ext uri="{FF2B5EF4-FFF2-40B4-BE49-F238E27FC236}">
                  <a16:creationId xmlns:a16="http://schemas.microsoft.com/office/drawing/2014/main" id="{A2FC298D-DF53-7E29-4F81-BB6429D9234F}"/>
                </a:ext>
              </a:extLst>
            </p:cNvPr>
            <p:cNvSpPr/>
            <p:nvPr/>
          </p:nvSpPr>
          <p:spPr>
            <a:xfrm rot="10800000">
              <a:off x="0" y="4533710"/>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8" name="Picture 7">
            <a:extLst>
              <a:ext uri="{FF2B5EF4-FFF2-40B4-BE49-F238E27FC236}">
                <a16:creationId xmlns:a16="http://schemas.microsoft.com/office/drawing/2014/main" id="{13C83116-393C-40FC-D872-FAF5931722E8}"/>
              </a:ext>
            </a:extLst>
          </p:cNvPr>
          <p:cNvPicPr>
            <a:picLocks noChangeAspect="1"/>
          </p:cNvPicPr>
          <p:nvPr/>
        </p:nvPicPr>
        <p:blipFill>
          <a:blip r:embed="rId3"/>
          <a:stretch>
            <a:fillRect/>
          </a:stretch>
        </p:blipFill>
        <p:spPr>
          <a:xfrm>
            <a:off x="672035" y="2436184"/>
            <a:ext cx="2895749" cy="3010055"/>
          </a:xfrm>
          <a:prstGeom prst="rect">
            <a:avLst/>
          </a:prstGeom>
          <a:ln>
            <a:solidFill>
              <a:schemeClr val="accent2">
                <a:lumMod val="50000"/>
              </a:schemeClr>
            </a:solidFill>
          </a:ln>
        </p:spPr>
      </p:pic>
      <p:pic>
        <p:nvPicPr>
          <p:cNvPr id="30" name="Picture 29" descr="Revenue - Free business and finance icons">
            <a:extLst>
              <a:ext uri="{FF2B5EF4-FFF2-40B4-BE49-F238E27FC236}">
                <a16:creationId xmlns:a16="http://schemas.microsoft.com/office/drawing/2014/main" id="{BFCA8E21-E1BD-C3B5-D79E-78EC8ECD9E4A}"/>
              </a:ext>
            </a:extLst>
          </p:cNvPr>
          <p:cNvPicPr>
            <a:picLocks noChangeAspect="1"/>
          </p:cNvPicPr>
          <p:nvPr/>
        </p:nvPicPr>
        <p:blipFill>
          <a:blip r:embed="rId4"/>
          <a:stretch>
            <a:fillRect/>
          </a:stretch>
        </p:blipFill>
        <p:spPr>
          <a:xfrm>
            <a:off x="4640826" y="338373"/>
            <a:ext cx="1150374" cy="1150374"/>
          </a:xfrm>
          <a:prstGeom prst="rect">
            <a:avLst/>
          </a:prstGeom>
        </p:spPr>
      </p:pic>
    </p:spTree>
    <p:extLst>
      <p:ext uri="{BB962C8B-B14F-4D97-AF65-F5344CB8AC3E}">
        <p14:creationId xmlns:p14="http://schemas.microsoft.com/office/powerpoint/2010/main" val="1042017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207F-FA7B-7042-5C30-58760BBB689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46C152C-FDE0-088D-1BD9-71CC9827BD6D}"/>
              </a:ext>
            </a:extLst>
          </p:cNvPr>
          <p:cNvSpPr txBox="1"/>
          <p:nvPr/>
        </p:nvSpPr>
        <p:spPr>
          <a:xfrm>
            <a:off x="365351" y="51010"/>
            <a:ext cx="8686800" cy="594360"/>
          </a:xfrm>
          <a:prstGeom prst="rect">
            <a:avLst/>
          </a:prstGeom>
          <a:noFill/>
          <a:ln/>
        </p:spPr>
        <p:txBody>
          <a:bodyPr wrap="square" lIns="0" tIns="0" rIns="0" bIns="0" rtlCol="0" anchor="ctr"/>
          <a:lstStyle/>
          <a:p>
            <a:r>
              <a:rPr lang="en-US" sz="2200" b="1" dirty="0">
                <a:solidFill>
                  <a:srgbClr val="3D9A8B"/>
                </a:solidFill>
                <a:latin typeface="Calibri" pitchFamily="34" charset="0"/>
                <a:ea typeface="Calibri" pitchFamily="34" charset="-122"/>
                <a:cs typeface="Calibri" pitchFamily="34" charset="-120"/>
              </a:rPr>
              <a:t>Do Men and Women Buy Different Things?</a:t>
            </a:r>
            <a:endParaRPr lang="en-US" sz="2200" dirty="0">
              <a:solidFill>
                <a:srgbClr val="3D9A8B"/>
              </a:solidFill>
            </a:endParaRPr>
          </a:p>
        </p:txBody>
      </p:sp>
      <p:grpSp>
        <p:nvGrpSpPr>
          <p:cNvPr id="18" name="Group 17">
            <a:extLst>
              <a:ext uri="{FF2B5EF4-FFF2-40B4-BE49-F238E27FC236}">
                <a16:creationId xmlns:a16="http://schemas.microsoft.com/office/drawing/2014/main" id="{CEB1BB42-24D3-B686-8183-982E463CBF7D}"/>
              </a:ext>
            </a:extLst>
          </p:cNvPr>
          <p:cNvGrpSpPr/>
          <p:nvPr/>
        </p:nvGrpSpPr>
        <p:grpSpPr>
          <a:xfrm>
            <a:off x="8942423" y="2151195"/>
            <a:ext cx="2194560" cy="896112"/>
            <a:chOff x="9418320" y="256032"/>
            <a:chExt cx="2194560" cy="896112"/>
          </a:xfrm>
        </p:grpSpPr>
        <p:sp>
          <p:nvSpPr>
            <p:cNvPr id="4" name="Shape 2">
              <a:extLst>
                <a:ext uri="{FF2B5EF4-FFF2-40B4-BE49-F238E27FC236}">
                  <a16:creationId xmlns:a16="http://schemas.microsoft.com/office/drawing/2014/main" id="{DCAFF31B-F1B7-B0DB-FC42-812188C9DCD9}"/>
                </a:ext>
              </a:extLst>
            </p:cNvPr>
            <p:cNvSpPr/>
            <p:nvPr/>
          </p:nvSpPr>
          <p:spPr>
            <a:xfrm>
              <a:off x="9418320" y="256032"/>
              <a:ext cx="2194560" cy="896112"/>
            </a:xfrm>
            <a:prstGeom prst="roundRect">
              <a:avLst>
                <a:gd name="adj" fmla="val 8163"/>
              </a:avLst>
            </a:prstGeom>
            <a:solidFill>
              <a:schemeClr val="accent2"/>
            </a:solidFill>
            <a:ln/>
          </p:spPr>
          <p:txBody>
            <a:bodyPr/>
            <a:lstStyle/>
            <a:p>
              <a:endParaRPr lang="en-IN"/>
            </a:p>
          </p:txBody>
        </p:sp>
        <p:sp>
          <p:nvSpPr>
            <p:cNvPr id="5" name="Text 3">
              <a:extLst>
                <a:ext uri="{FF2B5EF4-FFF2-40B4-BE49-F238E27FC236}">
                  <a16:creationId xmlns:a16="http://schemas.microsoft.com/office/drawing/2014/main" id="{A1DCC5B5-E107-F930-8F2C-BE684D861256}"/>
                </a:ext>
              </a:extLst>
            </p:cNvPr>
            <p:cNvSpPr txBox="1"/>
            <p:nvPr/>
          </p:nvSpPr>
          <p:spPr>
            <a:xfrm>
              <a:off x="9528048" y="329184"/>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100%</a:t>
              </a:r>
              <a:endParaRPr lang="en-US" sz="2200" dirty="0"/>
            </a:p>
          </p:txBody>
        </p:sp>
        <p:sp>
          <p:nvSpPr>
            <p:cNvPr id="6" name="Text 4">
              <a:extLst>
                <a:ext uri="{FF2B5EF4-FFF2-40B4-BE49-F238E27FC236}">
                  <a16:creationId xmlns:a16="http://schemas.microsoft.com/office/drawing/2014/main" id="{2AA8B807-8BB0-DA71-061C-10EAE3C21BCD}"/>
                </a:ext>
              </a:extLst>
            </p:cNvPr>
            <p:cNvSpPr txBox="1"/>
            <p:nvPr/>
          </p:nvSpPr>
          <p:spPr>
            <a:xfrm>
              <a:off x="9528048" y="777240"/>
              <a:ext cx="1975104" cy="347472"/>
            </a:xfrm>
            <a:prstGeom prst="rect">
              <a:avLst/>
            </a:prstGeom>
            <a:noFill/>
            <a:ln/>
          </p:spPr>
          <p:txBody>
            <a:bodyPr wrap="square" lIns="0" tIns="0" rIns="0" bIns="0" rtlCol="0" anchor="ctr"/>
            <a:lstStyle/>
            <a:p>
              <a:pPr algn="ctr">
                <a:lnSpc>
                  <a:spcPts val="1000"/>
                </a:lnSpc>
              </a:pPr>
              <a:r>
                <a:rPr lang="en-US" sz="1100" b="1" dirty="0">
                  <a:solidFill>
                    <a:srgbClr val="F5D9C4"/>
                  </a:solidFill>
                  <a:latin typeface="Calibri" pitchFamily="34" charset="0"/>
                  <a:ea typeface="Calibri" pitchFamily="34" charset="-122"/>
                  <a:cs typeface="Calibri" pitchFamily="34" charset="-120"/>
                </a:rPr>
                <a:t>category ranking matches across genders</a:t>
              </a:r>
              <a:endParaRPr lang="en-US" sz="1100" b="1" dirty="0"/>
            </a:p>
          </p:txBody>
        </p:sp>
      </p:grpSp>
      <p:sp>
        <p:nvSpPr>
          <p:cNvPr id="7" name="Text 5">
            <a:extLst>
              <a:ext uri="{FF2B5EF4-FFF2-40B4-BE49-F238E27FC236}">
                <a16:creationId xmlns:a16="http://schemas.microsoft.com/office/drawing/2014/main" id="{E156E618-5359-618F-264E-849ED3510FDC}"/>
              </a:ext>
            </a:extLst>
          </p:cNvPr>
          <p:cNvSpPr txBox="1"/>
          <p:nvPr/>
        </p:nvSpPr>
        <p:spPr>
          <a:xfrm>
            <a:off x="365351" y="543207"/>
            <a:ext cx="4564134" cy="269601"/>
          </a:xfrm>
          <a:prstGeom prst="rect">
            <a:avLst/>
          </a:prstGeom>
          <a:noFill/>
          <a:ln/>
        </p:spPr>
        <p:txBody>
          <a:bodyPr wrap="square" lIns="0" tIns="0" rIns="0" bIns="0" rtlCol="0" anchor="ctr"/>
          <a:lstStyle/>
          <a:p>
            <a:r>
              <a:rPr lang="en-US" sz="1150" i="1" dirty="0">
                <a:solidFill>
                  <a:srgbClr val="898781"/>
                </a:solidFill>
                <a:latin typeface="Calibri" pitchFamily="34" charset="0"/>
                <a:ea typeface="Calibri" pitchFamily="34" charset="-122"/>
                <a:cs typeface="Calibri" pitchFamily="34" charset="-120"/>
              </a:rPr>
              <a:t>Q4. Distribution of purchase categories relative to other columns (Gender).</a:t>
            </a:r>
            <a:endParaRPr lang="en-US" sz="1150" dirty="0"/>
          </a:p>
        </p:txBody>
      </p:sp>
      <p:sp>
        <p:nvSpPr>
          <p:cNvPr id="13" name="Text 9">
            <a:extLst>
              <a:ext uri="{FF2B5EF4-FFF2-40B4-BE49-F238E27FC236}">
                <a16:creationId xmlns:a16="http://schemas.microsoft.com/office/drawing/2014/main" id="{730875AC-C2F6-D5A3-3358-27B52CBB6AFF}"/>
              </a:ext>
            </a:extLst>
          </p:cNvPr>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sp>
        <p:nvSpPr>
          <p:cNvPr id="12" name="Freeform: Shape 11">
            <a:extLst>
              <a:ext uri="{FF2B5EF4-FFF2-40B4-BE49-F238E27FC236}">
                <a16:creationId xmlns:a16="http://schemas.microsoft.com/office/drawing/2014/main" id="{3FB2684B-D389-9FCA-000D-0B3DECD1B07D}"/>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05F94EBA-3687-2433-E565-FDA9E4FCE71F}"/>
              </a:ext>
            </a:extLst>
          </p:cNvPr>
          <p:cNvSpPr txBox="1"/>
          <p:nvPr/>
        </p:nvSpPr>
        <p:spPr>
          <a:xfrm>
            <a:off x="2799228" y="4685775"/>
            <a:ext cx="8770371" cy="830997"/>
          </a:xfrm>
          <a:prstGeom prst="rect">
            <a:avLst/>
          </a:prstGeom>
          <a:noFill/>
        </p:spPr>
        <p:txBody>
          <a:bodyPr wrap="square">
            <a:spAutoFit/>
          </a:bodyPr>
          <a:lstStyle/>
          <a:p>
            <a:pPr algn="just"/>
            <a:r>
              <a:rPr lang="en-IN" sz="1600" dirty="0"/>
              <a:t>Clothing is the leading category for both female and male customers, with </a:t>
            </a:r>
            <a:r>
              <a:rPr lang="en-IN" sz="1600" b="1" dirty="0">
                <a:solidFill>
                  <a:srgbClr val="C00000"/>
                </a:solidFill>
              </a:rPr>
              <a:t>21K units for females and 14K for males</a:t>
            </a:r>
            <a:r>
              <a:rPr lang="en-IN" sz="1600" dirty="0"/>
              <a:t>. The remaining categories also follow a broadly similar pattern across both genders, although the volumes differ.</a:t>
            </a:r>
          </a:p>
        </p:txBody>
      </p:sp>
      <p:sp>
        <p:nvSpPr>
          <p:cNvPr id="19" name="TextBox 18">
            <a:extLst>
              <a:ext uri="{FF2B5EF4-FFF2-40B4-BE49-F238E27FC236}">
                <a16:creationId xmlns:a16="http://schemas.microsoft.com/office/drawing/2014/main" id="{2851BCFD-DC65-AA7A-3C6A-C3563ADB41B1}"/>
              </a:ext>
            </a:extLst>
          </p:cNvPr>
          <p:cNvSpPr txBox="1"/>
          <p:nvPr/>
        </p:nvSpPr>
        <p:spPr>
          <a:xfrm>
            <a:off x="513753" y="4701697"/>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23" name="TextBox 22">
            <a:extLst>
              <a:ext uri="{FF2B5EF4-FFF2-40B4-BE49-F238E27FC236}">
                <a16:creationId xmlns:a16="http://schemas.microsoft.com/office/drawing/2014/main" id="{3123DE54-8F79-16C4-CFB1-707C75D2B333}"/>
              </a:ext>
            </a:extLst>
          </p:cNvPr>
          <p:cNvSpPr txBox="1"/>
          <p:nvPr/>
        </p:nvSpPr>
        <p:spPr>
          <a:xfrm>
            <a:off x="2799228" y="5747162"/>
            <a:ext cx="9087972" cy="830997"/>
          </a:xfrm>
          <a:prstGeom prst="rect">
            <a:avLst/>
          </a:prstGeom>
          <a:noFill/>
        </p:spPr>
        <p:txBody>
          <a:bodyPr wrap="square">
            <a:spAutoFit/>
          </a:bodyPr>
          <a:lstStyle/>
          <a:p>
            <a:pPr algn="just"/>
            <a:r>
              <a:rPr lang="en-IN" sz="1600" dirty="0"/>
              <a:t>The similar category pattern suggests that gender does not significantly change the overall category mix. The main difference is the higher purchase volume from female customers, so the company can maintain a broadly common category strategy while using different marketing approaches to engage each gender.</a:t>
            </a:r>
          </a:p>
        </p:txBody>
      </p:sp>
      <p:sp>
        <p:nvSpPr>
          <p:cNvPr id="25" name="TextBox 24">
            <a:extLst>
              <a:ext uri="{FF2B5EF4-FFF2-40B4-BE49-F238E27FC236}">
                <a16:creationId xmlns:a16="http://schemas.microsoft.com/office/drawing/2014/main" id="{39592C7C-0E3C-6263-52F9-C02A716A155F}"/>
              </a:ext>
            </a:extLst>
          </p:cNvPr>
          <p:cNvSpPr txBox="1"/>
          <p:nvPr/>
        </p:nvSpPr>
        <p:spPr>
          <a:xfrm>
            <a:off x="513753" y="5638753"/>
            <a:ext cx="2077571" cy="369332"/>
          </a:xfrm>
          <a:prstGeom prst="rect">
            <a:avLst/>
          </a:prstGeom>
          <a:noFill/>
        </p:spPr>
        <p:txBody>
          <a:bodyPr wrap="square">
            <a:spAutoFit/>
          </a:bodyPr>
          <a:lstStyle/>
          <a:p>
            <a:r>
              <a:rPr lang="en-US" b="1" dirty="0">
                <a:solidFill>
                  <a:srgbClr val="3D9A8B"/>
                </a:solidFill>
                <a:latin typeface="Calibri" pitchFamily="34" charset="0"/>
                <a:ea typeface="Calibri" pitchFamily="34" charset="-122"/>
                <a:cs typeface="Calibri" pitchFamily="34" charset="-120"/>
              </a:rPr>
              <a:t>Business Insight </a:t>
            </a:r>
            <a:endParaRPr lang="en-IN" b="1" dirty="0">
              <a:solidFill>
                <a:srgbClr val="3D9A8B"/>
              </a:solidFill>
              <a:latin typeface="Calibri" pitchFamily="34" charset="0"/>
              <a:ea typeface="Calibri" pitchFamily="34" charset="-122"/>
              <a:cs typeface="Calibri" pitchFamily="34" charset="-120"/>
            </a:endParaRPr>
          </a:p>
        </p:txBody>
      </p:sp>
      <p:pic>
        <p:nvPicPr>
          <p:cNvPr id="9" name="Picture 8">
            <a:extLst>
              <a:ext uri="{FF2B5EF4-FFF2-40B4-BE49-F238E27FC236}">
                <a16:creationId xmlns:a16="http://schemas.microsoft.com/office/drawing/2014/main" id="{E90B184B-759D-78C9-13C5-8720DD6C70A3}"/>
              </a:ext>
            </a:extLst>
          </p:cNvPr>
          <p:cNvPicPr>
            <a:picLocks noChangeAspect="1"/>
          </p:cNvPicPr>
          <p:nvPr/>
        </p:nvPicPr>
        <p:blipFill>
          <a:blip r:embed="rId3"/>
          <a:stretch>
            <a:fillRect/>
          </a:stretch>
        </p:blipFill>
        <p:spPr>
          <a:xfrm>
            <a:off x="1813651" y="1062352"/>
            <a:ext cx="6492656" cy="3354422"/>
          </a:xfrm>
          <a:prstGeom prst="rect">
            <a:avLst/>
          </a:prstGeom>
          <a:ln>
            <a:solidFill>
              <a:schemeClr val="accent2">
                <a:lumMod val="50000"/>
              </a:schemeClr>
            </a:solidFill>
          </a:ln>
        </p:spPr>
      </p:pic>
      <p:sp>
        <p:nvSpPr>
          <p:cNvPr id="11" name="Freeform: Shape 10">
            <a:extLst>
              <a:ext uri="{FF2B5EF4-FFF2-40B4-BE49-F238E27FC236}">
                <a16:creationId xmlns:a16="http://schemas.microsoft.com/office/drawing/2014/main" id="{5D484ABB-3D2C-FD57-BF33-7D28E54DCC59}"/>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EE697E9B-56AE-2B33-A8E9-C22081322ECC}"/>
              </a:ext>
            </a:extLst>
          </p:cNvPr>
          <p:cNvSpPr/>
          <p:nvPr/>
        </p:nvSpPr>
        <p:spPr>
          <a:xfrm rot="10800000">
            <a:off x="-167148"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56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2A218-B6CF-DDC6-3098-911AF830AA0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8F43431-DC58-F761-A1A2-4A988800439A}"/>
              </a:ext>
            </a:extLst>
          </p:cNvPr>
          <p:cNvSpPr txBox="1"/>
          <p:nvPr/>
        </p:nvSpPr>
        <p:spPr>
          <a:xfrm>
            <a:off x="365351" y="51010"/>
            <a:ext cx="8686800" cy="594360"/>
          </a:xfrm>
          <a:prstGeom prst="rect">
            <a:avLst/>
          </a:prstGeom>
          <a:noFill/>
          <a:ln/>
        </p:spPr>
        <p:txBody>
          <a:bodyPr wrap="square" lIns="0" tIns="0" rIns="0" bIns="0" rtlCol="0" anchor="ctr"/>
          <a:lstStyle/>
          <a:p>
            <a:r>
              <a:rPr lang="en-US" sz="2200" b="1" dirty="0">
                <a:solidFill>
                  <a:srgbClr val="3D9A8B"/>
                </a:solidFill>
                <a:latin typeface="Calibri" pitchFamily="34" charset="0"/>
                <a:ea typeface="Calibri" pitchFamily="34" charset="-122"/>
                <a:cs typeface="Calibri" pitchFamily="34" charset="-120"/>
              </a:rPr>
              <a:t>Which Age Groups Shop the Most?</a:t>
            </a:r>
            <a:endParaRPr lang="en-US" sz="2200" dirty="0">
              <a:solidFill>
                <a:srgbClr val="3D9A8B"/>
              </a:solidFill>
            </a:endParaRPr>
          </a:p>
        </p:txBody>
      </p:sp>
      <p:sp>
        <p:nvSpPr>
          <p:cNvPr id="7" name="Text 5">
            <a:extLst>
              <a:ext uri="{FF2B5EF4-FFF2-40B4-BE49-F238E27FC236}">
                <a16:creationId xmlns:a16="http://schemas.microsoft.com/office/drawing/2014/main" id="{27B40564-1213-C9B8-01A9-F6CFBDD20571}"/>
              </a:ext>
            </a:extLst>
          </p:cNvPr>
          <p:cNvSpPr txBox="1"/>
          <p:nvPr/>
        </p:nvSpPr>
        <p:spPr>
          <a:xfrm>
            <a:off x="365350" y="543207"/>
            <a:ext cx="8994959" cy="269601"/>
          </a:xfrm>
          <a:prstGeom prst="rect">
            <a:avLst/>
          </a:prstGeom>
          <a:noFill/>
          <a:ln/>
        </p:spPr>
        <p:txBody>
          <a:bodyPr wrap="square" lIns="0" tIns="0" rIns="0" bIns="0" rtlCol="0" anchor="ctr"/>
          <a:lstStyle/>
          <a:p>
            <a:r>
              <a:rPr lang="en-US" sz="1150" i="1" dirty="0">
                <a:solidFill>
                  <a:srgbClr val="898781"/>
                </a:solidFill>
                <a:latin typeface="Calibri" pitchFamily="34" charset="0"/>
                <a:ea typeface="Calibri" pitchFamily="34" charset="-122"/>
                <a:cs typeface="Calibri" pitchFamily="34" charset="-120"/>
              </a:rPr>
              <a:t>Q5. Shopping distribution by age.    Q6. Which age category sold more products?    Q7. Which age category generated more revenue?</a:t>
            </a:r>
            <a:endParaRPr lang="en-US" sz="1150" dirty="0"/>
          </a:p>
        </p:txBody>
      </p:sp>
      <p:sp>
        <p:nvSpPr>
          <p:cNvPr id="13" name="Text 9">
            <a:extLst>
              <a:ext uri="{FF2B5EF4-FFF2-40B4-BE49-F238E27FC236}">
                <a16:creationId xmlns:a16="http://schemas.microsoft.com/office/drawing/2014/main" id="{76254C92-5A34-597B-D432-FB514642D2C0}"/>
              </a:ext>
            </a:extLst>
          </p:cNvPr>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5</a:t>
            </a:r>
            <a:endParaRPr lang="en-US" sz="900" dirty="0"/>
          </a:p>
        </p:txBody>
      </p:sp>
      <p:sp>
        <p:nvSpPr>
          <p:cNvPr id="12" name="Freeform: Shape 11">
            <a:extLst>
              <a:ext uri="{FF2B5EF4-FFF2-40B4-BE49-F238E27FC236}">
                <a16:creationId xmlns:a16="http://schemas.microsoft.com/office/drawing/2014/main" id="{AEC77293-0A89-17B9-2BAF-8D2BDE4769A8}"/>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2" name="Group 21">
            <a:extLst>
              <a:ext uri="{FF2B5EF4-FFF2-40B4-BE49-F238E27FC236}">
                <a16:creationId xmlns:a16="http://schemas.microsoft.com/office/drawing/2014/main" id="{9B6C323B-CC23-79CA-5929-D102ECD53B0D}"/>
              </a:ext>
            </a:extLst>
          </p:cNvPr>
          <p:cNvGrpSpPr/>
          <p:nvPr/>
        </p:nvGrpSpPr>
        <p:grpSpPr>
          <a:xfrm>
            <a:off x="513753" y="4816525"/>
            <a:ext cx="11491434" cy="1663514"/>
            <a:chOff x="513753" y="4816525"/>
            <a:chExt cx="11491434" cy="1663514"/>
          </a:xfrm>
        </p:grpSpPr>
        <p:sp>
          <p:nvSpPr>
            <p:cNvPr id="15" name="TextBox 14">
              <a:extLst>
                <a:ext uri="{FF2B5EF4-FFF2-40B4-BE49-F238E27FC236}">
                  <a16:creationId xmlns:a16="http://schemas.microsoft.com/office/drawing/2014/main" id="{A9B06279-4C35-5E21-049C-E77EDB866623}"/>
                </a:ext>
              </a:extLst>
            </p:cNvPr>
            <p:cNvSpPr txBox="1"/>
            <p:nvPr/>
          </p:nvSpPr>
          <p:spPr>
            <a:xfrm>
              <a:off x="2818892" y="4816525"/>
              <a:ext cx="9186295" cy="830997"/>
            </a:xfrm>
            <a:prstGeom prst="rect">
              <a:avLst/>
            </a:prstGeom>
            <a:noFill/>
          </p:spPr>
          <p:txBody>
            <a:bodyPr wrap="square">
              <a:spAutoFit/>
            </a:bodyPr>
            <a:lstStyle/>
            <a:p>
              <a:pPr algn="just"/>
              <a:r>
                <a:rPr lang="en-IN" sz="1600" dirty="0"/>
                <a:t>21–30 comes out just ahead on both items </a:t>
              </a:r>
              <a:r>
                <a:rPr lang="en-IN" sz="1600" b="1" dirty="0">
                  <a:solidFill>
                    <a:srgbClr val="C00000"/>
                  </a:solidFill>
                </a:rPr>
                <a:t>bought (58,371) and revenue (49.4M TL</a:t>
              </a:r>
              <a:r>
                <a:rPr lang="en-IN" sz="1600" dirty="0"/>
                <a:t>), but the difference is small. The 21–60 age groups show very similar purchase levels, while the under-21 group is clearly lower, with </a:t>
              </a:r>
              <a:r>
                <a:rPr lang="en-IN" sz="1600" b="1" dirty="0">
                  <a:solidFill>
                    <a:srgbClr val="C00000"/>
                  </a:solidFill>
                </a:rPr>
                <a:t>16,801 items bought and 13.7M TL</a:t>
              </a:r>
              <a:r>
                <a:rPr lang="en-IN" sz="1600" dirty="0">
                  <a:solidFill>
                    <a:srgbClr val="C00000"/>
                  </a:solidFill>
                </a:rPr>
                <a:t> </a:t>
              </a:r>
              <a:r>
                <a:rPr lang="en-IN" sz="1600" dirty="0"/>
                <a:t>in revenue.</a:t>
              </a:r>
            </a:p>
          </p:txBody>
        </p:sp>
        <p:sp>
          <p:nvSpPr>
            <p:cNvPr id="19" name="TextBox 18">
              <a:extLst>
                <a:ext uri="{FF2B5EF4-FFF2-40B4-BE49-F238E27FC236}">
                  <a16:creationId xmlns:a16="http://schemas.microsoft.com/office/drawing/2014/main" id="{64465CE2-9551-A5BB-B257-0FEA01614A6C}"/>
                </a:ext>
              </a:extLst>
            </p:cNvPr>
            <p:cNvSpPr txBox="1"/>
            <p:nvPr/>
          </p:nvSpPr>
          <p:spPr>
            <a:xfrm>
              <a:off x="513753" y="4886363"/>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23" name="TextBox 22">
              <a:extLst>
                <a:ext uri="{FF2B5EF4-FFF2-40B4-BE49-F238E27FC236}">
                  <a16:creationId xmlns:a16="http://schemas.microsoft.com/office/drawing/2014/main" id="{3A204B54-24CE-49B3-CDF7-151FF95FC445}"/>
                </a:ext>
              </a:extLst>
            </p:cNvPr>
            <p:cNvSpPr txBox="1"/>
            <p:nvPr/>
          </p:nvSpPr>
          <p:spPr>
            <a:xfrm>
              <a:off x="2799228" y="5649042"/>
              <a:ext cx="9087972" cy="830997"/>
            </a:xfrm>
            <a:prstGeom prst="rect">
              <a:avLst/>
            </a:prstGeom>
            <a:noFill/>
          </p:spPr>
          <p:txBody>
            <a:bodyPr wrap="square">
              <a:spAutoFit/>
            </a:bodyPr>
            <a:lstStyle/>
            <a:p>
              <a:pPr algn="just"/>
              <a:r>
                <a:rPr lang="en-IN" sz="1600" dirty="0"/>
                <a:t>the results show a fairly balanced customer base across ages 21–60 rather than one dominant age group. A broader campaign targeting this core age range could be more effective, while a separate promotion for the under-21 segment could help increase its contribution.</a:t>
              </a:r>
            </a:p>
          </p:txBody>
        </p:sp>
        <p:sp>
          <p:nvSpPr>
            <p:cNvPr id="25" name="TextBox 24">
              <a:extLst>
                <a:ext uri="{FF2B5EF4-FFF2-40B4-BE49-F238E27FC236}">
                  <a16:creationId xmlns:a16="http://schemas.microsoft.com/office/drawing/2014/main" id="{D60BF1A2-2004-0501-C79E-EC5AD9870305}"/>
                </a:ext>
              </a:extLst>
            </p:cNvPr>
            <p:cNvSpPr txBox="1"/>
            <p:nvPr/>
          </p:nvSpPr>
          <p:spPr>
            <a:xfrm>
              <a:off x="513753" y="5638753"/>
              <a:ext cx="2077571" cy="369332"/>
            </a:xfrm>
            <a:prstGeom prst="rect">
              <a:avLst/>
            </a:prstGeom>
            <a:noFill/>
          </p:spPr>
          <p:txBody>
            <a:bodyPr wrap="square">
              <a:spAutoFit/>
            </a:bodyPr>
            <a:lstStyle/>
            <a:p>
              <a:r>
                <a:rPr lang="en-US" b="1" dirty="0">
                  <a:solidFill>
                    <a:srgbClr val="3D9A8B"/>
                  </a:solidFill>
                  <a:latin typeface="Calibri" pitchFamily="34" charset="0"/>
                  <a:ea typeface="Calibri" pitchFamily="34" charset="-122"/>
                  <a:cs typeface="Calibri" pitchFamily="34" charset="-120"/>
                </a:rPr>
                <a:t>Business Insight </a:t>
              </a:r>
              <a:endParaRPr lang="en-IN" b="1" dirty="0">
                <a:solidFill>
                  <a:srgbClr val="3D9A8B"/>
                </a:solidFill>
                <a:latin typeface="Calibri" pitchFamily="34" charset="0"/>
                <a:ea typeface="Calibri" pitchFamily="34" charset="-122"/>
                <a:cs typeface="Calibri" pitchFamily="34" charset="-120"/>
              </a:endParaRPr>
            </a:p>
          </p:txBody>
        </p:sp>
      </p:grpSp>
      <p:grpSp>
        <p:nvGrpSpPr>
          <p:cNvPr id="21" name="Group 20">
            <a:extLst>
              <a:ext uri="{FF2B5EF4-FFF2-40B4-BE49-F238E27FC236}">
                <a16:creationId xmlns:a16="http://schemas.microsoft.com/office/drawing/2014/main" id="{3499E717-2C57-AD3B-3D2A-9CCC38647146}"/>
              </a:ext>
            </a:extLst>
          </p:cNvPr>
          <p:cNvGrpSpPr/>
          <p:nvPr/>
        </p:nvGrpSpPr>
        <p:grpSpPr>
          <a:xfrm>
            <a:off x="379753" y="951783"/>
            <a:ext cx="10855047" cy="3733992"/>
            <a:chOff x="379753" y="951783"/>
            <a:chExt cx="10855047" cy="3733992"/>
          </a:xfrm>
        </p:grpSpPr>
        <p:grpSp>
          <p:nvGrpSpPr>
            <p:cNvPr id="18" name="Group 17">
              <a:extLst>
                <a:ext uri="{FF2B5EF4-FFF2-40B4-BE49-F238E27FC236}">
                  <a16:creationId xmlns:a16="http://schemas.microsoft.com/office/drawing/2014/main" id="{0FB2F27C-CE7E-EA3B-D08E-241EA84373A2}"/>
                </a:ext>
              </a:extLst>
            </p:cNvPr>
            <p:cNvGrpSpPr/>
            <p:nvPr/>
          </p:nvGrpSpPr>
          <p:grpSpPr>
            <a:xfrm>
              <a:off x="9040240" y="2412781"/>
              <a:ext cx="2194560" cy="896112"/>
              <a:chOff x="9992265" y="2569680"/>
              <a:chExt cx="2194560" cy="896112"/>
            </a:xfrm>
          </p:grpSpPr>
          <p:sp>
            <p:nvSpPr>
              <p:cNvPr id="4" name="Shape 2">
                <a:extLst>
                  <a:ext uri="{FF2B5EF4-FFF2-40B4-BE49-F238E27FC236}">
                    <a16:creationId xmlns:a16="http://schemas.microsoft.com/office/drawing/2014/main" id="{BC96C33E-C11E-6D48-6053-B7744DD2F4A6}"/>
                  </a:ext>
                </a:extLst>
              </p:cNvPr>
              <p:cNvSpPr/>
              <p:nvPr/>
            </p:nvSpPr>
            <p:spPr>
              <a:xfrm>
                <a:off x="9992265" y="2569680"/>
                <a:ext cx="2194560" cy="896112"/>
              </a:xfrm>
              <a:prstGeom prst="roundRect">
                <a:avLst>
                  <a:gd name="adj" fmla="val 8163"/>
                </a:avLst>
              </a:prstGeom>
              <a:solidFill>
                <a:schemeClr val="accent2"/>
              </a:solidFill>
              <a:ln/>
            </p:spPr>
            <p:txBody>
              <a:bodyPr/>
              <a:lstStyle/>
              <a:p>
                <a:endParaRPr lang="en-IN"/>
              </a:p>
            </p:txBody>
          </p:sp>
          <p:sp>
            <p:nvSpPr>
              <p:cNvPr id="5" name="Text 3">
                <a:extLst>
                  <a:ext uri="{FF2B5EF4-FFF2-40B4-BE49-F238E27FC236}">
                    <a16:creationId xmlns:a16="http://schemas.microsoft.com/office/drawing/2014/main" id="{E9365F2B-5CA8-2FA6-67BB-88361F90299B}"/>
                  </a:ext>
                </a:extLst>
              </p:cNvPr>
              <p:cNvSpPr txBox="1"/>
              <p:nvPr/>
            </p:nvSpPr>
            <p:spPr>
              <a:xfrm>
                <a:off x="10101993" y="2642832"/>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+2.5%</a:t>
                </a:r>
                <a:endParaRPr lang="en-US" sz="2200" dirty="0"/>
              </a:p>
            </p:txBody>
          </p:sp>
          <p:sp>
            <p:nvSpPr>
              <p:cNvPr id="6" name="Text 4">
                <a:extLst>
                  <a:ext uri="{FF2B5EF4-FFF2-40B4-BE49-F238E27FC236}">
                    <a16:creationId xmlns:a16="http://schemas.microsoft.com/office/drawing/2014/main" id="{67400244-44C6-D3C0-C453-B98DF0E2C641}"/>
                  </a:ext>
                </a:extLst>
              </p:cNvPr>
              <p:cNvSpPr txBox="1"/>
              <p:nvPr/>
            </p:nvSpPr>
            <p:spPr>
              <a:xfrm>
                <a:off x="10135885" y="3108773"/>
                <a:ext cx="1975104" cy="347472"/>
              </a:xfrm>
              <a:prstGeom prst="rect">
                <a:avLst/>
              </a:prstGeom>
              <a:noFill/>
              <a:ln/>
            </p:spPr>
            <p:txBody>
              <a:bodyPr wrap="square" lIns="0" tIns="0" rIns="0" bIns="0" rtlCol="0" anchor="ctr"/>
              <a:lstStyle/>
              <a:p>
                <a:pPr algn="ctr">
                  <a:lnSpc>
                    <a:spcPct val="100000"/>
                  </a:lnSpc>
                </a:pPr>
                <a:r>
                  <a:rPr lang="en-IN" sz="1100" dirty="0">
                    <a:solidFill>
                      <a:schemeClr val="bg1"/>
                    </a:solidFill>
                  </a:rPr>
                  <a:t>Demand spread across the 21–60 core</a:t>
                </a:r>
                <a:endParaRPr lang="en-US" sz="1100" b="1" dirty="0">
                  <a:solidFill>
                    <a:schemeClr val="bg1"/>
                  </a:solidFill>
                </a:endParaRPr>
              </a:p>
            </p:txBody>
          </p:sp>
        </p:grpSp>
        <p:pic>
          <p:nvPicPr>
            <p:cNvPr id="11" name="Picture 10">
              <a:extLst>
                <a:ext uri="{FF2B5EF4-FFF2-40B4-BE49-F238E27FC236}">
                  <a16:creationId xmlns:a16="http://schemas.microsoft.com/office/drawing/2014/main" id="{7587E961-390A-0957-5BA7-7A560BC47B47}"/>
                </a:ext>
              </a:extLst>
            </p:cNvPr>
            <p:cNvPicPr>
              <a:picLocks noChangeAspect="1"/>
            </p:cNvPicPr>
            <p:nvPr/>
          </p:nvPicPr>
          <p:blipFill>
            <a:blip r:embed="rId3"/>
            <a:stretch>
              <a:fillRect/>
            </a:stretch>
          </p:blipFill>
          <p:spPr>
            <a:xfrm>
              <a:off x="5579403" y="1016292"/>
              <a:ext cx="2787793" cy="1930499"/>
            </a:xfrm>
            <a:prstGeom prst="rect">
              <a:avLst/>
            </a:prstGeom>
          </p:spPr>
        </p:pic>
        <p:pic>
          <p:nvPicPr>
            <p:cNvPr id="16" name="Picture 15">
              <a:extLst>
                <a:ext uri="{FF2B5EF4-FFF2-40B4-BE49-F238E27FC236}">
                  <a16:creationId xmlns:a16="http://schemas.microsoft.com/office/drawing/2014/main" id="{67BC95F9-1755-6CB5-6C09-650EFDECC196}"/>
                </a:ext>
              </a:extLst>
            </p:cNvPr>
            <p:cNvPicPr>
              <a:picLocks noChangeAspect="1"/>
            </p:cNvPicPr>
            <p:nvPr/>
          </p:nvPicPr>
          <p:blipFill>
            <a:blip r:embed="rId4"/>
            <a:stretch>
              <a:fillRect/>
            </a:stretch>
          </p:blipFill>
          <p:spPr>
            <a:xfrm>
              <a:off x="5579403" y="3177181"/>
              <a:ext cx="2781443" cy="1492327"/>
            </a:xfrm>
            <a:prstGeom prst="rect">
              <a:avLst/>
            </a:prstGeom>
          </p:spPr>
        </p:pic>
        <p:pic>
          <p:nvPicPr>
            <p:cNvPr id="20" name="Picture 19">
              <a:extLst>
                <a:ext uri="{FF2B5EF4-FFF2-40B4-BE49-F238E27FC236}">
                  <a16:creationId xmlns:a16="http://schemas.microsoft.com/office/drawing/2014/main" id="{9AA0D71E-E23D-9A3C-5F04-EA2ECF450F2F}"/>
                </a:ext>
              </a:extLst>
            </p:cNvPr>
            <p:cNvPicPr>
              <a:picLocks noChangeAspect="1"/>
            </p:cNvPicPr>
            <p:nvPr/>
          </p:nvPicPr>
          <p:blipFill>
            <a:blip r:embed="rId5"/>
            <a:stretch>
              <a:fillRect/>
            </a:stretch>
          </p:blipFill>
          <p:spPr>
            <a:xfrm>
              <a:off x="379753" y="951783"/>
              <a:ext cx="4838949" cy="3733992"/>
            </a:xfrm>
            <a:prstGeom prst="rect">
              <a:avLst/>
            </a:prstGeom>
          </p:spPr>
        </p:pic>
      </p:grpSp>
      <p:sp>
        <p:nvSpPr>
          <p:cNvPr id="28" name="Freeform: Shape 27">
            <a:extLst>
              <a:ext uri="{FF2B5EF4-FFF2-40B4-BE49-F238E27FC236}">
                <a16:creationId xmlns:a16="http://schemas.microsoft.com/office/drawing/2014/main" id="{AA1C20A2-A492-93F0-2391-4DDA4CBCDB53}"/>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reeform: Shape 29">
            <a:extLst>
              <a:ext uri="{FF2B5EF4-FFF2-40B4-BE49-F238E27FC236}">
                <a16:creationId xmlns:a16="http://schemas.microsoft.com/office/drawing/2014/main" id="{3F241866-94F3-6DFC-B8B3-3B598878D9BE}"/>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3508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CFAF8"/>
        </a:solidFill>
        <a:effectLst/>
      </p:bgPr>
    </p:bg>
    <p:spTree>
      <p:nvGrpSpPr>
        <p:cNvPr id="1" name=""/>
        <p:cNvGrpSpPr/>
        <p:nvPr/>
      </p:nvGrpSpPr>
      <p:grpSpPr>
        <a:xfrm>
          <a:off x="0" y="0"/>
          <a:ext cx="0" cy="0"/>
          <a:chOff x="0" y="0"/>
          <a:chExt cx="0" cy="0"/>
        </a:xfrm>
      </p:grpSpPr>
      <p:sp>
        <p:nvSpPr>
          <p:cNvPr id="3" name="Text 1"/>
          <p:cNvSpPr txBox="1"/>
          <p:nvPr/>
        </p:nvSpPr>
        <p:spPr>
          <a:xfrm>
            <a:off x="212886" y="192024"/>
            <a:ext cx="8686800" cy="594360"/>
          </a:xfrm>
          <a:prstGeom prst="rect">
            <a:avLst/>
          </a:prstGeom>
          <a:noFill/>
          <a:ln/>
        </p:spPr>
        <p:txBody>
          <a:bodyPr wrap="square" lIns="0" tIns="0" rIns="0" bIns="0" rtlCol="0" anchor="ctr"/>
          <a:lstStyle/>
          <a:p>
            <a:pPr marL="0" indent="0">
              <a:buNone/>
            </a:pPr>
            <a:r>
              <a:rPr lang="en-US" sz="2200" b="1" dirty="0">
                <a:solidFill>
                  <a:srgbClr val="3D9A8B"/>
                </a:solidFill>
                <a:latin typeface="Calibri" pitchFamily="34" charset="0"/>
                <a:ea typeface="Calibri" pitchFamily="34" charset="-122"/>
                <a:cs typeface="Calibri" pitchFamily="34" charset="-120"/>
              </a:rPr>
              <a:t>Does Age Change What People Buy?</a:t>
            </a:r>
          </a:p>
        </p:txBody>
      </p:sp>
      <p:sp>
        <p:nvSpPr>
          <p:cNvPr id="7" name="Text 5"/>
          <p:cNvSpPr txBox="1"/>
          <p:nvPr/>
        </p:nvSpPr>
        <p:spPr>
          <a:xfrm>
            <a:off x="121920" y="675163"/>
            <a:ext cx="8229600" cy="292608"/>
          </a:xfrm>
          <a:prstGeom prst="rect">
            <a:avLst/>
          </a:prstGeom>
          <a:noFill/>
          <a:ln/>
        </p:spPr>
        <p:txBody>
          <a:bodyPr wrap="square" lIns="0" tIns="0" rIns="0" bIns="0" rtlCol="0" anchor="ctr"/>
          <a:lstStyle/>
          <a:p>
            <a:pPr marL="0" indent="0">
              <a:buNone/>
            </a:pPr>
            <a:r>
              <a:rPr lang="en-US" sz="1150" i="1" dirty="0">
                <a:solidFill>
                  <a:srgbClr val="898781"/>
                </a:solidFill>
                <a:latin typeface="Calibri" pitchFamily="34" charset="0"/>
                <a:ea typeface="Calibri" pitchFamily="34" charset="-122"/>
                <a:cs typeface="Calibri" pitchFamily="34" charset="-120"/>
              </a:rPr>
              <a:t>Q8. Distribution of purchase categories relative to other columns (Age Group).</a:t>
            </a:r>
            <a:endParaRPr lang="en-US" sz="1150" dirty="0"/>
          </a:p>
        </p:txBody>
      </p:sp>
      <p:sp>
        <p:nvSpPr>
          <p:cNvPr id="12" name="Text 9"/>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9</a:t>
            </a:r>
            <a:endParaRPr lang="en-US" sz="900" dirty="0"/>
          </a:p>
        </p:txBody>
      </p:sp>
      <p:pic>
        <p:nvPicPr>
          <p:cNvPr id="14" name="Picture 13">
            <a:extLst>
              <a:ext uri="{FF2B5EF4-FFF2-40B4-BE49-F238E27FC236}">
                <a16:creationId xmlns:a16="http://schemas.microsoft.com/office/drawing/2014/main" id="{960E24EE-BE0E-7CE4-4DDC-7ACC135D5960}"/>
              </a:ext>
            </a:extLst>
          </p:cNvPr>
          <p:cNvPicPr>
            <a:picLocks noChangeAspect="1"/>
          </p:cNvPicPr>
          <p:nvPr/>
        </p:nvPicPr>
        <p:blipFill>
          <a:blip r:embed="rId3"/>
          <a:stretch>
            <a:fillRect/>
          </a:stretch>
        </p:blipFill>
        <p:spPr>
          <a:xfrm>
            <a:off x="212886" y="1349121"/>
            <a:ext cx="8412733" cy="2839036"/>
          </a:xfrm>
          <a:prstGeom prst="rect">
            <a:avLst/>
          </a:prstGeom>
          <a:ln>
            <a:solidFill>
              <a:schemeClr val="accent2">
                <a:lumMod val="50000"/>
              </a:schemeClr>
            </a:solidFill>
          </a:ln>
        </p:spPr>
      </p:pic>
      <p:grpSp>
        <p:nvGrpSpPr>
          <p:cNvPr id="15" name="Group 14">
            <a:extLst>
              <a:ext uri="{FF2B5EF4-FFF2-40B4-BE49-F238E27FC236}">
                <a16:creationId xmlns:a16="http://schemas.microsoft.com/office/drawing/2014/main" id="{7F6EEC15-FF4C-31C7-856A-A91318B7D2D4}"/>
              </a:ext>
            </a:extLst>
          </p:cNvPr>
          <p:cNvGrpSpPr/>
          <p:nvPr/>
        </p:nvGrpSpPr>
        <p:grpSpPr>
          <a:xfrm>
            <a:off x="212886" y="4571215"/>
            <a:ext cx="11491434" cy="1937480"/>
            <a:chOff x="513753" y="4816525"/>
            <a:chExt cx="11491434" cy="1937480"/>
          </a:xfrm>
        </p:grpSpPr>
        <p:sp>
          <p:nvSpPr>
            <p:cNvPr id="16" name="TextBox 15">
              <a:extLst>
                <a:ext uri="{FF2B5EF4-FFF2-40B4-BE49-F238E27FC236}">
                  <a16:creationId xmlns:a16="http://schemas.microsoft.com/office/drawing/2014/main" id="{6B20A2EF-B532-FF1B-83E4-9020D84968BF}"/>
                </a:ext>
              </a:extLst>
            </p:cNvPr>
            <p:cNvSpPr txBox="1"/>
            <p:nvPr/>
          </p:nvSpPr>
          <p:spPr>
            <a:xfrm>
              <a:off x="2818892" y="4816525"/>
              <a:ext cx="9186295" cy="830997"/>
            </a:xfrm>
            <a:prstGeom prst="rect">
              <a:avLst/>
            </a:prstGeom>
            <a:noFill/>
          </p:spPr>
          <p:txBody>
            <a:bodyPr wrap="square">
              <a:spAutoFit/>
            </a:bodyPr>
            <a:lstStyle/>
            <a:p>
              <a:pPr algn="just"/>
              <a:r>
                <a:rPr lang="en-IN" sz="1600" b="1" dirty="0">
                  <a:solidFill>
                    <a:srgbClr val="C00000"/>
                  </a:solidFill>
                </a:rPr>
                <a:t>Clothing </a:t>
              </a:r>
              <a:r>
                <a:rPr lang="en-IN" sz="1600" dirty="0"/>
                <a:t>is the leading category across all age groups, followed by </a:t>
              </a:r>
              <a:r>
                <a:rPr lang="en-IN" sz="1600" b="1" dirty="0">
                  <a:solidFill>
                    <a:srgbClr val="C00000"/>
                  </a:solidFill>
                </a:rPr>
                <a:t>Shoes and Technology</a:t>
              </a:r>
              <a:r>
                <a:rPr lang="en-IN" sz="1600" dirty="0"/>
                <a:t>. The category ranking is broadly similar across the </a:t>
              </a:r>
              <a:r>
                <a:rPr lang="en-IN" sz="1600" b="1" dirty="0">
                  <a:solidFill>
                    <a:srgbClr val="C00000"/>
                  </a:solidFill>
                </a:rPr>
                <a:t>21–60 age groups</a:t>
              </a:r>
              <a:r>
                <a:rPr lang="en-IN" sz="1600" dirty="0"/>
                <a:t>, while the under-21 group records </a:t>
              </a:r>
              <a:r>
                <a:rPr lang="en-IN" sz="1600" b="1" dirty="0">
                  <a:solidFill>
                    <a:srgbClr val="C00000"/>
                  </a:solidFill>
                </a:rPr>
                <a:t>lower revenue </a:t>
              </a:r>
              <a:r>
                <a:rPr lang="en-IN" sz="1600" dirty="0"/>
                <a:t>across all major categories.</a:t>
              </a:r>
            </a:p>
          </p:txBody>
        </p:sp>
        <p:sp>
          <p:nvSpPr>
            <p:cNvPr id="17" name="TextBox 16">
              <a:extLst>
                <a:ext uri="{FF2B5EF4-FFF2-40B4-BE49-F238E27FC236}">
                  <a16:creationId xmlns:a16="http://schemas.microsoft.com/office/drawing/2014/main" id="{76E5FD23-BDB6-0C1A-61DB-9805360EAFBE}"/>
                </a:ext>
              </a:extLst>
            </p:cNvPr>
            <p:cNvSpPr txBox="1"/>
            <p:nvPr/>
          </p:nvSpPr>
          <p:spPr>
            <a:xfrm>
              <a:off x="513753" y="4886363"/>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18" name="TextBox 17">
              <a:extLst>
                <a:ext uri="{FF2B5EF4-FFF2-40B4-BE49-F238E27FC236}">
                  <a16:creationId xmlns:a16="http://schemas.microsoft.com/office/drawing/2014/main" id="{8D54AEFA-4414-3DB5-C1F1-910F6D220BE8}"/>
                </a:ext>
              </a:extLst>
            </p:cNvPr>
            <p:cNvSpPr txBox="1"/>
            <p:nvPr/>
          </p:nvSpPr>
          <p:spPr>
            <a:xfrm>
              <a:off x="2818892" y="5676787"/>
              <a:ext cx="9087972" cy="1077218"/>
            </a:xfrm>
            <a:prstGeom prst="rect">
              <a:avLst/>
            </a:prstGeom>
            <a:noFill/>
          </p:spPr>
          <p:txBody>
            <a:bodyPr wrap="square">
              <a:spAutoFit/>
            </a:bodyPr>
            <a:lstStyle/>
            <a:p>
              <a:pPr algn="just"/>
              <a:r>
                <a:rPr lang="en-IN" sz="1600" dirty="0"/>
                <a:t>Purchase category patterns are broadly </a:t>
              </a:r>
              <a:r>
                <a:rPr lang="en-IN" sz="1600" b="1" dirty="0">
                  <a:solidFill>
                    <a:srgbClr val="C00000"/>
                  </a:solidFill>
                </a:rPr>
                <a:t>consistent</a:t>
              </a:r>
              <a:r>
                <a:rPr lang="en-IN" sz="1600" dirty="0"/>
                <a:t> across age groups, with </a:t>
              </a:r>
              <a:r>
                <a:rPr lang="en-IN" sz="1600" b="1" dirty="0">
                  <a:solidFill>
                    <a:srgbClr val="C00000"/>
                  </a:solidFill>
                </a:rPr>
                <a:t>Clothing, Shoes and Technology </a:t>
              </a:r>
              <a:r>
                <a:rPr lang="en-IN" sz="1600" dirty="0"/>
                <a:t>driving most of the revenue. This suggests the company can maintain focus on these major categories across the </a:t>
              </a:r>
              <a:r>
                <a:rPr lang="en-IN" sz="1600" b="1" dirty="0">
                  <a:solidFill>
                    <a:srgbClr val="C00000"/>
                  </a:solidFill>
                </a:rPr>
                <a:t>21–60 customer base</a:t>
              </a:r>
              <a:r>
                <a:rPr lang="en-IN" sz="1600" dirty="0"/>
                <a:t>, while using targeted offers to grow lower-performing categories and the </a:t>
              </a:r>
              <a:r>
                <a:rPr lang="en-IN" sz="1600" b="1" dirty="0">
                  <a:solidFill>
                    <a:srgbClr val="C00000"/>
                  </a:solidFill>
                </a:rPr>
                <a:t>under-21 segment</a:t>
              </a:r>
            </a:p>
          </p:txBody>
        </p:sp>
        <p:sp>
          <p:nvSpPr>
            <p:cNvPr id="19" name="TextBox 18">
              <a:extLst>
                <a:ext uri="{FF2B5EF4-FFF2-40B4-BE49-F238E27FC236}">
                  <a16:creationId xmlns:a16="http://schemas.microsoft.com/office/drawing/2014/main" id="{465DF9FF-FA79-1EA4-F121-947C2021A24F}"/>
                </a:ext>
              </a:extLst>
            </p:cNvPr>
            <p:cNvSpPr txBox="1"/>
            <p:nvPr/>
          </p:nvSpPr>
          <p:spPr>
            <a:xfrm>
              <a:off x="513753" y="5638753"/>
              <a:ext cx="2077571" cy="369332"/>
            </a:xfrm>
            <a:prstGeom prst="rect">
              <a:avLst/>
            </a:prstGeom>
            <a:noFill/>
          </p:spPr>
          <p:txBody>
            <a:bodyPr wrap="square">
              <a:spAutoFit/>
            </a:bodyPr>
            <a:lstStyle/>
            <a:p>
              <a:r>
                <a:rPr lang="en-US" b="1" dirty="0">
                  <a:solidFill>
                    <a:srgbClr val="3D9A8B"/>
                  </a:solidFill>
                  <a:latin typeface="Calibri" pitchFamily="34" charset="0"/>
                  <a:ea typeface="Calibri" pitchFamily="34" charset="-122"/>
                  <a:cs typeface="Calibri" pitchFamily="34" charset="-120"/>
                </a:rPr>
                <a:t>Business Insight </a:t>
              </a:r>
              <a:endParaRPr lang="en-IN" b="1" dirty="0">
                <a:solidFill>
                  <a:srgbClr val="3D9A8B"/>
                </a:solidFill>
                <a:latin typeface="Calibri" pitchFamily="34" charset="0"/>
                <a:ea typeface="Calibri" pitchFamily="34" charset="-122"/>
                <a:cs typeface="Calibri" pitchFamily="34" charset="-120"/>
              </a:endParaRPr>
            </a:p>
          </p:txBody>
        </p:sp>
      </p:grpSp>
      <p:sp>
        <p:nvSpPr>
          <p:cNvPr id="21" name="Shape 2">
            <a:extLst>
              <a:ext uri="{FF2B5EF4-FFF2-40B4-BE49-F238E27FC236}">
                <a16:creationId xmlns:a16="http://schemas.microsoft.com/office/drawing/2014/main" id="{0C3E4BA1-8A1A-0A03-9ABB-1B520C872EA5}"/>
              </a:ext>
            </a:extLst>
          </p:cNvPr>
          <p:cNvSpPr/>
          <p:nvPr/>
        </p:nvSpPr>
        <p:spPr>
          <a:xfrm>
            <a:off x="9040240" y="2412781"/>
            <a:ext cx="2194560" cy="896112"/>
          </a:xfrm>
          <a:prstGeom prst="roundRect">
            <a:avLst>
              <a:gd name="adj" fmla="val 8163"/>
            </a:avLst>
          </a:prstGeom>
          <a:solidFill>
            <a:schemeClr val="accent2"/>
          </a:solidFill>
          <a:ln/>
        </p:spPr>
        <p:txBody>
          <a:bodyPr/>
          <a:lstStyle/>
          <a:p>
            <a:endParaRPr lang="en-IN"/>
          </a:p>
        </p:txBody>
      </p:sp>
      <p:sp>
        <p:nvSpPr>
          <p:cNvPr id="23" name="Text 3">
            <a:extLst>
              <a:ext uri="{FF2B5EF4-FFF2-40B4-BE49-F238E27FC236}">
                <a16:creationId xmlns:a16="http://schemas.microsoft.com/office/drawing/2014/main" id="{2AF5C4A8-14EC-CD68-BD4C-61A6D659CE8B}"/>
              </a:ext>
            </a:extLst>
          </p:cNvPr>
          <p:cNvSpPr txBox="1"/>
          <p:nvPr/>
        </p:nvSpPr>
        <p:spPr>
          <a:xfrm>
            <a:off x="9149968" y="2485933"/>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114 M</a:t>
            </a:r>
            <a:endParaRPr lang="en-US" sz="2200" dirty="0"/>
          </a:p>
        </p:txBody>
      </p:sp>
      <p:sp>
        <p:nvSpPr>
          <p:cNvPr id="25" name="Text 4">
            <a:extLst>
              <a:ext uri="{FF2B5EF4-FFF2-40B4-BE49-F238E27FC236}">
                <a16:creationId xmlns:a16="http://schemas.microsoft.com/office/drawing/2014/main" id="{7CAA33FF-14B7-5643-0C1A-C5D04D67A552}"/>
              </a:ext>
            </a:extLst>
          </p:cNvPr>
          <p:cNvSpPr txBox="1"/>
          <p:nvPr/>
        </p:nvSpPr>
        <p:spPr>
          <a:xfrm>
            <a:off x="9183860" y="2951874"/>
            <a:ext cx="1975104" cy="347472"/>
          </a:xfrm>
          <a:prstGeom prst="rect">
            <a:avLst/>
          </a:prstGeom>
          <a:noFill/>
          <a:ln/>
        </p:spPr>
        <p:txBody>
          <a:bodyPr wrap="square" lIns="0" tIns="0" rIns="0" bIns="0" rtlCol="0" anchor="ctr"/>
          <a:lstStyle/>
          <a:p>
            <a:pPr algn="ctr">
              <a:lnSpc>
                <a:spcPts val="1000"/>
              </a:lnSpc>
            </a:pPr>
            <a:r>
              <a:rPr lang="en-US" sz="1100" dirty="0">
                <a:solidFill>
                  <a:srgbClr val="F5D9C4"/>
                </a:solidFill>
                <a:latin typeface="Calibri" pitchFamily="34" charset="0"/>
                <a:ea typeface="Calibri" pitchFamily="34" charset="-122"/>
                <a:cs typeface="Calibri" pitchFamily="34" charset="-120"/>
              </a:rPr>
              <a:t>Clothing revenue across all ages</a:t>
            </a:r>
            <a:endParaRPr lang="en-US" sz="1100" dirty="0"/>
          </a:p>
        </p:txBody>
      </p:sp>
      <p:sp>
        <p:nvSpPr>
          <p:cNvPr id="28" name="Freeform: Shape 27">
            <a:extLst>
              <a:ext uri="{FF2B5EF4-FFF2-40B4-BE49-F238E27FC236}">
                <a16:creationId xmlns:a16="http://schemas.microsoft.com/office/drawing/2014/main" id="{988323F3-9FC8-DB7B-C091-756533E87BE8}"/>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reeform: Shape 29">
            <a:extLst>
              <a:ext uri="{FF2B5EF4-FFF2-40B4-BE49-F238E27FC236}">
                <a16:creationId xmlns:a16="http://schemas.microsoft.com/office/drawing/2014/main" id="{1A992390-CF5D-7913-95B2-733AFAB2EAF8}"/>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7AB97-F12D-EAD5-FD3F-B7591287809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0698851-0C08-DB51-CBEF-34DA12FBEE02}"/>
              </a:ext>
            </a:extLst>
          </p:cNvPr>
          <p:cNvSpPr txBox="1"/>
          <p:nvPr/>
        </p:nvSpPr>
        <p:spPr>
          <a:xfrm>
            <a:off x="212886" y="192024"/>
            <a:ext cx="8686800" cy="594360"/>
          </a:xfrm>
          <a:prstGeom prst="rect">
            <a:avLst/>
          </a:prstGeom>
          <a:noFill/>
          <a:ln/>
        </p:spPr>
        <p:txBody>
          <a:bodyPr wrap="square" lIns="0" tIns="0" rIns="0" bIns="0" rtlCol="0" anchor="ctr"/>
          <a:lstStyle/>
          <a:p>
            <a:pPr marL="0" indent="0">
              <a:buNone/>
            </a:pPr>
            <a:r>
              <a:rPr lang="en-US" sz="2200" b="1" dirty="0">
                <a:solidFill>
                  <a:srgbClr val="3D9A8B"/>
                </a:solidFill>
                <a:latin typeface="Calibri" pitchFamily="34" charset="0"/>
                <a:ea typeface="Calibri" pitchFamily="34" charset="-122"/>
                <a:cs typeface="Calibri" pitchFamily="34" charset="-120"/>
              </a:rPr>
              <a:t>Does Age Change What People Buy?</a:t>
            </a:r>
          </a:p>
        </p:txBody>
      </p:sp>
      <p:sp>
        <p:nvSpPr>
          <p:cNvPr id="7" name="Text 5">
            <a:extLst>
              <a:ext uri="{FF2B5EF4-FFF2-40B4-BE49-F238E27FC236}">
                <a16:creationId xmlns:a16="http://schemas.microsoft.com/office/drawing/2014/main" id="{BA236528-C634-71A4-5424-14FA21FEAB5F}"/>
              </a:ext>
            </a:extLst>
          </p:cNvPr>
          <p:cNvSpPr txBox="1"/>
          <p:nvPr/>
        </p:nvSpPr>
        <p:spPr>
          <a:xfrm>
            <a:off x="212886" y="701397"/>
            <a:ext cx="8229600" cy="292608"/>
          </a:xfrm>
          <a:prstGeom prst="rect">
            <a:avLst/>
          </a:prstGeom>
          <a:noFill/>
          <a:ln/>
        </p:spPr>
        <p:txBody>
          <a:bodyPr wrap="square" lIns="0" tIns="0" rIns="0" bIns="0" rtlCol="0" anchor="ctr"/>
          <a:lstStyle/>
          <a:p>
            <a:r>
              <a:rPr lang="en-US" sz="1150" i="1" dirty="0">
                <a:solidFill>
                  <a:srgbClr val="898781"/>
                </a:solidFill>
                <a:latin typeface="Calibri" pitchFamily="34" charset="0"/>
                <a:ea typeface="Calibri" pitchFamily="34" charset="-122"/>
                <a:cs typeface="Calibri" pitchFamily="34" charset="-120"/>
              </a:rPr>
              <a:t>Q9. </a:t>
            </a:r>
            <a:r>
              <a:rPr lang="en-IN" sz="1200" i="1" dirty="0"/>
              <a:t>Does the payment method have a relation with other columns?</a:t>
            </a:r>
            <a:endParaRPr lang="en-US" sz="1150" i="1" dirty="0"/>
          </a:p>
        </p:txBody>
      </p:sp>
      <p:sp>
        <p:nvSpPr>
          <p:cNvPr id="12" name="Text 9">
            <a:extLst>
              <a:ext uri="{FF2B5EF4-FFF2-40B4-BE49-F238E27FC236}">
                <a16:creationId xmlns:a16="http://schemas.microsoft.com/office/drawing/2014/main" id="{6902AFD6-4695-3A03-60D2-349E2AEC3681}"/>
              </a:ext>
            </a:extLst>
          </p:cNvPr>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9</a:t>
            </a:r>
            <a:endParaRPr lang="en-US" sz="900" dirty="0"/>
          </a:p>
        </p:txBody>
      </p:sp>
      <p:grpSp>
        <p:nvGrpSpPr>
          <p:cNvPr id="15" name="Group 14">
            <a:extLst>
              <a:ext uri="{FF2B5EF4-FFF2-40B4-BE49-F238E27FC236}">
                <a16:creationId xmlns:a16="http://schemas.microsoft.com/office/drawing/2014/main" id="{CFE4F24D-0F32-351B-519E-1AB6833EDD98}"/>
              </a:ext>
            </a:extLst>
          </p:cNvPr>
          <p:cNvGrpSpPr/>
          <p:nvPr/>
        </p:nvGrpSpPr>
        <p:grpSpPr>
          <a:xfrm>
            <a:off x="212886" y="4571215"/>
            <a:ext cx="11491434" cy="1937480"/>
            <a:chOff x="513753" y="4816525"/>
            <a:chExt cx="11491434" cy="1937480"/>
          </a:xfrm>
        </p:grpSpPr>
        <p:sp>
          <p:nvSpPr>
            <p:cNvPr id="16" name="TextBox 15">
              <a:extLst>
                <a:ext uri="{FF2B5EF4-FFF2-40B4-BE49-F238E27FC236}">
                  <a16:creationId xmlns:a16="http://schemas.microsoft.com/office/drawing/2014/main" id="{7AC5FDC3-B656-7E07-1DEA-8658B86AF949}"/>
                </a:ext>
              </a:extLst>
            </p:cNvPr>
            <p:cNvSpPr txBox="1"/>
            <p:nvPr/>
          </p:nvSpPr>
          <p:spPr>
            <a:xfrm>
              <a:off x="2818892" y="4816525"/>
              <a:ext cx="9186295" cy="584775"/>
            </a:xfrm>
            <a:prstGeom prst="rect">
              <a:avLst/>
            </a:prstGeom>
            <a:noFill/>
          </p:spPr>
          <p:txBody>
            <a:bodyPr wrap="square">
              <a:spAutoFit/>
            </a:bodyPr>
            <a:lstStyle/>
            <a:p>
              <a:pPr algn="just"/>
              <a:r>
                <a:rPr lang="en-IN" sz="1600" b="1" dirty="0">
                  <a:solidFill>
                    <a:srgbClr val="C00000"/>
                  </a:solidFill>
                </a:rPr>
                <a:t>Cash</a:t>
              </a:r>
              <a:r>
                <a:rPr lang="en-IN" sz="1600" dirty="0"/>
                <a:t> comes out on top no matter what category you look at. In Clothing it's </a:t>
              </a:r>
              <a:r>
                <a:rPr lang="en-IN" sz="1600" b="1" dirty="0">
                  <a:solidFill>
                    <a:srgbClr val="C00000"/>
                  </a:solidFill>
                </a:rPr>
                <a:t>51.3M TL </a:t>
              </a:r>
              <a:r>
                <a:rPr lang="en-IN" sz="1600" dirty="0"/>
                <a:t>cash versus </a:t>
              </a:r>
              <a:r>
                <a:rPr lang="en-IN" sz="1600" b="1" dirty="0">
                  <a:solidFill>
                    <a:srgbClr val="C00000"/>
                  </a:solidFill>
                </a:rPr>
                <a:t>39.4M credit </a:t>
              </a:r>
              <a:r>
                <a:rPr lang="en-IN" sz="1600" dirty="0"/>
                <a:t>and </a:t>
              </a:r>
              <a:r>
                <a:rPr lang="en-IN" sz="1600" b="1" dirty="0">
                  <a:solidFill>
                    <a:srgbClr val="C00000"/>
                  </a:solidFill>
                </a:rPr>
                <a:t>23.3M debit</a:t>
              </a:r>
              <a:r>
                <a:rPr lang="en-IN" sz="1600" dirty="0"/>
                <a:t>; Shoes and Technology follow that exact same order.</a:t>
              </a:r>
            </a:p>
          </p:txBody>
        </p:sp>
        <p:sp>
          <p:nvSpPr>
            <p:cNvPr id="17" name="TextBox 16">
              <a:extLst>
                <a:ext uri="{FF2B5EF4-FFF2-40B4-BE49-F238E27FC236}">
                  <a16:creationId xmlns:a16="http://schemas.microsoft.com/office/drawing/2014/main" id="{96AE6902-C31D-C54D-89F9-188500892A82}"/>
                </a:ext>
              </a:extLst>
            </p:cNvPr>
            <p:cNvSpPr txBox="1"/>
            <p:nvPr/>
          </p:nvSpPr>
          <p:spPr>
            <a:xfrm>
              <a:off x="513753" y="4886363"/>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18" name="TextBox 17">
              <a:extLst>
                <a:ext uri="{FF2B5EF4-FFF2-40B4-BE49-F238E27FC236}">
                  <a16:creationId xmlns:a16="http://schemas.microsoft.com/office/drawing/2014/main" id="{B2E2F1F1-8452-3A9D-CB4B-5100A98A32FC}"/>
                </a:ext>
              </a:extLst>
            </p:cNvPr>
            <p:cNvSpPr txBox="1"/>
            <p:nvPr/>
          </p:nvSpPr>
          <p:spPr>
            <a:xfrm>
              <a:off x="2818892" y="5676787"/>
              <a:ext cx="9087972" cy="1077218"/>
            </a:xfrm>
            <a:prstGeom prst="rect">
              <a:avLst/>
            </a:prstGeom>
            <a:noFill/>
          </p:spPr>
          <p:txBody>
            <a:bodyPr wrap="square">
              <a:spAutoFit/>
            </a:bodyPr>
            <a:lstStyle/>
            <a:p>
              <a:pPr algn="just"/>
              <a:r>
                <a:rPr lang="en-IN" sz="1600" dirty="0"/>
                <a:t>The </a:t>
              </a:r>
              <a:r>
                <a:rPr lang="en-IN" sz="1600" b="1" dirty="0">
                  <a:solidFill>
                    <a:srgbClr val="C00000"/>
                  </a:solidFill>
                </a:rPr>
                <a:t>Cash &gt; Credit &gt; Debit </a:t>
              </a:r>
              <a:r>
                <a:rPr lang="en-IN" sz="1600" dirty="0"/>
                <a:t>ordering holds with zero exceptions across 8 independent categories - Cash leads across all product categories, followed by Credit Card and Debit Card. This consistent pattern suggests that payment preferences are broadly similar across categories, so payment initiatives can be considered across the wider customer base rather than category by category.</a:t>
              </a:r>
              <a:endParaRPr lang="en-IN" sz="1600" b="1" dirty="0">
                <a:solidFill>
                  <a:srgbClr val="C00000"/>
                </a:solidFill>
              </a:endParaRPr>
            </a:p>
          </p:txBody>
        </p:sp>
        <p:sp>
          <p:nvSpPr>
            <p:cNvPr id="19" name="TextBox 18">
              <a:extLst>
                <a:ext uri="{FF2B5EF4-FFF2-40B4-BE49-F238E27FC236}">
                  <a16:creationId xmlns:a16="http://schemas.microsoft.com/office/drawing/2014/main" id="{5D3F29D4-26C9-34AD-B778-3326E0C6740D}"/>
                </a:ext>
              </a:extLst>
            </p:cNvPr>
            <p:cNvSpPr txBox="1"/>
            <p:nvPr/>
          </p:nvSpPr>
          <p:spPr>
            <a:xfrm>
              <a:off x="513753" y="5638753"/>
              <a:ext cx="2077571" cy="369332"/>
            </a:xfrm>
            <a:prstGeom prst="rect">
              <a:avLst/>
            </a:prstGeom>
            <a:noFill/>
          </p:spPr>
          <p:txBody>
            <a:bodyPr wrap="square">
              <a:spAutoFit/>
            </a:bodyPr>
            <a:lstStyle/>
            <a:p>
              <a:r>
                <a:rPr lang="en-US" b="1" dirty="0">
                  <a:solidFill>
                    <a:srgbClr val="3D9A8B"/>
                  </a:solidFill>
                  <a:latin typeface="Calibri" pitchFamily="34" charset="0"/>
                  <a:ea typeface="Calibri" pitchFamily="34" charset="-122"/>
                  <a:cs typeface="Calibri" pitchFamily="34" charset="-120"/>
                </a:rPr>
                <a:t>Business Insight </a:t>
              </a:r>
              <a:endParaRPr lang="en-IN" b="1" dirty="0">
                <a:solidFill>
                  <a:srgbClr val="3D9A8B"/>
                </a:solidFill>
                <a:latin typeface="Calibri" pitchFamily="34" charset="0"/>
                <a:ea typeface="Calibri" pitchFamily="34" charset="-122"/>
                <a:cs typeface="Calibri" pitchFamily="34" charset="-120"/>
              </a:endParaRPr>
            </a:p>
          </p:txBody>
        </p:sp>
      </p:grpSp>
      <p:sp>
        <p:nvSpPr>
          <p:cNvPr id="21" name="Shape 2">
            <a:extLst>
              <a:ext uri="{FF2B5EF4-FFF2-40B4-BE49-F238E27FC236}">
                <a16:creationId xmlns:a16="http://schemas.microsoft.com/office/drawing/2014/main" id="{06FB4F6A-AF62-9DC7-45D1-46231234D81F}"/>
              </a:ext>
            </a:extLst>
          </p:cNvPr>
          <p:cNvSpPr/>
          <p:nvPr/>
        </p:nvSpPr>
        <p:spPr>
          <a:xfrm>
            <a:off x="9040240" y="2412781"/>
            <a:ext cx="2194560" cy="896112"/>
          </a:xfrm>
          <a:prstGeom prst="roundRect">
            <a:avLst>
              <a:gd name="adj" fmla="val 8163"/>
            </a:avLst>
          </a:prstGeom>
          <a:solidFill>
            <a:schemeClr val="accent2"/>
          </a:solidFill>
          <a:ln/>
        </p:spPr>
        <p:txBody>
          <a:bodyPr/>
          <a:lstStyle/>
          <a:p>
            <a:endParaRPr lang="en-IN"/>
          </a:p>
        </p:txBody>
      </p:sp>
      <p:sp>
        <p:nvSpPr>
          <p:cNvPr id="23" name="Text 3">
            <a:extLst>
              <a:ext uri="{FF2B5EF4-FFF2-40B4-BE49-F238E27FC236}">
                <a16:creationId xmlns:a16="http://schemas.microsoft.com/office/drawing/2014/main" id="{4CFB7E31-A689-0668-20AC-A534FD25B85B}"/>
              </a:ext>
            </a:extLst>
          </p:cNvPr>
          <p:cNvSpPr txBox="1"/>
          <p:nvPr/>
        </p:nvSpPr>
        <p:spPr>
          <a:xfrm>
            <a:off x="9149968" y="2485933"/>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8/8</a:t>
            </a:r>
            <a:endParaRPr lang="en-US" sz="2200" dirty="0"/>
          </a:p>
        </p:txBody>
      </p:sp>
      <p:sp>
        <p:nvSpPr>
          <p:cNvPr id="25" name="Text 4">
            <a:extLst>
              <a:ext uri="{FF2B5EF4-FFF2-40B4-BE49-F238E27FC236}">
                <a16:creationId xmlns:a16="http://schemas.microsoft.com/office/drawing/2014/main" id="{820E7217-AF64-9919-36FD-8382C5F9D020}"/>
              </a:ext>
            </a:extLst>
          </p:cNvPr>
          <p:cNvSpPr txBox="1"/>
          <p:nvPr/>
        </p:nvSpPr>
        <p:spPr>
          <a:xfrm>
            <a:off x="9149968" y="2943133"/>
            <a:ext cx="1975104" cy="347472"/>
          </a:xfrm>
          <a:prstGeom prst="rect">
            <a:avLst/>
          </a:prstGeom>
          <a:noFill/>
          <a:ln/>
        </p:spPr>
        <p:txBody>
          <a:bodyPr wrap="square" lIns="0" tIns="0" rIns="0" bIns="0" rtlCol="0" anchor="ctr"/>
          <a:lstStyle/>
          <a:p>
            <a:pPr algn="ctr">
              <a:lnSpc>
                <a:spcPct val="100000"/>
              </a:lnSpc>
            </a:pPr>
            <a:r>
              <a:rPr lang="en-IN" sz="1100" dirty="0">
                <a:solidFill>
                  <a:schemeClr val="bg1">
                    <a:lumMod val="95000"/>
                  </a:schemeClr>
                </a:solidFill>
              </a:rPr>
              <a:t>categories where Cash leads</a:t>
            </a:r>
            <a:endParaRPr lang="en-US" sz="1100" dirty="0">
              <a:solidFill>
                <a:schemeClr val="bg1">
                  <a:lumMod val="95000"/>
                </a:schemeClr>
              </a:solidFill>
            </a:endParaRPr>
          </a:p>
        </p:txBody>
      </p:sp>
      <p:pic>
        <p:nvPicPr>
          <p:cNvPr id="4" name="Picture 3">
            <a:extLst>
              <a:ext uri="{FF2B5EF4-FFF2-40B4-BE49-F238E27FC236}">
                <a16:creationId xmlns:a16="http://schemas.microsoft.com/office/drawing/2014/main" id="{DED0270A-A4CB-93DE-A673-C42050FF1B5E}"/>
              </a:ext>
            </a:extLst>
          </p:cNvPr>
          <p:cNvPicPr>
            <a:picLocks noChangeAspect="1"/>
          </p:cNvPicPr>
          <p:nvPr/>
        </p:nvPicPr>
        <p:blipFill>
          <a:blip r:embed="rId3"/>
          <a:stretch>
            <a:fillRect/>
          </a:stretch>
        </p:blipFill>
        <p:spPr>
          <a:xfrm>
            <a:off x="2390859" y="1132094"/>
            <a:ext cx="6051627" cy="3296116"/>
          </a:xfrm>
          <a:prstGeom prst="rect">
            <a:avLst/>
          </a:prstGeom>
        </p:spPr>
      </p:pic>
      <p:sp>
        <p:nvSpPr>
          <p:cNvPr id="9" name="Freeform: Shape 8">
            <a:extLst>
              <a:ext uri="{FF2B5EF4-FFF2-40B4-BE49-F238E27FC236}">
                <a16:creationId xmlns:a16="http://schemas.microsoft.com/office/drawing/2014/main" id="{5B04A063-5CAB-E52D-78B4-2411940009F5}"/>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B524158D-C9DF-47B7-C7CA-347532B368AB}"/>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359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CFAF8"/>
        </a:solidFill>
        <a:effectLst/>
      </p:bgPr>
    </p:bg>
    <p:spTree>
      <p:nvGrpSpPr>
        <p:cNvPr id="1" name=""/>
        <p:cNvGrpSpPr/>
        <p:nvPr/>
      </p:nvGrpSpPr>
      <p:grpSpPr>
        <a:xfrm>
          <a:off x="0" y="0"/>
          <a:ext cx="0" cy="0"/>
          <a:chOff x="0" y="0"/>
          <a:chExt cx="0" cy="0"/>
        </a:xfrm>
      </p:grpSpPr>
      <p:sp>
        <p:nvSpPr>
          <p:cNvPr id="3" name="Text 1"/>
          <p:cNvSpPr txBox="1"/>
          <p:nvPr/>
        </p:nvSpPr>
        <p:spPr>
          <a:xfrm>
            <a:off x="548640" y="174707"/>
            <a:ext cx="8686800" cy="594360"/>
          </a:xfrm>
          <a:prstGeom prst="rect">
            <a:avLst/>
          </a:prstGeom>
          <a:noFill/>
          <a:ln/>
        </p:spPr>
        <p:txBody>
          <a:bodyPr wrap="square" lIns="0" tIns="0" rIns="0" bIns="0" rtlCol="0" anchor="ctr"/>
          <a:lstStyle/>
          <a:p>
            <a:pPr marL="0" indent="0">
              <a:buNone/>
            </a:pPr>
            <a:r>
              <a:rPr lang="en-US" sz="2200" b="1" dirty="0">
                <a:solidFill>
                  <a:srgbClr val="3D9A8B"/>
                </a:solidFill>
                <a:latin typeface="Calibri" pitchFamily="34" charset="0"/>
                <a:ea typeface="Calibri" pitchFamily="34" charset="-122"/>
                <a:cs typeface="Calibri" pitchFamily="34" charset="-120"/>
              </a:rPr>
              <a:t>How Do People Pay?</a:t>
            </a:r>
          </a:p>
        </p:txBody>
      </p:sp>
      <p:grpSp>
        <p:nvGrpSpPr>
          <p:cNvPr id="20" name="Group 19">
            <a:extLst>
              <a:ext uri="{FF2B5EF4-FFF2-40B4-BE49-F238E27FC236}">
                <a16:creationId xmlns:a16="http://schemas.microsoft.com/office/drawing/2014/main" id="{EC8DF11E-2896-B810-1D8E-E94C1F3A5B9B}"/>
              </a:ext>
            </a:extLst>
          </p:cNvPr>
          <p:cNvGrpSpPr/>
          <p:nvPr/>
        </p:nvGrpSpPr>
        <p:grpSpPr>
          <a:xfrm>
            <a:off x="8778240" y="2021937"/>
            <a:ext cx="2194560" cy="896112"/>
            <a:chOff x="9418320" y="256032"/>
            <a:chExt cx="2194560" cy="896112"/>
          </a:xfrm>
        </p:grpSpPr>
        <p:sp>
          <p:nvSpPr>
            <p:cNvPr id="4" name="Shape 2"/>
            <p:cNvSpPr/>
            <p:nvPr/>
          </p:nvSpPr>
          <p:spPr>
            <a:xfrm>
              <a:off x="9418320" y="256032"/>
              <a:ext cx="2194560" cy="896112"/>
            </a:xfrm>
            <a:prstGeom prst="roundRect">
              <a:avLst>
                <a:gd name="adj" fmla="val 8163"/>
              </a:avLst>
            </a:prstGeom>
            <a:solidFill>
              <a:schemeClr val="accent2"/>
            </a:solidFill>
            <a:ln/>
          </p:spPr>
          <p:txBody>
            <a:bodyPr/>
            <a:lstStyle/>
            <a:p>
              <a:endParaRPr lang="en-IN"/>
            </a:p>
          </p:txBody>
        </p:sp>
        <p:sp>
          <p:nvSpPr>
            <p:cNvPr id="5" name="Text 3"/>
            <p:cNvSpPr txBox="1"/>
            <p:nvPr/>
          </p:nvSpPr>
          <p:spPr>
            <a:xfrm>
              <a:off x="9528048" y="329184"/>
              <a:ext cx="1975104"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55.3%</a:t>
              </a:r>
              <a:endParaRPr lang="en-US" sz="2200" dirty="0"/>
            </a:p>
          </p:txBody>
        </p:sp>
        <p:sp>
          <p:nvSpPr>
            <p:cNvPr id="6" name="Text 4"/>
            <p:cNvSpPr txBox="1"/>
            <p:nvPr/>
          </p:nvSpPr>
          <p:spPr>
            <a:xfrm>
              <a:off x="9528048" y="777240"/>
              <a:ext cx="1975104" cy="347472"/>
            </a:xfrm>
            <a:prstGeom prst="rect">
              <a:avLst/>
            </a:prstGeom>
            <a:solidFill>
              <a:schemeClr val="accent2"/>
            </a:solidFill>
            <a:ln/>
          </p:spPr>
          <p:txBody>
            <a:bodyPr wrap="square" lIns="0" tIns="0" rIns="0" bIns="0" rtlCol="0" anchor="ctr"/>
            <a:lstStyle/>
            <a:p>
              <a:pPr marL="0" indent="0" algn="ctr">
                <a:lnSpc>
                  <a:spcPts val="1000"/>
                </a:lnSpc>
                <a:buNone/>
              </a:pPr>
              <a:r>
                <a:rPr lang="en-US" sz="850" b="1" dirty="0">
                  <a:solidFill>
                    <a:srgbClr val="F5D9C4"/>
                  </a:solidFill>
                  <a:latin typeface="Calibri" pitchFamily="34" charset="0"/>
                  <a:ea typeface="Calibri" pitchFamily="34" charset="-122"/>
                  <a:cs typeface="Calibri" pitchFamily="34" charset="-120"/>
                </a:rPr>
                <a:t>of transactions already on cards</a:t>
              </a:r>
              <a:endParaRPr lang="en-US" sz="850" b="1" dirty="0"/>
            </a:p>
          </p:txBody>
        </p:sp>
      </p:grpSp>
      <p:sp>
        <p:nvSpPr>
          <p:cNvPr id="7" name="Text 5"/>
          <p:cNvSpPr txBox="1"/>
          <p:nvPr/>
        </p:nvSpPr>
        <p:spPr>
          <a:xfrm>
            <a:off x="548640" y="802871"/>
            <a:ext cx="8229600" cy="292608"/>
          </a:xfrm>
          <a:prstGeom prst="rect">
            <a:avLst/>
          </a:prstGeom>
          <a:noFill/>
          <a:ln/>
        </p:spPr>
        <p:txBody>
          <a:bodyPr wrap="square" lIns="0" tIns="0" rIns="0" bIns="0" rtlCol="0" anchor="ctr"/>
          <a:lstStyle/>
          <a:p>
            <a:pPr marL="0" indent="0">
              <a:buNone/>
            </a:pPr>
            <a:r>
              <a:rPr lang="en-US" sz="1150" i="1" dirty="0">
                <a:solidFill>
                  <a:srgbClr val="898781"/>
                </a:solidFill>
                <a:latin typeface="Calibri" pitchFamily="34" charset="0"/>
                <a:ea typeface="Calibri" pitchFamily="34" charset="-122"/>
                <a:cs typeface="Calibri" pitchFamily="34" charset="-120"/>
              </a:rPr>
              <a:t>Q10. How is the distribution of the payment method?</a:t>
            </a:r>
            <a:endParaRPr lang="en-US" sz="1150" dirty="0"/>
          </a:p>
        </p:txBody>
      </p:sp>
      <p:sp>
        <p:nvSpPr>
          <p:cNvPr id="9" name="Text 6"/>
          <p:cNvSpPr txBox="1"/>
          <p:nvPr/>
        </p:nvSpPr>
        <p:spPr>
          <a:xfrm>
            <a:off x="3468820" y="4286387"/>
            <a:ext cx="7944465" cy="914400"/>
          </a:xfrm>
          <a:prstGeom prst="rect">
            <a:avLst/>
          </a:prstGeom>
          <a:noFill/>
          <a:ln/>
        </p:spPr>
        <p:txBody>
          <a:bodyPr wrap="square" lIns="0" tIns="0" rIns="0" bIns="0" rtlCol="0" anchor="t"/>
          <a:lstStyle/>
          <a:p>
            <a:pPr algn="just"/>
            <a:r>
              <a:rPr lang="en-IN" sz="1600" b="1" dirty="0">
                <a:solidFill>
                  <a:srgbClr val="C00000"/>
                </a:solidFill>
              </a:rPr>
              <a:t>Cash</a:t>
            </a:r>
            <a:r>
              <a:rPr lang="en-IN" sz="1600" dirty="0"/>
              <a:t> is the most common payment method at 44.69% of transactions, followed by Credit Card at 35.12% and Debit Card at 20.19%. Together, </a:t>
            </a:r>
            <a:r>
              <a:rPr lang="en-IN" sz="1600" b="1" dirty="0">
                <a:solidFill>
                  <a:srgbClr val="C00000"/>
                </a:solidFill>
              </a:rPr>
              <a:t>card payments </a:t>
            </a:r>
            <a:r>
              <a:rPr lang="en-IN" sz="1600" dirty="0"/>
              <a:t>account for 55.31% of transactions.</a:t>
            </a:r>
            <a:endParaRPr lang="en-US" sz="1600" dirty="0"/>
          </a:p>
        </p:txBody>
      </p:sp>
      <p:sp>
        <p:nvSpPr>
          <p:cNvPr id="10" name="Text 7"/>
          <p:cNvSpPr txBox="1"/>
          <p:nvPr/>
        </p:nvSpPr>
        <p:spPr>
          <a:xfrm>
            <a:off x="3468819" y="5370829"/>
            <a:ext cx="7944465" cy="1463040"/>
          </a:xfrm>
          <a:prstGeom prst="rect">
            <a:avLst/>
          </a:prstGeom>
          <a:noFill/>
          <a:ln/>
        </p:spPr>
        <p:txBody>
          <a:bodyPr wrap="square" lIns="0" tIns="0" rIns="0" bIns="0" rtlCol="0" anchor="t"/>
          <a:lstStyle/>
          <a:p>
            <a:pPr algn="just"/>
            <a:r>
              <a:rPr lang="en-IN" sz="1600" dirty="0"/>
              <a:t>Card payments already make up the majority of transactions, so the focus should not be on introducing digital payments but on gradually encouraging </a:t>
            </a:r>
            <a:r>
              <a:rPr lang="en-IN" sz="1600" b="1" dirty="0">
                <a:solidFill>
                  <a:srgbClr val="C00000"/>
                </a:solidFill>
              </a:rPr>
              <a:t>cash users to shift towards card payments </a:t>
            </a:r>
            <a:r>
              <a:rPr lang="en-IN" sz="1600" dirty="0"/>
              <a:t>through simple incentives or offers.</a:t>
            </a:r>
          </a:p>
        </p:txBody>
      </p:sp>
      <p:sp>
        <p:nvSpPr>
          <p:cNvPr id="12" name="Text 9"/>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11</a:t>
            </a:r>
            <a:endParaRPr lang="en-US" sz="900" dirty="0"/>
          </a:p>
        </p:txBody>
      </p:sp>
      <p:pic>
        <p:nvPicPr>
          <p:cNvPr id="14" name="Picture 13">
            <a:extLst>
              <a:ext uri="{FF2B5EF4-FFF2-40B4-BE49-F238E27FC236}">
                <a16:creationId xmlns:a16="http://schemas.microsoft.com/office/drawing/2014/main" id="{1D65B655-272E-BDFA-2D14-49FD2EA37BD4}"/>
              </a:ext>
            </a:extLst>
          </p:cNvPr>
          <p:cNvPicPr>
            <a:picLocks noChangeAspect="1"/>
          </p:cNvPicPr>
          <p:nvPr/>
        </p:nvPicPr>
        <p:blipFill>
          <a:blip r:embed="rId3"/>
          <a:stretch>
            <a:fillRect/>
          </a:stretch>
        </p:blipFill>
        <p:spPr>
          <a:xfrm>
            <a:off x="584491" y="1353842"/>
            <a:ext cx="7321926" cy="2635385"/>
          </a:xfrm>
          <a:prstGeom prst="rect">
            <a:avLst/>
          </a:prstGeom>
          <a:ln>
            <a:solidFill>
              <a:schemeClr val="accent2">
                <a:lumMod val="50000"/>
              </a:schemeClr>
            </a:solidFill>
          </a:ln>
        </p:spPr>
      </p:pic>
      <p:sp>
        <p:nvSpPr>
          <p:cNvPr id="17" name="TextBox 16">
            <a:extLst>
              <a:ext uri="{FF2B5EF4-FFF2-40B4-BE49-F238E27FC236}">
                <a16:creationId xmlns:a16="http://schemas.microsoft.com/office/drawing/2014/main" id="{7D4A55CE-DC75-AA22-1B14-A44171390A5B}"/>
              </a:ext>
            </a:extLst>
          </p:cNvPr>
          <p:cNvSpPr txBox="1"/>
          <p:nvPr/>
        </p:nvSpPr>
        <p:spPr>
          <a:xfrm>
            <a:off x="584491" y="4374255"/>
            <a:ext cx="1438474" cy="369332"/>
          </a:xfrm>
          <a:prstGeom prst="rect">
            <a:avLst/>
          </a:prstGeom>
          <a:noFill/>
        </p:spPr>
        <p:txBody>
          <a:bodyPr wrap="square">
            <a:spAutoFit/>
          </a:bodyPr>
          <a:lstStyle/>
          <a:p>
            <a:r>
              <a:rPr lang="en-US" b="1" dirty="0">
                <a:solidFill>
                  <a:srgbClr val="73361C"/>
                </a:solidFill>
                <a:latin typeface="Calibri" pitchFamily="34" charset="0"/>
                <a:ea typeface="Calibri" pitchFamily="34" charset="-122"/>
                <a:cs typeface="Calibri" pitchFamily="34" charset="-120"/>
              </a:rPr>
              <a:t>Observation </a:t>
            </a:r>
            <a:endParaRPr lang="en-IN" dirty="0"/>
          </a:p>
        </p:txBody>
      </p:sp>
      <p:sp>
        <p:nvSpPr>
          <p:cNvPr id="19" name="TextBox 18">
            <a:extLst>
              <a:ext uri="{FF2B5EF4-FFF2-40B4-BE49-F238E27FC236}">
                <a16:creationId xmlns:a16="http://schemas.microsoft.com/office/drawing/2014/main" id="{62E112A4-8EAE-4EAD-5C22-6E924901CD73}"/>
              </a:ext>
            </a:extLst>
          </p:cNvPr>
          <p:cNvSpPr txBox="1"/>
          <p:nvPr/>
        </p:nvSpPr>
        <p:spPr>
          <a:xfrm>
            <a:off x="584491" y="5393443"/>
            <a:ext cx="2077571" cy="369332"/>
          </a:xfrm>
          <a:prstGeom prst="rect">
            <a:avLst/>
          </a:prstGeom>
          <a:noFill/>
        </p:spPr>
        <p:txBody>
          <a:bodyPr wrap="square">
            <a:spAutoFit/>
          </a:bodyPr>
          <a:lstStyle/>
          <a:p>
            <a:r>
              <a:rPr lang="en-US" b="1" dirty="0">
                <a:solidFill>
                  <a:srgbClr val="3D9A8B"/>
                </a:solidFill>
                <a:latin typeface="Calibri" pitchFamily="34" charset="0"/>
                <a:ea typeface="Calibri" pitchFamily="34" charset="-122"/>
                <a:cs typeface="Calibri" pitchFamily="34" charset="-120"/>
              </a:rPr>
              <a:t>Business Insight </a:t>
            </a:r>
            <a:endParaRPr lang="en-IN" b="1" dirty="0">
              <a:solidFill>
                <a:srgbClr val="3D9A8B"/>
              </a:solidFill>
              <a:latin typeface="Calibri" pitchFamily="34" charset="0"/>
              <a:ea typeface="Calibri" pitchFamily="34" charset="-122"/>
              <a:cs typeface="Calibri" pitchFamily="34" charset="-120"/>
            </a:endParaRPr>
          </a:p>
        </p:txBody>
      </p:sp>
      <p:sp>
        <p:nvSpPr>
          <p:cNvPr id="22" name="Freeform: Shape 21">
            <a:extLst>
              <a:ext uri="{FF2B5EF4-FFF2-40B4-BE49-F238E27FC236}">
                <a16:creationId xmlns:a16="http://schemas.microsoft.com/office/drawing/2014/main" id="{3E5C1AC3-CEA2-2A36-8BC1-AF01332806F1}"/>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BB57EB17-AD75-4199-C66F-EA7FDEC284A0}"/>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CFAF8"/>
        </a:solidFill>
        <a:effectLst/>
      </p:bgPr>
    </p:bg>
    <p:spTree>
      <p:nvGrpSpPr>
        <p:cNvPr id="1" name=""/>
        <p:cNvGrpSpPr/>
        <p:nvPr/>
      </p:nvGrpSpPr>
      <p:grpSpPr>
        <a:xfrm>
          <a:off x="0" y="0"/>
          <a:ext cx="0" cy="0"/>
          <a:chOff x="0" y="0"/>
          <a:chExt cx="0" cy="0"/>
        </a:xfrm>
      </p:grpSpPr>
      <p:sp>
        <p:nvSpPr>
          <p:cNvPr id="3" name="Text 1"/>
          <p:cNvSpPr txBox="1"/>
          <p:nvPr/>
        </p:nvSpPr>
        <p:spPr>
          <a:xfrm>
            <a:off x="1620356" y="452702"/>
            <a:ext cx="8686800" cy="594360"/>
          </a:xfrm>
          <a:prstGeom prst="rect">
            <a:avLst/>
          </a:prstGeom>
          <a:noFill/>
          <a:ln/>
        </p:spPr>
        <p:txBody>
          <a:bodyPr wrap="square" lIns="0" tIns="0" rIns="0" bIns="0" rtlCol="0" anchor="ctr"/>
          <a:lstStyle/>
          <a:p>
            <a:pPr marL="0" indent="0" algn="ctr">
              <a:buNone/>
            </a:pPr>
            <a:r>
              <a:rPr lang="en-US" sz="2200" b="1" dirty="0">
                <a:solidFill>
                  <a:srgbClr val="3D9A8B"/>
                </a:solidFill>
                <a:latin typeface="Calibri" pitchFamily="34" charset="0"/>
                <a:ea typeface="Calibri" pitchFamily="34" charset="-122"/>
                <a:cs typeface="Calibri" pitchFamily="34" charset="-120"/>
              </a:rPr>
              <a:t>What This Data Is Really Telling Us</a:t>
            </a:r>
          </a:p>
        </p:txBody>
      </p:sp>
      <p:sp>
        <p:nvSpPr>
          <p:cNvPr id="4" name="Text 2"/>
          <p:cNvSpPr txBox="1"/>
          <p:nvPr/>
        </p:nvSpPr>
        <p:spPr>
          <a:xfrm>
            <a:off x="902601" y="1188720"/>
            <a:ext cx="11064240" cy="4480560"/>
          </a:xfrm>
          <a:prstGeom prst="rect">
            <a:avLst/>
          </a:prstGeom>
          <a:noFill/>
          <a:ln/>
        </p:spPr>
        <p:txBody>
          <a:bodyPr wrap="square" lIns="0" tIns="0" rIns="0" bIns="0" rtlCol="0" anchor="ctr"/>
          <a:lstStyle/>
          <a:p>
            <a:pPr marL="342900" lvl="0" indent="-342900">
              <a:lnSpc>
                <a:spcPct val="200000"/>
              </a:lnSpc>
              <a:buFont typeface="Arial" panose="020B0604020202020204" pitchFamily="34" charset="0"/>
              <a:buChar char="•"/>
            </a:pPr>
            <a:r>
              <a:rPr lang="en-IN" sz="1600" i="1" dirty="0">
                <a:solidFill>
                  <a:schemeClr val="accent2"/>
                </a:solidFill>
              </a:rPr>
              <a:t>Women lead in orders, quantity and revenue</a:t>
            </a:r>
            <a:r>
              <a:rPr lang="en-IN" sz="1600" i="1" dirty="0"/>
              <a:t>, contributing around 60% of the overall business across these measures. </a:t>
            </a:r>
          </a:p>
          <a:p>
            <a:pPr marL="342900" lvl="0" indent="-342900">
              <a:lnSpc>
                <a:spcPct val="200000"/>
              </a:lnSpc>
              <a:buFont typeface="Arial" panose="020B0604020202020204" pitchFamily="34" charset="0"/>
              <a:buChar char="•"/>
            </a:pPr>
            <a:r>
              <a:rPr lang="en-IN" sz="1600" i="1" dirty="0">
                <a:solidFill>
                  <a:schemeClr val="accent2"/>
                </a:solidFill>
              </a:rPr>
              <a:t>Customers aged 21–50 form the strongest-performing age groups</a:t>
            </a:r>
            <a:r>
              <a:rPr lang="en-IN" sz="1600" i="1" dirty="0"/>
              <a:t>, while the under-21 segment is the clear outlier with much lower purchase volume and revenue. </a:t>
            </a:r>
          </a:p>
          <a:p>
            <a:pPr marL="342900" lvl="0" indent="-342900">
              <a:lnSpc>
                <a:spcPct val="200000"/>
              </a:lnSpc>
              <a:buFont typeface="Arial" panose="020B0604020202020204" pitchFamily="34" charset="0"/>
              <a:buChar char="•"/>
            </a:pPr>
            <a:r>
              <a:rPr lang="en-IN" sz="1600" i="1" dirty="0">
                <a:solidFill>
                  <a:schemeClr val="accent2"/>
                </a:solidFill>
              </a:rPr>
              <a:t>Clothing is the largest revenue contributor by a wide margin</a:t>
            </a:r>
            <a:r>
              <a:rPr lang="en-IN" sz="1600" i="1" dirty="0"/>
              <a:t>, followed by Shoes and Technology. </a:t>
            </a:r>
          </a:p>
          <a:p>
            <a:pPr marL="342900" lvl="0" indent="-342900">
              <a:lnSpc>
                <a:spcPct val="200000"/>
              </a:lnSpc>
              <a:buFont typeface="Arial" panose="020B0604020202020204" pitchFamily="34" charset="0"/>
              <a:buChar char="•"/>
            </a:pPr>
            <a:r>
              <a:rPr lang="en-IN" sz="1600" i="1" dirty="0">
                <a:solidFill>
                  <a:schemeClr val="accent2"/>
                </a:solidFill>
              </a:rPr>
              <a:t>The category mix is broadly similar across age groups and genders</a:t>
            </a:r>
            <a:r>
              <a:rPr lang="en-IN" sz="1600" i="1" dirty="0"/>
              <a:t>, with differences mainly appearing in overall purchase volumes rather than the leading categories. </a:t>
            </a:r>
          </a:p>
          <a:p>
            <a:pPr marL="342900" lvl="0" indent="-342900">
              <a:lnSpc>
                <a:spcPct val="200000"/>
              </a:lnSpc>
              <a:buFont typeface="Arial" panose="020B0604020202020204" pitchFamily="34" charset="0"/>
              <a:buChar char="•"/>
            </a:pPr>
            <a:r>
              <a:rPr lang="en-IN" sz="1600" i="1" dirty="0">
                <a:solidFill>
                  <a:schemeClr val="accent2"/>
                </a:solidFill>
              </a:rPr>
              <a:t>Cash is the most-used payment method,</a:t>
            </a:r>
            <a:r>
              <a:rPr lang="en-IN" sz="1600" i="1" dirty="0"/>
              <a:t> although card payments combined account for the majority of transactions. Cash also leads across the product categories shown. </a:t>
            </a:r>
          </a:p>
          <a:p>
            <a:pPr marL="342900" lvl="0" indent="-342900">
              <a:lnSpc>
                <a:spcPct val="200000"/>
              </a:lnSpc>
              <a:buFont typeface="Arial" panose="020B0604020202020204" pitchFamily="34" charset="0"/>
              <a:buChar char="•"/>
            </a:pPr>
            <a:r>
              <a:rPr lang="en-IN" sz="1600" i="1" dirty="0">
                <a:solidFill>
                  <a:schemeClr val="accent2"/>
                </a:solidFill>
              </a:rPr>
              <a:t>Mall of Istanbul and Kanyon are the top revenue-generating malls</a:t>
            </a:r>
            <a:r>
              <a:rPr lang="en-IN" sz="1600" i="1" dirty="0"/>
              <a:t>, performing clearly ahead of the other malls in the dashboard</a:t>
            </a:r>
            <a:r>
              <a:rPr lang="en-IN" sz="1600" dirty="0"/>
              <a:t>.</a:t>
            </a:r>
          </a:p>
        </p:txBody>
      </p:sp>
      <p:sp>
        <p:nvSpPr>
          <p:cNvPr id="6" name="Text 4"/>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12</a:t>
            </a:r>
            <a:endParaRPr lang="en-US" sz="900" dirty="0"/>
          </a:p>
        </p:txBody>
      </p:sp>
      <p:sp>
        <p:nvSpPr>
          <p:cNvPr id="8" name="Freeform: Shape 7">
            <a:extLst>
              <a:ext uri="{FF2B5EF4-FFF2-40B4-BE49-F238E27FC236}">
                <a16:creationId xmlns:a16="http://schemas.microsoft.com/office/drawing/2014/main" id="{1363DD0E-CDD3-C29D-467A-8AB63617FE9B}"/>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5EDBA0FA-2841-A29B-463C-12CCAEF0D38C}"/>
              </a:ext>
            </a:extLst>
          </p:cNvPr>
          <p:cNvSpPr/>
          <p:nvPr/>
        </p:nvSpPr>
        <p:spPr>
          <a:xfrm rot="10800000">
            <a:off x="-314632" y="455115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B5FB4-8C3B-4522-8C38-51234851910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400169A-8BD7-64D7-8498-2F3CC29C58C8}"/>
              </a:ext>
            </a:extLst>
          </p:cNvPr>
          <p:cNvSpPr txBox="1"/>
          <p:nvPr/>
        </p:nvSpPr>
        <p:spPr>
          <a:xfrm>
            <a:off x="2139207" y="44697"/>
            <a:ext cx="8686800" cy="594360"/>
          </a:xfrm>
          <a:prstGeom prst="rect">
            <a:avLst/>
          </a:prstGeom>
          <a:noFill/>
          <a:ln/>
        </p:spPr>
        <p:txBody>
          <a:bodyPr wrap="square" lIns="0" tIns="0" rIns="0" bIns="0" rtlCol="0" anchor="ctr"/>
          <a:lstStyle/>
          <a:p>
            <a:pPr algn="ctr"/>
            <a:r>
              <a:rPr lang="en-US" sz="3200" b="1" u="sng" dirty="0">
                <a:solidFill>
                  <a:srgbClr val="3D9A8B"/>
                </a:solidFill>
                <a:latin typeface="Calibri" pitchFamily="34" charset="0"/>
                <a:ea typeface="Calibri" pitchFamily="34" charset="-122"/>
                <a:cs typeface="Calibri" pitchFamily="34" charset="-120"/>
              </a:rPr>
              <a:t>What We'd Suggest Doing About It</a:t>
            </a:r>
            <a:endParaRPr lang="en-US" sz="3200" u="sng" dirty="0">
              <a:solidFill>
                <a:srgbClr val="3D9A8B"/>
              </a:solidFill>
            </a:endParaRPr>
          </a:p>
        </p:txBody>
      </p:sp>
      <p:sp>
        <p:nvSpPr>
          <p:cNvPr id="6" name="Text 4">
            <a:extLst>
              <a:ext uri="{FF2B5EF4-FFF2-40B4-BE49-F238E27FC236}">
                <a16:creationId xmlns:a16="http://schemas.microsoft.com/office/drawing/2014/main" id="{A274FD8E-D906-D1DD-D2CD-AAC27EC8E85A}"/>
              </a:ext>
            </a:extLst>
          </p:cNvPr>
          <p:cNvSpPr txBox="1"/>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12</a:t>
            </a:r>
            <a:endParaRPr lang="en-US" sz="900" dirty="0"/>
          </a:p>
        </p:txBody>
      </p:sp>
      <p:grpSp>
        <p:nvGrpSpPr>
          <p:cNvPr id="49" name="Group 48">
            <a:extLst>
              <a:ext uri="{FF2B5EF4-FFF2-40B4-BE49-F238E27FC236}">
                <a16:creationId xmlns:a16="http://schemas.microsoft.com/office/drawing/2014/main" id="{94FDB4E3-9307-0A5A-5072-F2315104ACFA}"/>
              </a:ext>
            </a:extLst>
          </p:cNvPr>
          <p:cNvGrpSpPr/>
          <p:nvPr/>
        </p:nvGrpSpPr>
        <p:grpSpPr>
          <a:xfrm>
            <a:off x="358034" y="646931"/>
            <a:ext cx="3562350" cy="6019144"/>
            <a:chOff x="476251" y="1308919"/>
            <a:chExt cx="3562350" cy="5671789"/>
          </a:xfrm>
        </p:grpSpPr>
        <p:grpSp>
          <p:nvGrpSpPr>
            <p:cNvPr id="50" name="Group 49">
              <a:extLst>
                <a:ext uri="{FF2B5EF4-FFF2-40B4-BE49-F238E27FC236}">
                  <a16:creationId xmlns:a16="http://schemas.microsoft.com/office/drawing/2014/main" id="{C8702DDC-792E-3F2F-1833-4C833C697F9C}"/>
                </a:ext>
              </a:extLst>
            </p:cNvPr>
            <p:cNvGrpSpPr/>
            <p:nvPr/>
          </p:nvGrpSpPr>
          <p:grpSpPr>
            <a:xfrm>
              <a:off x="476251" y="1308919"/>
              <a:ext cx="3562350" cy="5671789"/>
              <a:chOff x="476251" y="1308919"/>
              <a:chExt cx="3562350" cy="5671789"/>
            </a:xfrm>
          </p:grpSpPr>
          <p:grpSp>
            <p:nvGrpSpPr>
              <p:cNvPr id="77" name="Group 76">
                <a:extLst>
                  <a:ext uri="{FF2B5EF4-FFF2-40B4-BE49-F238E27FC236}">
                    <a16:creationId xmlns:a16="http://schemas.microsoft.com/office/drawing/2014/main" id="{EC762B91-B295-245A-07D9-186E0CD2CAD1}"/>
                  </a:ext>
                </a:extLst>
              </p:cNvPr>
              <p:cNvGrpSpPr/>
              <p:nvPr/>
            </p:nvGrpSpPr>
            <p:grpSpPr>
              <a:xfrm>
                <a:off x="476251" y="1308919"/>
                <a:ext cx="3562350" cy="5671789"/>
                <a:chOff x="476251" y="1308919"/>
                <a:chExt cx="3562350" cy="5671789"/>
              </a:xfrm>
            </p:grpSpPr>
            <p:sp>
              <p:nvSpPr>
                <p:cNvPr id="81" name="Rectangle: Rounded Corners 80">
                  <a:extLst>
                    <a:ext uri="{FF2B5EF4-FFF2-40B4-BE49-F238E27FC236}">
                      <a16:creationId xmlns:a16="http://schemas.microsoft.com/office/drawing/2014/main" id="{66B4769B-078F-15AA-EA0A-2AB5A99B6B34}"/>
                    </a:ext>
                  </a:extLst>
                </p:cNvPr>
                <p:cNvSpPr/>
                <p:nvPr/>
              </p:nvSpPr>
              <p:spPr>
                <a:xfrm>
                  <a:off x="1335216" y="1308919"/>
                  <a:ext cx="1743075" cy="5671789"/>
                </a:xfrm>
                <a:prstGeom prst="roundRect">
                  <a:avLst>
                    <a:gd name="adj" fmla="val 12295"/>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2" name="Rectangle: Rounded Corners 81">
                  <a:extLst>
                    <a:ext uri="{FF2B5EF4-FFF2-40B4-BE49-F238E27FC236}">
                      <a16:creationId xmlns:a16="http://schemas.microsoft.com/office/drawing/2014/main" id="{DD700850-CC35-9C21-B33D-964FF017C23C}"/>
                    </a:ext>
                  </a:extLst>
                </p:cNvPr>
                <p:cNvSpPr/>
                <p:nvPr/>
              </p:nvSpPr>
              <p:spPr>
                <a:xfrm>
                  <a:off x="476251" y="1504949"/>
                  <a:ext cx="3562350" cy="5056394"/>
                </a:xfrm>
                <a:prstGeom prst="roundRect">
                  <a:avLst>
                    <a:gd name="adj" fmla="val 1351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3" name="Rectangle: Rounded Corners 82">
                  <a:extLst>
                    <a:ext uri="{FF2B5EF4-FFF2-40B4-BE49-F238E27FC236}">
                      <a16:creationId xmlns:a16="http://schemas.microsoft.com/office/drawing/2014/main" id="{08A0FD0D-083D-9F41-39C2-FCBBE2F8EDB7}"/>
                    </a:ext>
                  </a:extLst>
                </p:cNvPr>
                <p:cNvSpPr/>
                <p:nvPr/>
              </p:nvSpPr>
              <p:spPr>
                <a:xfrm>
                  <a:off x="671513" y="1847850"/>
                  <a:ext cx="3171825" cy="704850"/>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4" name="Rectangle: Rounded Corners 83">
                  <a:extLst>
                    <a:ext uri="{FF2B5EF4-FFF2-40B4-BE49-F238E27FC236}">
                      <a16:creationId xmlns:a16="http://schemas.microsoft.com/office/drawing/2014/main" id="{2BE199AD-779A-2DE2-51AC-983487EA8D54}"/>
                    </a:ext>
                  </a:extLst>
                </p:cNvPr>
                <p:cNvSpPr/>
                <p:nvPr/>
              </p:nvSpPr>
              <p:spPr>
                <a:xfrm>
                  <a:off x="671513" y="2669381"/>
                  <a:ext cx="3171825" cy="704850"/>
                </a:xfrm>
                <a:prstGeom prst="roundRect">
                  <a:avLst>
                    <a:gd name="adj" fmla="val 5000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5" name="Rectangle: Rounded Corners 84">
                  <a:extLst>
                    <a:ext uri="{FF2B5EF4-FFF2-40B4-BE49-F238E27FC236}">
                      <a16:creationId xmlns:a16="http://schemas.microsoft.com/office/drawing/2014/main" id="{2CEEB378-07FC-7CAB-D459-CE89EF4FEB52}"/>
                    </a:ext>
                  </a:extLst>
                </p:cNvPr>
                <p:cNvSpPr/>
                <p:nvPr/>
              </p:nvSpPr>
              <p:spPr>
                <a:xfrm>
                  <a:off x="671513" y="3490912"/>
                  <a:ext cx="3171825" cy="704850"/>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6" name="Rectangle: Rounded Corners 85">
                  <a:extLst>
                    <a:ext uri="{FF2B5EF4-FFF2-40B4-BE49-F238E27FC236}">
                      <a16:creationId xmlns:a16="http://schemas.microsoft.com/office/drawing/2014/main" id="{8185712D-698F-A507-7067-20C75A74BAC9}"/>
                    </a:ext>
                  </a:extLst>
                </p:cNvPr>
                <p:cNvSpPr/>
                <p:nvPr/>
              </p:nvSpPr>
              <p:spPr>
                <a:xfrm>
                  <a:off x="671513" y="4312443"/>
                  <a:ext cx="3171825" cy="704850"/>
                </a:xfrm>
                <a:prstGeom prst="roundRect">
                  <a:avLst>
                    <a:gd name="adj" fmla="val 50000"/>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7" name="Rectangle: Rounded Corners 86">
                  <a:extLst>
                    <a:ext uri="{FF2B5EF4-FFF2-40B4-BE49-F238E27FC236}">
                      <a16:creationId xmlns:a16="http://schemas.microsoft.com/office/drawing/2014/main" id="{18C3D661-28DA-B0DB-B226-663F86C638B8}"/>
                    </a:ext>
                  </a:extLst>
                </p:cNvPr>
                <p:cNvSpPr/>
                <p:nvPr/>
              </p:nvSpPr>
              <p:spPr>
                <a:xfrm>
                  <a:off x="671513" y="5133975"/>
                  <a:ext cx="3171825" cy="704850"/>
                </a:xfrm>
                <a:prstGeom prst="roundRect">
                  <a:avLst>
                    <a:gd name="adj" fmla="val 5000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8" name="Oval 87">
                  <a:extLst>
                    <a:ext uri="{FF2B5EF4-FFF2-40B4-BE49-F238E27FC236}">
                      <a16:creationId xmlns:a16="http://schemas.microsoft.com/office/drawing/2014/main" id="{3DD36623-7195-F385-177A-E80D12578889}"/>
                    </a:ext>
                  </a:extLst>
                </p:cNvPr>
                <p:cNvSpPr/>
                <p:nvPr/>
              </p:nvSpPr>
              <p:spPr>
                <a:xfrm>
                  <a:off x="774795" y="1909014"/>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9" name="Oval 88">
                  <a:extLst>
                    <a:ext uri="{FF2B5EF4-FFF2-40B4-BE49-F238E27FC236}">
                      <a16:creationId xmlns:a16="http://schemas.microsoft.com/office/drawing/2014/main" id="{40BE3718-784F-1EFA-37C3-81BC1439868F}"/>
                    </a:ext>
                  </a:extLst>
                </p:cNvPr>
                <p:cNvSpPr/>
                <p:nvPr/>
              </p:nvSpPr>
              <p:spPr>
                <a:xfrm>
                  <a:off x="774795" y="2730546"/>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0" name="Oval 89">
                  <a:extLst>
                    <a:ext uri="{FF2B5EF4-FFF2-40B4-BE49-F238E27FC236}">
                      <a16:creationId xmlns:a16="http://schemas.microsoft.com/office/drawing/2014/main" id="{2D290F38-D1AF-47AE-38C1-A132DF22F24F}"/>
                    </a:ext>
                  </a:extLst>
                </p:cNvPr>
                <p:cNvSpPr/>
                <p:nvPr/>
              </p:nvSpPr>
              <p:spPr>
                <a:xfrm>
                  <a:off x="774795" y="3552078"/>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1" name="Oval 90">
                  <a:extLst>
                    <a:ext uri="{FF2B5EF4-FFF2-40B4-BE49-F238E27FC236}">
                      <a16:creationId xmlns:a16="http://schemas.microsoft.com/office/drawing/2014/main" id="{3B05B776-58EE-53B1-1018-0944DC5BCA85}"/>
                    </a:ext>
                  </a:extLst>
                </p:cNvPr>
                <p:cNvSpPr/>
                <p:nvPr/>
              </p:nvSpPr>
              <p:spPr>
                <a:xfrm>
                  <a:off x="774795" y="4373610"/>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2" name="Oval 91">
                  <a:extLst>
                    <a:ext uri="{FF2B5EF4-FFF2-40B4-BE49-F238E27FC236}">
                      <a16:creationId xmlns:a16="http://schemas.microsoft.com/office/drawing/2014/main" id="{0D494332-B387-53FC-9FA9-625A5D6632D8}"/>
                    </a:ext>
                  </a:extLst>
                </p:cNvPr>
                <p:cNvSpPr/>
                <p:nvPr/>
              </p:nvSpPr>
              <p:spPr>
                <a:xfrm>
                  <a:off x="774795" y="5195140"/>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3" name="TextBox 92">
                  <a:extLst>
                    <a:ext uri="{FF2B5EF4-FFF2-40B4-BE49-F238E27FC236}">
                      <a16:creationId xmlns:a16="http://schemas.microsoft.com/office/drawing/2014/main" id="{114CD94C-76E4-7D85-C7CC-BB6F30FD8708}"/>
                    </a:ext>
                  </a:extLst>
                </p:cNvPr>
                <p:cNvSpPr txBox="1"/>
                <p:nvPr/>
              </p:nvSpPr>
              <p:spPr>
                <a:xfrm>
                  <a:off x="1525597" y="1977599"/>
                  <a:ext cx="1704976" cy="523220"/>
                </a:xfrm>
                <a:prstGeom prst="rect">
                  <a:avLst/>
                </a:prstGeom>
                <a:noFill/>
              </p:spPr>
              <p:txBody>
                <a:bodyPr wrap="square">
                  <a:spAutoFit/>
                </a:bodyPr>
                <a:lstStyle/>
                <a:p>
                  <a:pPr algn="ctr"/>
                  <a:r>
                    <a:rPr lang="en-IN" sz="1400" b="1" dirty="0">
                      <a:solidFill>
                        <a:schemeClr val="bg1"/>
                      </a:solidFill>
                    </a:rPr>
                    <a:t>KEEP CLOTHING AS A PRIORITY</a:t>
                  </a:r>
                  <a:endParaRPr lang="en-US" sz="1400" b="1" dirty="0">
                    <a:solidFill>
                      <a:schemeClr val="bg1"/>
                    </a:solidFill>
                  </a:endParaRPr>
                </a:p>
              </p:txBody>
            </p:sp>
            <p:sp>
              <p:nvSpPr>
                <p:cNvPr id="94" name="TextBox 93">
                  <a:extLst>
                    <a:ext uri="{FF2B5EF4-FFF2-40B4-BE49-F238E27FC236}">
                      <a16:creationId xmlns:a16="http://schemas.microsoft.com/office/drawing/2014/main" id="{AF0DB21E-85DC-5761-4050-8725C270BF6A}"/>
                    </a:ext>
                  </a:extLst>
                </p:cNvPr>
                <p:cNvSpPr txBox="1"/>
                <p:nvPr/>
              </p:nvSpPr>
              <p:spPr>
                <a:xfrm>
                  <a:off x="1259187" y="2743711"/>
                  <a:ext cx="2410613" cy="523220"/>
                </a:xfrm>
                <a:prstGeom prst="rect">
                  <a:avLst/>
                </a:prstGeom>
                <a:noFill/>
              </p:spPr>
              <p:txBody>
                <a:bodyPr wrap="square">
                  <a:spAutoFit/>
                </a:bodyPr>
                <a:lstStyle/>
                <a:p>
                  <a:pPr algn="ctr"/>
                  <a:r>
                    <a:rPr lang="en-IN" sz="1400" b="1" dirty="0">
                      <a:solidFill>
                        <a:schemeClr val="bg1"/>
                      </a:solidFill>
                    </a:rPr>
                    <a:t>TARGET THE 21–50 AGE GROUPS TOGETHER</a:t>
                  </a:r>
                  <a:endParaRPr lang="en-US" sz="1400" b="1" dirty="0">
                    <a:solidFill>
                      <a:schemeClr val="bg1"/>
                    </a:solidFill>
                  </a:endParaRPr>
                </a:p>
              </p:txBody>
            </p:sp>
          </p:grpSp>
          <p:sp>
            <p:nvSpPr>
              <p:cNvPr id="78" name="TextBox 77">
                <a:extLst>
                  <a:ext uri="{FF2B5EF4-FFF2-40B4-BE49-F238E27FC236}">
                    <a16:creationId xmlns:a16="http://schemas.microsoft.com/office/drawing/2014/main" id="{1F68B26F-9589-FEB1-5CAD-F23EC5454794}"/>
                  </a:ext>
                </a:extLst>
              </p:cNvPr>
              <p:cNvSpPr txBox="1"/>
              <p:nvPr/>
            </p:nvSpPr>
            <p:spPr>
              <a:xfrm>
                <a:off x="1458696" y="3611378"/>
                <a:ext cx="1931194" cy="523220"/>
              </a:xfrm>
              <a:prstGeom prst="rect">
                <a:avLst/>
              </a:prstGeom>
              <a:noFill/>
            </p:spPr>
            <p:txBody>
              <a:bodyPr wrap="square">
                <a:spAutoFit/>
              </a:bodyPr>
              <a:lstStyle/>
              <a:p>
                <a:pPr algn="ctr"/>
                <a:r>
                  <a:rPr lang="en-IN" sz="1400" b="1" dirty="0">
                    <a:solidFill>
                      <a:schemeClr val="bg1"/>
                    </a:solidFill>
                  </a:rPr>
                  <a:t>CONTINUE TARGETING BOTH GENDERS</a:t>
                </a:r>
                <a:endParaRPr lang="en-US" sz="1400" b="1" dirty="0">
                  <a:solidFill>
                    <a:schemeClr val="bg1"/>
                  </a:solidFill>
                </a:endParaRPr>
              </a:p>
            </p:txBody>
          </p:sp>
          <p:sp>
            <p:nvSpPr>
              <p:cNvPr id="79" name="TextBox 78">
                <a:extLst>
                  <a:ext uri="{FF2B5EF4-FFF2-40B4-BE49-F238E27FC236}">
                    <a16:creationId xmlns:a16="http://schemas.microsoft.com/office/drawing/2014/main" id="{558F6862-E749-1B04-4EAF-8BECC0D7CABA}"/>
                  </a:ext>
                </a:extLst>
              </p:cNvPr>
              <p:cNvSpPr txBox="1"/>
              <p:nvPr/>
            </p:nvSpPr>
            <p:spPr>
              <a:xfrm>
                <a:off x="1378849" y="4424039"/>
                <a:ext cx="2171288" cy="523220"/>
              </a:xfrm>
              <a:prstGeom prst="rect">
                <a:avLst/>
              </a:prstGeom>
              <a:noFill/>
            </p:spPr>
            <p:txBody>
              <a:bodyPr wrap="square">
                <a:spAutoFit/>
              </a:bodyPr>
              <a:lstStyle/>
              <a:p>
                <a:pPr algn="ctr"/>
                <a:r>
                  <a:rPr lang="en-IN" sz="1400" b="1" dirty="0">
                    <a:solidFill>
                      <a:schemeClr val="bg1"/>
                    </a:solidFill>
                  </a:rPr>
                  <a:t>EXPLORE CLOTHING + SHOES BUNDLES</a:t>
                </a:r>
                <a:endParaRPr lang="en-US" sz="1400" b="1" dirty="0">
                  <a:solidFill>
                    <a:schemeClr val="bg1"/>
                  </a:solidFill>
                </a:endParaRPr>
              </a:p>
            </p:txBody>
          </p:sp>
          <p:sp>
            <p:nvSpPr>
              <p:cNvPr id="80" name="TextBox 79">
                <a:extLst>
                  <a:ext uri="{FF2B5EF4-FFF2-40B4-BE49-F238E27FC236}">
                    <a16:creationId xmlns:a16="http://schemas.microsoft.com/office/drawing/2014/main" id="{C105A4EB-3BEE-DE9E-EEF4-2B34C3D451B9}"/>
                  </a:ext>
                </a:extLst>
              </p:cNvPr>
              <p:cNvSpPr txBox="1"/>
              <p:nvPr/>
            </p:nvSpPr>
            <p:spPr>
              <a:xfrm>
                <a:off x="1357315" y="5222597"/>
                <a:ext cx="2067023" cy="769441"/>
              </a:xfrm>
              <a:prstGeom prst="rect">
                <a:avLst/>
              </a:prstGeom>
              <a:noFill/>
            </p:spPr>
            <p:txBody>
              <a:bodyPr wrap="square">
                <a:spAutoFit/>
              </a:bodyPr>
              <a:lstStyle/>
              <a:p>
                <a:pPr algn="ctr"/>
                <a:r>
                  <a:rPr lang="en-IN" sz="1400" b="1" dirty="0">
                    <a:solidFill>
                      <a:schemeClr val="bg1"/>
                    </a:solidFill>
                  </a:rPr>
                  <a:t>TEST DIGITAL-PAYMENT INCENTIVES</a:t>
                </a:r>
                <a:br>
                  <a:rPr lang="en-IN" sz="1600" b="1" dirty="0">
                    <a:solidFill>
                      <a:schemeClr val="accent2"/>
                    </a:solidFill>
                  </a:rPr>
                </a:br>
                <a:endParaRPr lang="en-US" sz="1600" b="1" dirty="0">
                  <a:solidFill>
                    <a:schemeClr val="bg1"/>
                  </a:solidFill>
                </a:endParaRPr>
              </a:p>
            </p:txBody>
          </p:sp>
        </p:grpSp>
        <p:grpSp>
          <p:nvGrpSpPr>
            <p:cNvPr id="51" name="Group 50">
              <a:extLst>
                <a:ext uri="{FF2B5EF4-FFF2-40B4-BE49-F238E27FC236}">
                  <a16:creationId xmlns:a16="http://schemas.microsoft.com/office/drawing/2014/main" id="{4726AFC2-1E28-ED20-D747-577AC183F35A}"/>
                </a:ext>
              </a:extLst>
            </p:cNvPr>
            <p:cNvGrpSpPr/>
            <p:nvPr/>
          </p:nvGrpSpPr>
          <p:grpSpPr>
            <a:xfrm>
              <a:off x="954177" y="2096281"/>
              <a:ext cx="223757" cy="3502490"/>
              <a:chOff x="954177" y="2096281"/>
              <a:chExt cx="223757" cy="3502490"/>
            </a:xfrm>
          </p:grpSpPr>
          <p:grpSp>
            <p:nvGrpSpPr>
              <p:cNvPr id="52" name="Group 51">
                <a:extLst>
                  <a:ext uri="{FF2B5EF4-FFF2-40B4-BE49-F238E27FC236}">
                    <a16:creationId xmlns:a16="http://schemas.microsoft.com/office/drawing/2014/main" id="{31FDD173-6F99-B9A4-6021-BE979C3DEF8E}"/>
                  </a:ext>
                </a:extLst>
              </p:cNvPr>
              <p:cNvGrpSpPr/>
              <p:nvPr/>
            </p:nvGrpSpPr>
            <p:grpSpPr>
              <a:xfrm>
                <a:off x="954177" y="2096281"/>
                <a:ext cx="223757" cy="207986"/>
                <a:chOff x="6276975" y="3981450"/>
                <a:chExt cx="360363" cy="334963"/>
              </a:xfrm>
            </p:grpSpPr>
            <p:sp>
              <p:nvSpPr>
                <p:cNvPr id="73" name="Freeform 98">
                  <a:extLst>
                    <a:ext uri="{FF2B5EF4-FFF2-40B4-BE49-F238E27FC236}">
                      <a16:creationId xmlns:a16="http://schemas.microsoft.com/office/drawing/2014/main" id="{44F34C8D-0063-1882-CE4B-FA92B3FC17FF}"/>
                    </a:ext>
                  </a:extLst>
                </p:cNvPr>
                <p:cNvSpPr>
                  <a:spLocks noEditPoints="1"/>
                </p:cNvSpPr>
                <p:nvPr/>
              </p:nvSpPr>
              <p:spPr bwMode="auto">
                <a:xfrm>
                  <a:off x="6472238" y="3981450"/>
                  <a:ext cx="165100" cy="334963"/>
                </a:xfrm>
                <a:custGeom>
                  <a:avLst/>
                  <a:gdLst>
                    <a:gd name="T0" fmla="*/ 14 w 44"/>
                    <a:gd name="T1" fmla="*/ 37 h 89"/>
                    <a:gd name="T2" fmla="*/ 12 w 44"/>
                    <a:gd name="T3" fmla="*/ 39 h 89"/>
                    <a:gd name="T4" fmla="*/ 10 w 44"/>
                    <a:gd name="T5" fmla="*/ 37 h 89"/>
                    <a:gd name="T6" fmla="*/ 0 w 44"/>
                    <a:gd name="T7" fmla="*/ 31 h 89"/>
                    <a:gd name="T8" fmla="*/ 0 w 44"/>
                    <a:gd name="T9" fmla="*/ 67 h 89"/>
                    <a:gd name="T10" fmla="*/ 22 w 44"/>
                    <a:gd name="T11" fmla="*/ 89 h 89"/>
                    <a:gd name="T12" fmla="*/ 44 w 44"/>
                    <a:gd name="T13" fmla="*/ 67 h 89"/>
                    <a:gd name="T14" fmla="*/ 40 w 44"/>
                    <a:gd name="T15" fmla="*/ 54 h 89"/>
                    <a:gd name="T16" fmla="*/ 28 w 44"/>
                    <a:gd name="T17" fmla="*/ 26 h 89"/>
                    <a:gd name="T18" fmla="*/ 27 w 44"/>
                    <a:gd name="T19" fmla="*/ 26 h 89"/>
                    <a:gd name="T20" fmla="*/ 22 w 44"/>
                    <a:gd name="T21" fmla="*/ 20 h 89"/>
                    <a:gd name="T22" fmla="*/ 16 w 44"/>
                    <a:gd name="T23" fmla="*/ 5 h 89"/>
                    <a:gd name="T24" fmla="*/ 15 w 44"/>
                    <a:gd name="T25" fmla="*/ 4 h 89"/>
                    <a:gd name="T26" fmla="*/ 1 w 44"/>
                    <a:gd name="T27" fmla="*/ 4 h 89"/>
                    <a:gd name="T28" fmla="*/ 0 w 44"/>
                    <a:gd name="T29" fmla="*/ 5 h 89"/>
                    <a:gd name="T30" fmla="*/ 0 w 44"/>
                    <a:gd name="T31" fmla="*/ 27 h 89"/>
                    <a:gd name="T32" fmla="*/ 14 w 44"/>
                    <a:gd name="T33" fmla="*/ 37 h 89"/>
                    <a:gd name="T34" fmla="*/ 22 w 44"/>
                    <a:gd name="T35" fmla="*/ 85 h 89"/>
                    <a:gd name="T36" fmla="*/ 4 w 44"/>
                    <a:gd name="T37" fmla="*/ 67 h 89"/>
                    <a:gd name="T38" fmla="*/ 22 w 44"/>
                    <a:gd name="T39" fmla="*/ 49 h 89"/>
                    <a:gd name="T40" fmla="*/ 40 w 44"/>
                    <a:gd name="T41" fmla="*/ 67 h 89"/>
                    <a:gd name="T42" fmla="*/ 22 w 44"/>
                    <a:gd name="T43" fmla="*/ 8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89">
                      <a:moveTo>
                        <a:pt x="14" y="37"/>
                      </a:moveTo>
                      <a:cubicBezTo>
                        <a:pt x="14" y="38"/>
                        <a:pt x="13" y="39"/>
                        <a:pt x="12" y="39"/>
                      </a:cubicBezTo>
                      <a:cubicBezTo>
                        <a:pt x="11" y="39"/>
                        <a:pt x="10" y="38"/>
                        <a:pt x="10" y="37"/>
                      </a:cubicBezTo>
                      <a:cubicBezTo>
                        <a:pt x="10" y="35"/>
                        <a:pt x="6" y="32"/>
                        <a:pt x="0" y="31"/>
                      </a:cubicBezTo>
                      <a:cubicBezTo>
                        <a:pt x="0" y="67"/>
                        <a:pt x="0" y="67"/>
                        <a:pt x="0" y="67"/>
                      </a:cubicBezTo>
                      <a:cubicBezTo>
                        <a:pt x="0" y="79"/>
                        <a:pt x="10" y="89"/>
                        <a:pt x="22" y="89"/>
                      </a:cubicBezTo>
                      <a:cubicBezTo>
                        <a:pt x="34" y="89"/>
                        <a:pt x="44" y="79"/>
                        <a:pt x="44" y="67"/>
                      </a:cubicBezTo>
                      <a:cubicBezTo>
                        <a:pt x="44" y="62"/>
                        <a:pt x="42" y="58"/>
                        <a:pt x="40" y="54"/>
                      </a:cubicBezTo>
                      <a:cubicBezTo>
                        <a:pt x="28" y="26"/>
                        <a:pt x="28" y="26"/>
                        <a:pt x="28" y="26"/>
                      </a:cubicBezTo>
                      <a:cubicBezTo>
                        <a:pt x="28" y="26"/>
                        <a:pt x="28" y="26"/>
                        <a:pt x="27" y="26"/>
                      </a:cubicBezTo>
                      <a:cubicBezTo>
                        <a:pt x="22" y="20"/>
                        <a:pt x="22" y="20"/>
                        <a:pt x="22" y="20"/>
                      </a:cubicBezTo>
                      <a:cubicBezTo>
                        <a:pt x="16" y="5"/>
                        <a:pt x="16" y="5"/>
                        <a:pt x="16" y="5"/>
                      </a:cubicBezTo>
                      <a:cubicBezTo>
                        <a:pt x="16" y="4"/>
                        <a:pt x="16" y="4"/>
                        <a:pt x="15" y="4"/>
                      </a:cubicBezTo>
                      <a:cubicBezTo>
                        <a:pt x="12" y="0"/>
                        <a:pt x="4" y="0"/>
                        <a:pt x="1" y="4"/>
                      </a:cubicBezTo>
                      <a:cubicBezTo>
                        <a:pt x="0" y="4"/>
                        <a:pt x="0" y="5"/>
                        <a:pt x="0" y="5"/>
                      </a:cubicBezTo>
                      <a:cubicBezTo>
                        <a:pt x="0" y="27"/>
                        <a:pt x="0" y="27"/>
                        <a:pt x="0" y="27"/>
                      </a:cubicBezTo>
                      <a:cubicBezTo>
                        <a:pt x="8" y="28"/>
                        <a:pt x="14" y="32"/>
                        <a:pt x="14" y="37"/>
                      </a:cubicBezTo>
                      <a:close/>
                      <a:moveTo>
                        <a:pt x="22" y="85"/>
                      </a:moveTo>
                      <a:cubicBezTo>
                        <a:pt x="12" y="85"/>
                        <a:pt x="4" y="77"/>
                        <a:pt x="4" y="67"/>
                      </a:cubicBezTo>
                      <a:cubicBezTo>
                        <a:pt x="4" y="57"/>
                        <a:pt x="12" y="49"/>
                        <a:pt x="22" y="49"/>
                      </a:cubicBezTo>
                      <a:cubicBezTo>
                        <a:pt x="32" y="49"/>
                        <a:pt x="40" y="57"/>
                        <a:pt x="40" y="67"/>
                      </a:cubicBezTo>
                      <a:cubicBezTo>
                        <a:pt x="40" y="77"/>
                        <a:pt x="32" y="85"/>
                        <a:pt x="22" y="8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4" name="Freeform 99">
                  <a:extLst>
                    <a:ext uri="{FF2B5EF4-FFF2-40B4-BE49-F238E27FC236}">
                      <a16:creationId xmlns:a16="http://schemas.microsoft.com/office/drawing/2014/main" id="{8DFE3F28-351C-4B75-B181-87181F0B24E3}"/>
                    </a:ext>
                  </a:extLst>
                </p:cNvPr>
                <p:cNvSpPr>
                  <a:spLocks noEditPoints="1"/>
                </p:cNvSpPr>
                <p:nvPr/>
              </p:nvSpPr>
              <p:spPr bwMode="auto">
                <a:xfrm>
                  <a:off x="6276975" y="3981450"/>
                  <a:ext cx="165100" cy="334963"/>
                </a:xfrm>
                <a:custGeom>
                  <a:avLst/>
                  <a:gdLst>
                    <a:gd name="T0" fmla="*/ 0 w 44"/>
                    <a:gd name="T1" fmla="*/ 67 h 89"/>
                    <a:gd name="T2" fmla="*/ 22 w 44"/>
                    <a:gd name="T3" fmla="*/ 89 h 89"/>
                    <a:gd name="T4" fmla="*/ 44 w 44"/>
                    <a:gd name="T5" fmla="*/ 67 h 89"/>
                    <a:gd name="T6" fmla="*/ 44 w 44"/>
                    <a:gd name="T7" fmla="*/ 31 h 89"/>
                    <a:gd name="T8" fmla="*/ 34 w 44"/>
                    <a:gd name="T9" fmla="*/ 37 h 89"/>
                    <a:gd name="T10" fmla="*/ 32 w 44"/>
                    <a:gd name="T11" fmla="*/ 39 h 89"/>
                    <a:gd name="T12" fmla="*/ 30 w 44"/>
                    <a:gd name="T13" fmla="*/ 37 h 89"/>
                    <a:gd name="T14" fmla="*/ 44 w 44"/>
                    <a:gd name="T15" fmla="*/ 27 h 89"/>
                    <a:gd name="T16" fmla="*/ 44 w 44"/>
                    <a:gd name="T17" fmla="*/ 5 h 89"/>
                    <a:gd name="T18" fmla="*/ 43 w 44"/>
                    <a:gd name="T19" fmla="*/ 4 h 89"/>
                    <a:gd name="T20" fmla="*/ 29 w 44"/>
                    <a:gd name="T21" fmla="*/ 4 h 89"/>
                    <a:gd name="T22" fmla="*/ 28 w 44"/>
                    <a:gd name="T23" fmla="*/ 4 h 89"/>
                    <a:gd name="T24" fmla="*/ 22 w 44"/>
                    <a:gd name="T25" fmla="*/ 20 h 89"/>
                    <a:gd name="T26" fmla="*/ 17 w 44"/>
                    <a:gd name="T27" fmla="*/ 26 h 89"/>
                    <a:gd name="T28" fmla="*/ 16 w 44"/>
                    <a:gd name="T29" fmla="*/ 26 h 89"/>
                    <a:gd name="T30" fmla="*/ 4 w 44"/>
                    <a:gd name="T31" fmla="*/ 54 h 89"/>
                    <a:gd name="T32" fmla="*/ 0 w 44"/>
                    <a:gd name="T33" fmla="*/ 67 h 89"/>
                    <a:gd name="T34" fmla="*/ 22 w 44"/>
                    <a:gd name="T35" fmla="*/ 85 h 89"/>
                    <a:gd name="T36" fmla="*/ 4 w 44"/>
                    <a:gd name="T37" fmla="*/ 67 h 89"/>
                    <a:gd name="T38" fmla="*/ 22 w 44"/>
                    <a:gd name="T39" fmla="*/ 49 h 89"/>
                    <a:gd name="T40" fmla="*/ 40 w 44"/>
                    <a:gd name="T41" fmla="*/ 67 h 89"/>
                    <a:gd name="T42" fmla="*/ 22 w 44"/>
                    <a:gd name="T43" fmla="*/ 8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89">
                      <a:moveTo>
                        <a:pt x="0" y="67"/>
                      </a:moveTo>
                      <a:cubicBezTo>
                        <a:pt x="0" y="79"/>
                        <a:pt x="10" y="89"/>
                        <a:pt x="22" y="89"/>
                      </a:cubicBezTo>
                      <a:cubicBezTo>
                        <a:pt x="34" y="89"/>
                        <a:pt x="44" y="79"/>
                        <a:pt x="44" y="67"/>
                      </a:cubicBezTo>
                      <a:cubicBezTo>
                        <a:pt x="44" y="31"/>
                        <a:pt x="44" y="31"/>
                        <a:pt x="44" y="31"/>
                      </a:cubicBezTo>
                      <a:cubicBezTo>
                        <a:pt x="38" y="32"/>
                        <a:pt x="34" y="35"/>
                        <a:pt x="34" y="37"/>
                      </a:cubicBezTo>
                      <a:cubicBezTo>
                        <a:pt x="34" y="38"/>
                        <a:pt x="33" y="39"/>
                        <a:pt x="32" y="39"/>
                      </a:cubicBezTo>
                      <a:cubicBezTo>
                        <a:pt x="31" y="39"/>
                        <a:pt x="30" y="38"/>
                        <a:pt x="30" y="37"/>
                      </a:cubicBezTo>
                      <a:cubicBezTo>
                        <a:pt x="30" y="32"/>
                        <a:pt x="36" y="28"/>
                        <a:pt x="44" y="27"/>
                      </a:cubicBezTo>
                      <a:cubicBezTo>
                        <a:pt x="44" y="5"/>
                        <a:pt x="44" y="5"/>
                        <a:pt x="44" y="5"/>
                      </a:cubicBezTo>
                      <a:cubicBezTo>
                        <a:pt x="44" y="5"/>
                        <a:pt x="44" y="4"/>
                        <a:pt x="43" y="4"/>
                      </a:cubicBezTo>
                      <a:cubicBezTo>
                        <a:pt x="40" y="0"/>
                        <a:pt x="32" y="0"/>
                        <a:pt x="29" y="4"/>
                      </a:cubicBezTo>
                      <a:cubicBezTo>
                        <a:pt x="28" y="4"/>
                        <a:pt x="28" y="4"/>
                        <a:pt x="28" y="4"/>
                      </a:cubicBezTo>
                      <a:cubicBezTo>
                        <a:pt x="22" y="20"/>
                        <a:pt x="22" y="20"/>
                        <a:pt x="22" y="20"/>
                      </a:cubicBezTo>
                      <a:cubicBezTo>
                        <a:pt x="17" y="26"/>
                        <a:pt x="17" y="26"/>
                        <a:pt x="17" y="26"/>
                      </a:cubicBezTo>
                      <a:cubicBezTo>
                        <a:pt x="16" y="26"/>
                        <a:pt x="16" y="26"/>
                        <a:pt x="16" y="26"/>
                      </a:cubicBezTo>
                      <a:cubicBezTo>
                        <a:pt x="4" y="54"/>
                        <a:pt x="4" y="54"/>
                        <a:pt x="4" y="54"/>
                      </a:cubicBezTo>
                      <a:cubicBezTo>
                        <a:pt x="2" y="58"/>
                        <a:pt x="0" y="62"/>
                        <a:pt x="0" y="67"/>
                      </a:cubicBezTo>
                      <a:close/>
                      <a:moveTo>
                        <a:pt x="22" y="85"/>
                      </a:moveTo>
                      <a:cubicBezTo>
                        <a:pt x="12" y="85"/>
                        <a:pt x="4" y="77"/>
                        <a:pt x="4" y="67"/>
                      </a:cubicBezTo>
                      <a:cubicBezTo>
                        <a:pt x="4" y="57"/>
                        <a:pt x="12" y="49"/>
                        <a:pt x="22" y="49"/>
                      </a:cubicBezTo>
                      <a:cubicBezTo>
                        <a:pt x="32" y="49"/>
                        <a:pt x="40" y="57"/>
                        <a:pt x="40" y="67"/>
                      </a:cubicBezTo>
                      <a:cubicBezTo>
                        <a:pt x="40" y="77"/>
                        <a:pt x="32" y="85"/>
                        <a:pt x="22" y="8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5" name="Freeform 100">
                  <a:extLst>
                    <a:ext uri="{FF2B5EF4-FFF2-40B4-BE49-F238E27FC236}">
                      <a16:creationId xmlns:a16="http://schemas.microsoft.com/office/drawing/2014/main" id="{088A6284-223F-9F81-7A8E-FF6FD0EF4CEC}"/>
                    </a:ext>
                  </a:extLst>
                </p:cNvPr>
                <p:cNvSpPr>
                  <a:spLocks/>
                </p:cNvSpPr>
                <p:nvPr/>
              </p:nvSpPr>
              <p:spPr bwMode="auto">
                <a:xfrm>
                  <a:off x="6307138" y="4181475"/>
                  <a:ext cx="58738" cy="60325"/>
                </a:xfrm>
                <a:custGeom>
                  <a:avLst/>
                  <a:gdLst>
                    <a:gd name="T0" fmla="*/ 14 w 16"/>
                    <a:gd name="T1" fmla="*/ 4 h 16"/>
                    <a:gd name="T2" fmla="*/ 16 w 16"/>
                    <a:gd name="T3" fmla="*/ 2 h 16"/>
                    <a:gd name="T4" fmla="*/ 14 w 16"/>
                    <a:gd name="T5" fmla="*/ 0 h 16"/>
                    <a:gd name="T6" fmla="*/ 0 w 16"/>
                    <a:gd name="T7" fmla="*/ 14 h 16"/>
                    <a:gd name="T8" fmla="*/ 2 w 16"/>
                    <a:gd name="T9" fmla="*/ 16 h 16"/>
                    <a:gd name="T10" fmla="*/ 4 w 16"/>
                    <a:gd name="T11" fmla="*/ 14 h 16"/>
                    <a:gd name="T12" fmla="*/ 14 w 16"/>
                    <a:gd name="T13" fmla="*/ 4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14" y="4"/>
                      </a:moveTo>
                      <a:cubicBezTo>
                        <a:pt x="15" y="4"/>
                        <a:pt x="16" y="3"/>
                        <a:pt x="16" y="2"/>
                      </a:cubicBezTo>
                      <a:cubicBezTo>
                        <a:pt x="16" y="1"/>
                        <a:pt x="15" y="0"/>
                        <a:pt x="14" y="0"/>
                      </a:cubicBezTo>
                      <a:cubicBezTo>
                        <a:pt x="6" y="0"/>
                        <a:pt x="0" y="6"/>
                        <a:pt x="0" y="14"/>
                      </a:cubicBezTo>
                      <a:cubicBezTo>
                        <a:pt x="0" y="15"/>
                        <a:pt x="1" y="16"/>
                        <a:pt x="2" y="16"/>
                      </a:cubicBezTo>
                      <a:cubicBezTo>
                        <a:pt x="3" y="16"/>
                        <a:pt x="4" y="15"/>
                        <a:pt x="4" y="14"/>
                      </a:cubicBezTo>
                      <a:cubicBezTo>
                        <a:pt x="4" y="9"/>
                        <a:pt x="8" y="4"/>
                        <a:pt x="14" y="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6" name="Freeform 101">
                  <a:extLst>
                    <a:ext uri="{FF2B5EF4-FFF2-40B4-BE49-F238E27FC236}">
                      <a16:creationId xmlns:a16="http://schemas.microsoft.com/office/drawing/2014/main" id="{4F06836A-757F-8CD8-92D5-00336976A087}"/>
                    </a:ext>
                  </a:extLst>
                </p:cNvPr>
                <p:cNvSpPr>
                  <a:spLocks/>
                </p:cNvSpPr>
                <p:nvPr/>
              </p:nvSpPr>
              <p:spPr bwMode="auto">
                <a:xfrm>
                  <a:off x="6502400" y="4181475"/>
                  <a:ext cx="58738" cy="60325"/>
                </a:xfrm>
                <a:custGeom>
                  <a:avLst/>
                  <a:gdLst>
                    <a:gd name="T0" fmla="*/ 14 w 16"/>
                    <a:gd name="T1" fmla="*/ 4 h 16"/>
                    <a:gd name="T2" fmla="*/ 16 w 16"/>
                    <a:gd name="T3" fmla="*/ 2 h 16"/>
                    <a:gd name="T4" fmla="*/ 14 w 16"/>
                    <a:gd name="T5" fmla="*/ 0 h 16"/>
                    <a:gd name="T6" fmla="*/ 0 w 16"/>
                    <a:gd name="T7" fmla="*/ 14 h 16"/>
                    <a:gd name="T8" fmla="*/ 2 w 16"/>
                    <a:gd name="T9" fmla="*/ 16 h 16"/>
                    <a:gd name="T10" fmla="*/ 4 w 16"/>
                    <a:gd name="T11" fmla="*/ 14 h 16"/>
                    <a:gd name="T12" fmla="*/ 14 w 16"/>
                    <a:gd name="T13" fmla="*/ 4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14" y="4"/>
                      </a:moveTo>
                      <a:cubicBezTo>
                        <a:pt x="15" y="4"/>
                        <a:pt x="16" y="3"/>
                        <a:pt x="16" y="2"/>
                      </a:cubicBezTo>
                      <a:cubicBezTo>
                        <a:pt x="16" y="1"/>
                        <a:pt x="15" y="0"/>
                        <a:pt x="14" y="0"/>
                      </a:cubicBezTo>
                      <a:cubicBezTo>
                        <a:pt x="6" y="0"/>
                        <a:pt x="0" y="6"/>
                        <a:pt x="0" y="14"/>
                      </a:cubicBezTo>
                      <a:cubicBezTo>
                        <a:pt x="0" y="15"/>
                        <a:pt x="1" y="16"/>
                        <a:pt x="2" y="16"/>
                      </a:cubicBezTo>
                      <a:cubicBezTo>
                        <a:pt x="3" y="16"/>
                        <a:pt x="4" y="15"/>
                        <a:pt x="4" y="14"/>
                      </a:cubicBezTo>
                      <a:cubicBezTo>
                        <a:pt x="4" y="9"/>
                        <a:pt x="8" y="4"/>
                        <a:pt x="14" y="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53" name="Group 52">
                <a:extLst>
                  <a:ext uri="{FF2B5EF4-FFF2-40B4-BE49-F238E27FC236}">
                    <a16:creationId xmlns:a16="http://schemas.microsoft.com/office/drawing/2014/main" id="{E9F763E5-90FD-1767-3234-AEBC79CED1CB}"/>
                  </a:ext>
                </a:extLst>
              </p:cNvPr>
              <p:cNvGrpSpPr/>
              <p:nvPr/>
            </p:nvGrpSpPr>
            <p:grpSpPr>
              <a:xfrm>
                <a:off x="954177" y="2909435"/>
                <a:ext cx="223757" cy="224742"/>
                <a:chOff x="5554663" y="3248025"/>
                <a:chExt cx="360363" cy="361950"/>
              </a:xfrm>
            </p:grpSpPr>
            <p:sp>
              <p:nvSpPr>
                <p:cNvPr id="67" name="Rectangle 66">
                  <a:extLst>
                    <a:ext uri="{FF2B5EF4-FFF2-40B4-BE49-F238E27FC236}">
                      <a16:creationId xmlns:a16="http://schemas.microsoft.com/office/drawing/2014/main" id="{BA2B97BE-729A-8AA2-695A-0BF28DD3338D}"/>
                    </a:ext>
                  </a:extLst>
                </p:cNvPr>
                <p:cNvSpPr>
                  <a:spLocks noChangeArrowheads="1"/>
                </p:cNvSpPr>
                <p:nvPr/>
              </p:nvSpPr>
              <p:spPr bwMode="auto">
                <a:xfrm>
                  <a:off x="5743575" y="3489325"/>
                  <a:ext cx="66675"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8" name="Rectangle 67">
                  <a:extLst>
                    <a:ext uri="{FF2B5EF4-FFF2-40B4-BE49-F238E27FC236}">
                      <a16:creationId xmlns:a16="http://schemas.microsoft.com/office/drawing/2014/main" id="{C981E9C8-EA24-1CA6-1941-7A42EFA65163}"/>
                    </a:ext>
                  </a:extLst>
                </p:cNvPr>
                <p:cNvSpPr>
                  <a:spLocks noChangeArrowheads="1"/>
                </p:cNvSpPr>
                <p:nvPr/>
              </p:nvSpPr>
              <p:spPr bwMode="auto">
                <a:xfrm>
                  <a:off x="5661025" y="3489325"/>
                  <a:ext cx="66675"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9" name="Rectangle 68">
                  <a:extLst>
                    <a:ext uri="{FF2B5EF4-FFF2-40B4-BE49-F238E27FC236}">
                      <a16:creationId xmlns:a16="http://schemas.microsoft.com/office/drawing/2014/main" id="{B543D564-7404-1675-F810-9C252D105AAA}"/>
                    </a:ext>
                  </a:extLst>
                </p:cNvPr>
                <p:cNvSpPr>
                  <a:spLocks noChangeArrowheads="1"/>
                </p:cNvSpPr>
                <p:nvPr/>
              </p:nvSpPr>
              <p:spPr bwMode="auto">
                <a:xfrm>
                  <a:off x="5743575" y="3429000"/>
                  <a:ext cx="66675"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0" name="Rectangle 69">
                  <a:extLst>
                    <a:ext uri="{FF2B5EF4-FFF2-40B4-BE49-F238E27FC236}">
                      <a16:creationId xmlns:a16="http://schemas.microsoft.com/office/drawing/2014/main" id="{F0165E4B-EF21-6EBF-AA2E-67EA60666D37}"/>
                    </a:ext>
                  </a:extLst>
                </p:cNvPr>
                <p:cNvSpPr>
                  <a:spLocks noChangeArrowheads="1"/>
                </p:cNvSpPr>
                <p:nvPr/>
              </p:nvSpPr>
              <p:spPr bwMode="auto">
                <a:xfrm>
                  <a:off x="5661025" y="3429000"/>
                  <a:ext cx="66675" cy="460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1" name="Freeform 33">
                  <a:extLst>
                    <a:ext uri="{FF2B5EF4-FFF2-40B4-BE49-F238E27FC236}">
                      <a16:creationId xmlns:a16="http://schemas.microsoft.com/office/drawing/2014/main" id="{8D610917-BBAF-4A9E-6742-B3B802AAD4F4}"/>
                    </a:ext>
                  </a:extLst>
                </p:cNvPr>
                <p:cNvSpPr>
                  <a:spLocks noEditPoints="1"/>
                </p:cNvSpPr>
                <p:nvPr/>
              </p:nvSpPr>
              <p:spPr bwMode="auto">
                <a:xfrm>
                  <a:off x="5554663" y="3368675"/>
                  <a:ext cx="360363" cy="241300"/>
                </a:xfrm>
                <a:custGeom>
                  <a:avLst/>
                  <a:gdLst>
                    <a:gd name="T0" fmla="*/ 2 w 96"/>
                    <a:gd name="T1" fmla="*/ 64 h 64"/>
                    <a:gd name="T2" fmla="*/ 96 w 96"/>
                    <a:gd name="T3" fmla="*/ 62 h 64"/>
                    <a:gd name="T4" fmla="*/ 0 w 96"/>
                    <a:gd name="T5" fmla="*/ 0 h 64"/>
                    <a:gd name="T6" fmla="*/ 10 w 96"/>
                    <a:gd name="T7" fmla="*/ 32 h 64"/>
                    <a:gd name="T8" fmla="*/ 10 w 96"/>
                    <a:gd name="T9" fmla="*/ 28 h 64"/>
                    <a:gd name="T10" fmla="*/ 24 w 96"/>
                    <a:gd name="T11" fmla="*/ 16 h 64"/>
                    <a:gd name="T12" fmla="*/ 8 w 96"/>
                    <a:gd name="T13" fmla="*/ 14 h 64"/>
                    <a:gd name="T14" fmla="*/ 24 w 96"/>
                    <a:gd name="T15" fmla="*/ 12 h 64"/>
                    <a:gd name="T16" fmla="*/ 26 w 96"/>
                    <a:gd name="T17" fmla="*/ 4 h 64"/>
                    <a:gd name="T18" fmla="*/ 28 w 96"/>
                    <a:gd name="T19" fmla="*/ 12 h 64"/>
                    <a:gd name="T20" fmla="*/ 46 w 96"/>
                    <a:gd name="T21" fmla="*/ 6 h 64"/>
                    <a:gd name="T22" fmla="*/ 50 w 96"/>
                    <a:gd name="T23" fmla="*/ 6 h 64"/>
                    <a:gd name="T24" fmla="*/ 68 w 96"/>
                    <a:gd name="T25" fmla="*/ 12 h 64"/>
                    <a:gd name="T26" fmla="*/ 70 w 96"/>
                    <a:gd name="T27" fmla="*/ 4 h 64"/>
                    <a:gd name="T28" fmla="*/ 72 w 96"/>
                    <a:gd name="T29" fmla="*/ 12 h 64"/>
                    <a:gd name="T30" fmla="*/ 88 w 96"/>
                    <a:gd name="T31" fmla="*/ 14 h 64"/>
                    <a:gd name="T32" fmla="*/ 72 w 96"/>
                    <a:gd name="T33" fmla="*/ 16 h 64"/>
                    <a:gd name="T34" fmla="*/ 86 w 96"/>
                    <a:gd name="T35" fmla="*/ 28 h 64"/>
                    <a:gd name="T36" fmla="*/ 86 w 96"/>
                    <a:gd name="T37" fmla="*/ 32 h 64"/>
                    <a:gd name="T38" fmla="*/ 72 w 96"/>
                    <a:gd name="T39" fmla="*/ 44 h 64"/>
                    <a:gd name="T40" fmla="*/ 88 w 96"/>
                    <a:gd name="T41" fmla="*/ 46 h 64"/>
                    <a:gd name="T42" fmla="*/ 72 w 96"/>
                    <a:gd name="T43" fmla="*/ 48 h 64"/>
                    <a:gd name="T44" fmla="*/ 70 w 96"/>
                    <a:gd name="T45" fmla="*/ 56 h 64"/>
                    <a:gd name="T46" fmla="*/ 68 w 96"/>
                    <a:gd name="T47" fmla="*/ 48 h 64"/>
                    <a:gd name="T48" fmla="*/ 50 w 96"/>
                    <a:gd name="T49" fmla="*/ 54 h 64"/>
                    <a:gd name="T50" fmla="*/ 46 w 96"/>
                    <a:gd name="T51" fmla="*/ 54 h 64"/>
                    <a:gd name="T52" fmla="*/ 28 w 96"/>
                    <a:gd name="T53" fmla="*/ 48 h 64"/>
                    <a:gd name="T54" fmla="*/ 26 w 96"/>
                    <a:gd name="T55" fmla="*/ 56 h 64"/>
                    <a:gd name="T56" fmla="*/ 24 w 96"/>
                    <a:gd name="T57" fmla="*/ 48 h 64"/>
                    <a:gd name="T58" fmla="*/ 8 w 96"/>
                    <a:gd name="T59" fmla="*/ 46 h 64"/>
                    <a:gd name="T60" fmla="*/ 24 w 96"/>
                    <a:gd name="T61" fmla="*/ 44 h 64"/>
                    <a:gd name="T62" fmla="*/ 10 w 96"/>
                    <a:gd name="T63"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 h="64">
                      <a:moveTo>
                        <a:pt x="0" y="62"/>
                      </a:moveTo>
                      <a:cubicBezTo>
                        <a:pt x="0" y="63"/>
                        <a:pt x="1" y="64"/>
                        <a:pt x="2" y="64"/>
                      </a:cubicBezTo>
                      <a:cubicBezTo>
                        <a:pt x="94" y="64"/>
                        <a:pt x="94" y="64"/>
                        <a:pt x="94" y="64"/>
                      </a:cubicBezTo>
                      <a:cubicBezTo>
                        <a:pt x="95" y="64"/>
                        <a:pt x="96" y="63"/>
                        <a:pt x="96" y="62"/>
                      </a:cubicBezTo>
                      <a:cubicBezTo>
                        <a:pt x="96" y="0"/>
                        <a:pt x="96" y="0"/>
                        <a:pt x="96" y="0"/>
                      </a:cubicBezTo>
                      <a:cubicBezTo>
                        <a:pt x="0" y="0"/>
                        <a:pt x="0" y="0"/>
                        <a:pt x="0" y="0"/>
                      </a:cubicBezTo>
                      <a:lnTo>
                        <a:pt x="0" y="62"/>
                      </a:lnTo>
                      <a:close/>
                      <a:moveTo>
                        <a:pt x="10" y="32"/>
                      </a:moveTo>
                      <a:cubicBezTo>
                        <a:pt x="9" y="32"/>
                        <a:pt x="8" y="31"/>
                        <a:pt x="8" y="30"/>
                      </a:cubicBezTo>
                      <a:cubicBezTo>
                        <a:pt x="8" y="29"/>
                        <a:pt x="9" y="28"/>
                        <a:pt x="10" y="28"/>
                      </a:cubicBezTo>
                      <a:cubicBezTo>
                        <a:pt x="24" y="28"/>
                        <a:pt x="24" y="28"/>
                        <a:pt x="24" y="28"/>
                      </a:cubicBezTo>
                      <a:cubicBezTo>
                        <a:pt x="24" y="16"/>
                        <a:pt x="24" y="16"/>
                        <a:pt x="24" y="16"/>
                      </a:cubicBezTo>
                      <a:cubicBezTo>
                        <a:pt x="10" y="16"/>
                        <a:pt x="10" y="16"/>
                        <a:pt x="10" y="16"/>
                      </a:cubicBezTo>
                      <a:cubicBezTo>
                        <a:pt x="9" y="16"/>
                        <a:pt x="8" y="15"/>
                        <a:pt x="8" y="14"/>
                      </a:cubicBezTo>
                      <a:cubicBezTo>
                        <a:pt x="8" y="13"/>
                        <a:pt x="9" y="12"/>
                        <a:pt x="10" y="12"/>
                      </a:cubicBezTo>
                      <a:cubicBezTo>
                        <a:pt x="24" y="12"/>
                        <a:pt x="24" y="12"/>
                        <a:pt x="24" y="12"/>
                      </a:cubicBezTo>
                      <a:cubicBezTo>
                        <a:pt x="24" y="6"/>
                        <a:pt x="24" y="6"/>
                        <a:pt x="24" y="6"/>
                      </a:cubicBezTo>
                      <a:cubicBezTo>
                        <a:pt x="24" y="5"/>
                        <a:pt x="25" y="4"/>
                        <a:pt x="26" y="4"/>
                      </a:cubicBezTo>
                      <a:cubicBezTo>
                        <a:pt x="27" y="4"/>
                        <a:pt x="28" y="5"/>
                        <a:pt x="28" y="6"/>
                      </a:cubicBezTo>
                      <a:cubicBezTo>
                        <a:pt x="28" y="12"/>
                        <a:pt x="28" y="12"/>
                        <a:pt x="28" y="12"/>
                      </a:cubicBezTo>
                      <a:cubicBezTo>
                        <a:pt x="46" y="12"/>
                        <a:pt x="46" y="12"/>
                        <a:pt x="46" y="12"/>
                      </a:cubicBezTo>
                      <a:cubicBezTo>
                        <a:pt x="46" y="6"/>
                        <a:pt x="46" y="6"/>
                        <a:pt x="46" y="6"/>
                      </a:cubicBezTo>
                      <a:cubicBezTo>
                        <a:pt x="46" y="5"/>
                        <a:pt x="47" y="4"/>
                        <a:pt x="48" y="4"/>
                      </a:cubicBezTo>
                      <a:cubicBezTo>
                        <a:pt x="49" y="4"/>
                        <a:pt x="50" y="5"/>
                        <a:pt x="50" y="6"/>
                      </a:cubicBezTo>
                      <a:cubicBezTo>
                        <a:pt x="50" y="12"/>
                        <a:pt x="50" y="12"/>
                        <a:pt x="50" y="12"/>
                      </a:cubicBezTo>
                      <a:cubicBezTo>
                        <a:pt x="68" y="12"/>
                        <a:pt x="68" y="12"/>
                        <a:pt x="68" y="12"/>
                      </a:cubicBezTo>
                      <a:cubicBezTo>
                        <a:pt x="68" y="6"/>
                        <a:pt x="68" y="6"/>
                        <a:pt x="68" y="6"/>
                      </a:cubicBezTo>
                      <a:cubicBezTo>
                        <a:pt x="68" y="5"/>
                        <a:pt x="69" y="4"/>
                        <a:pt x="70" y="4"/>
                      </a:cubicBezTo>
                      <a:cubicBezTo>
                        <a:pt x="71" y="4"/>
                        <a:pt x="72" y="5"/>
                        <a:pt x="72" y="6"/>
                      </a:cubicBezTo>
                      <a:cubicBezTo>
                        <a:pt x="72" y="12"/>
                        <a:pt x="72" y="12"/>
                        <a:pt x="72" y="12"/>
                      </a:cubicBezTo>
                      <a:cubicBezTo>
                        <a:pt x="86" y="12"/>
                        <a:pt x="86" y="12"/>
                        <a:pt x="86" y="12"/>
                      </a:cubicBezTo>
                      <a:cubicBezTo>
                        <a:pt x="87" y="12"/>
                        <a:pt x="88" y="13"/>
                        <a:pt x="88" y="14"/>
                      </a:cubicBezTo>
                      <a:cubicBezTo>
                        <a:pt x="88" y="15"/>
                        <a:pt x="87" y="16"/>
                        <a:pt x="86" y="16"/>
                      </a:cubicBezTo>
                      <a:cubicBezTo>
                        <a:pt x="72" y="16"/>
                        <a:pt x="72" y="16"/>
                        <a:pt x="72" y="16"/>
                      </a:cubicBezTo>
                      <a:cubicBezTo>
                        <a:pt x="72" y="28"/>
                        <a:pt x="72" y="28"/>
                        <a:pt x="72" y="28"/>
                      </a:cubicBezTo>
                      <a:cubicBezTo>
                        <a:pt x="86" y="28"/>
                        <a:pt x="86" y="28"/>
                        <a:pt x="86" y="28"/>
                      </a:cubicBezTo>
                      <a:cubicBezTo>
                        <a:pt x="87" y="28"/>
                        <a:pt x="88" y="29"/>
                        <a:pt x="88" y="30"/>
                      </a:cubicBezTo>
                      <a:cubicBezTo>
                        <a:pt x="88" y="31"/>
                        <a:pt x="87" y="32"/>
                        <a:pt x="86" y="32"/>
                      </a:cubicBezTo>
                      <a:cubicBezTo>
                        <a:pt x="72" y="32"/>
                        <a:pt x="72" y="32"/>
                        <a:pt x="72" y="32"/>
                      </a:cubicBezTo>
                      <a:cubicBezTo>
                        <a:pt x="72" y="44"/>
                        <a:pt x="72" y="44"/>
                        <a:pt x="72" y="44"/>
                      </a:cubicBezTo>
                      <a:cubicBezTo>
                        <a:pt x="86" y="44"/>
                        <a:pt x="86" y="44"/>
                        <a:pt x="86" y="44"/>
                      </a:cubicBezTo>
                      <a:cubicBezTo>
                        <a:pt x="87" y="44"/>
                        <a:pt x="88" y="45"/>
                        <a:pt x="88" y="46"/>
                      </a:cubicBezTo>
                      <a:cubicBezTo>
                        <a:pt x="88" y="47"/>
                        <a:pt x="87" y="48"/>
                        <a:pt x="86" y="48"/>
                      </a:cubicBezTo>
                      <a:cubicBezTo>
                        <a:pt x="72" y="48"/>
                        <a:pt x="72" y="48"/>
                        <a:pt x="72" y="48"/>
                      </a:cubicBezTo>
                      <a:cubicBezTo>
                        <a:pt x="72" y="54"/>
                        <a:pt x="72" y="54"/>
                        <a:pt x="72" y="54"/>
                      </a:cubicBezTo>
                      <a:cubicBezTo>
                        <a:pt x="72" y="55"/>
                        <a:pt x="71" y="56"/>
                        <a:pt x="70" y="56"/>
                      </a:cubicBezTo>
                      <a:cubicBezTo>
                        <a:pt x="69" y="56"/>
                        <a:pt x="68" y="55"/>
                        <a:pt x="68" y="54"/>
                      </a:cubicBezTo>
                      <a:cubicBezTo>
                        <a:pt x="68" y="48"/>
                        <a:pt x="68" y="48"/>
                        <a:pt x="68" y="48"/>
                      </a:cubicBezTo>
                      <a:cubicBezTo>
                        <a:pt x="50" y="48"/>
                        <a:pt x="50" y="48"/>
                        <a:pt x="50" y="48"/>
                      </a:cubicBezTo>
                      <a:cubicBezTo>
                        <a:pt x="50" y="54"/>
                        <a:pt x="50" y="54"/>
                        <a:pt x="50" y="54"/>
                      </a:cubicBezTo>
                      <a:cubicBezTo>
                        <a:pt x="50" y="55"/>
                        <a:pt x="49" y="56"/>
                        <a:pt x="48" y="56"/>
                      </a:cubicBezTo>
                      <a:cubicBezTo>
                        <a:pt x="47" y="56"/>
                        <a:pt x="46" y="55"/>
                        <a:pt x="46" y="54"/>
                      </a:cubicBezTo>
                      <a:cubicBezTo>
                        <a:pt x="46" y="48"/>
                        <a:pt x="46" y="48"/>
                        <a:pt x="46" y="48"/>
                      </a:cubicBezTo>
                      <a:cubicBezTo>
                        <a:pt x="28" y="48"/>
                        <a:pt x="28" y="48"/>
                        <a:pt x="28" y="48"/>
                      </a:cubicBezTo>
                      <a:cubicBezTo>
                        <a:pt x="28" y="54"/>
                        <a:pt x="28" y="54"/>
                        <a:pt x="28" y="54"/>
                      </a:cubicBezTo>
                      <a:cubicBezTo>
                        <a:pt x="28" y="55"/>
                        <a:pt x="27" y="56"/>
                        <a:pt x="26" y="56"/>
                      </a:cubicBezTo>
                      <a:cubicBezTo>
                        <a:pt x="25" y="56"/>
                        <a:pt x="24" y="55"/>
                        <a:pt x="24" y="54"/>
                      </a:cubicBezTo>
                      <a:cubicBezTo>
                        <a:pt x="24" y="48"/>
                        <a:pt x="24" y="48"/>
                        <a:pt x="24" y="48"/>
                      </a:cubicBezTo>
                      <a:cubicBezTo>
                        <a:pt x="10" y="48"/>
                        <a:pt x="10" y="48"/>
                        <a:pt x="10" y="48"/>
                      </a:cubicBezTo>
                      <a:cubicBezTo>
                        <a:pt x="9" y="48"/>
                        <a:pt x="8" y="47"/>
                        <a:pt x="8" y="46"/>
                      </a:cubicBezTo>
                      <a:cubicBezTo>
                        <a:pt x="8" y="45"/>
                        <a:pt x="9" y="44"/>
                        <a:pt x="10" y="44"/>
                      </a:cubicBezTo>
                      <a:cubicBezTo>
                        <a:pt x="24" y="44"/>
                        <a:pt x="24" y="44"/>
                        <a:pt x="24" y="44"/>
                      </a:cubicBezTo>
                      <a:cubicBezTo>
                        <a:pt x="24" y="32"/>
                        <a:pt x="24" y="32"/>
                        <a:pt x="24" y="32"/>
                      </a:cubicBezTo>
                      <a:lnTo>
                        <a:pt x="10"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2" name="Freeform 34">
                  <a:extLst>
                    <a:ext uri="{FF2B5EF4-FFF2-40B4-BE49-F238E27FC236}">
                      <a16:creationId xmlns:a16="http://schemas.microsoft.com/office/drawing/2014/main" id="{1DB63D3F-9059-2EC3-F8F4-BDDD4FCD99E3}"/>
                    </a:ext>
                  </a:extLst>
                </p:cNvPr>
                <p:cNvSpPr>
                  <a:spLocks noEditPoints="1"/>
                </p:cNvSpPr>
                <p:nvPr/>
              </p:nvSpPr>
              <p:spPr bwMode="auto">
                <a:xfrm>
                  <a:off x="5554663" y="3248025"/>
                  <a:ext cx="360363" cy="106363"/>
                </a:xfrm>
                <a:custGeom>
                  <a:avLst/>
                  <a:gdLst>
                    <a:gd name="T0" fmla="*/ 94 w 96"/>
                    <a:gd name="T1" fmla="*/ 8 h 28"/>
                    <a:gd name="T2" fmla="*/ 80 w 96"/>
                    <a:gd name="T3" fmla="*/ 8 h 28"/>
                    <a:gd name="T4" fmla="*/ 80 w 96"/>
                    <a:gd name="T5" fmla="*/ 2 h 28"/>
                    <a:gd name="T6" fmla="*/ 78 w 96"/>
                    <a:gd name="T7" fmla="*/ 0 h 28"/>
                    <a:gd name="T8" fmla="*/ 66 w 96"/>
                    <a:gd name="T9" fmla="*/ 0 h 28"/>
                    <a:gd name="T10" fmla="*/ 64 w 96"/>
                    <a:gd name="T11" fmla="*/ 2 h 28"/>
                    <a:gd name="T12" fmla="*/ 64 w 96"/>
                    <a:gd name="T13" fmla="*/ 8 h 28"/>
                    <a:gd name="T14" fmla="*/ 32 w 96"/>
                    <a:gd name="T15" fmla="*/ 8 h 28"/>
                    <a:gd name="T16" fmla="*/ 32 w 96"/>
                    <a:gd name="T17" fmla="*/ 2 h 28"/>
                    <a:gd name="T18" fmla="*/ 30 w 96"/>
                    <a:gd name="T19" fmla="*/ 0 h 28"/>
                    <a:gd name="T20" fmla="*/ 18 w 96"/>
                    <a:gd name="T21" fmla="*/ 0 h 28"/>
                    <a:gd name="T22" fmla="*/ 16 w 96"/>
                    <a:gd name="T23" fmla="*/ 2 h 28"/>
                    <a:gd name="T24" fmla="*/ 16 w 96"/>
                    <a:gd name="T25" fmla="*/ 8 h 28"/>
                    <a:gd name="T26" fmla="*/ 2 w 96"/>
                    <a:gd name="T27" fmla="*/ 8 h 28"/>
                    <a:gd name="T28" fmla="*/ 0 w 96"/>
                    <a:gd name="T29" fmla="*/ 10 h 28"/>
                    <a:gd name="T30" fmla="*/ 0 w 96"/>
                    <a:gd name="T31" fmla="*/ 28 h 28"/>
                    <a:gd name="T32" fmla="*/ 96 w 96"/>
                    <a:gd name="T33" fmla="*/ 28 h 28"/>
                    <a:gd name="T34" fmla="*/ 96 w 96"/>
                    <a:gd name="T35" fmla="*/ 10 h 28"/>
                    <a:gd name="T36" fmla="*/ 94 w 96"/>
                    <a:gd name="T37" fmla="*/ 8 h 28"/>
                    <a:gd name="T38" fmla="*/ 28 w 96"/>
                    <a:gd name="T39" fmla="*/ 16 h 28"/>
                    <a:gd name="T40" fmla="*/ 20 w 96"/>
                    <a:gd name="T41" fmla="*/ 16 h 28"/>
                    <a:gd name="T42" fmla="*/ 20 w 96"/>
                    <a:gd name="T43" fmla="*/ 4 h 28"/>
                    <a:gd name="T44" fmla="*/ 28 w 96"/>
                    <a:gd name="T45" fmla="*/ 4 h 28"/>
                    <a:gd name="T46" fmla="*/ 28 w 96"/>
                    <a:gd name="T47" fmla="*/ 16 h 28"/>
                    <a:gd name="T48" fmla="*/ 76 w 96"/>
                    <a:gd name="T49" fmla="*/ 16 h 28"/>
                    <a:gd name="T50" fmla="*/ 68 w 96"/>
                    <a:gd name="T51" fmla="*/ 16 h 28"/>
                    <a:gd name="T52" fmla="*/ 68 w 96"/>
                    <a:gd name="T53" fmla="*/ 4 h 28"/>
                    <a:gd name="T54" fmla="*/ 76 w 96"/>
                    <a:gd name="T55" fmla="*/ 4 h 28"/>
                    <a:gd name="T56" fmla="*/ 76 w 96"/>
                    <a:gd name="T57"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6" h="28">
                      <a:moveTo>
                        <a:pt x="94" y="8"/>
                      </a:moveTo>
                      <a:cubicBezTo>
                        <a:pt x="80" y="8"/>
                        <a:pt x="80" y="8"/>
                        <a:pt x="80" y="8"/>
                      </a:cubicBezTo>
                      <a:cubicBezTo>
                        <a:pt x="80" y="2"/>
                        <a:pt x="80" y="2"/>
                        <a:pt x="80" y="2"/>
                      </a:cubicBezTo>
                      <a:cubicBezTo>
                        <a:pt x="80" y="1"/>
                        <a:pt x="79" y="0"/>
                        <a:pt x="78" y="0"/>
                      </a:cubicBezTo>
                      <a:cubicBezTo>
                        <a:pt x="66" y="0"/>
                        <a:pt x="66" y="0"/>
                        <a:pt x="66" y="0"/>
                      </a:cubicBezTo>
                      <a:cubicBezTo>
                        <a:pt x="65" y="0"/>
                        <a:pt x="64" y="1"/>
                        <a:pt x="64" y="2"/>
                      </a:cubicBezTo>
                      <a:cubicBezTo>
                        <a:pt x="64" y="8"/>
                        <a:pt x="64" y="8"/>
                        <a:pt x="64" y="8"/>
                      </a:cubicBezTo>
                      <a:cubicBezTo>
                        <a:pt x="32" y="8"/>
                        <a:pt x="32" y="8"/>
                        <a:pt x="32" y="8"/>
                      </a:cubicBezTo>
                      <a:cubicBezTo>
                        <a:pt x="32" y="2"/>
                        <a:pt x="32" y="2"/>
                        <a:pt x="32" y="2"/>
                      </a:cubicBezTo>
                      <a:cubicBezTo>
                        <a:pt x="32" y="1"/>
                        <a:pt x="31" y="0"/>
                        <a:pt x="30" y="0"/>
                      </a:cubicBezTo>
                      <a:cubicBezTo>
                        <a:pt x="18" y="0"/>
                        <a:pt x="18" y="0"/>
                        <a:pt x="18" y="0"/>
                      </a:cubicBezTo>
                      <a:cubicBezTo>
                        <a:pt x="17" y="0"/>
                        <a:pt x="16" y="1"/>
                        <a:pt x="16" y="2"/>
                      </a:cubicBezTo>
                      <a:cubicBezTo>
                        <a:pt x="16" y="8"/>
                        <a:pt x="16" y="8"/>
                        <a:pt x="16" y="8"/>
                      </a:cubicBezTo>
                      <a:cubicBezTo>
                        <a:pt x="2" y="8"/>
                        <a:pt x="2" y="8"/>
                        <a:pt x="2" y="8"/>
                      </a:cubicBezTo>
                      <a:cubicBezTo>
                        <a:pt x="1" y="8"/>
                        <a:pt x="0" y="9"/>
                        <a:pt x="0" y="10"/>
                      </a:cubicBezTo>
                      <a:cubicBezTo>
                        <a:pt x="0" y="28"/>
                        <a:pt x="0" y="28"/>
                        <a:pt x="0" y="28"/>
                      </a:cubicBezTo>
                      <a:cubicBezTo>
                        <a:pt x="96" y="28"/>
                        <a:pt x="96" y="28"/>
                        <a:pt x="96" y="28"/>
                      </a:cubicBezTo>
                      <a:cubicBezTo>
                        <a:pt x="96" y="10"/>
                        <a:pt x="96" y="10"/>
                        <a:pt x="96" y="10"/>
                      </a:cubicBezTo>
                      <a:cubicBezTo>
                        <a:pt x="96" y="9"/>
                        <a:pt x="95" y="8"/>
                        <a:pt x="94" y="8"/>
                      </a:cubicBezTo>
                      <a:close/>
                      <a:moveTo>
                        <a:pt x="28" y="16"/>
                      </a:moveTo>
                      <a:cubicBezTo>
                        <a:pt x="20" y="16"/>
                        <a:pt x="20" y="16"/>
                        <a:pt x="20" y="16"/>
                      </a:cubicBezTo>
                      <a:cubicBezTo>
                        <a:pt x="20" y="4"/>
                        <a:pt x="20" y="4"/>
                        <a:pt x="20" y="4"/>
                      </a:cubicBezTo>
                      <a:cubicBezTo>
                        <a:pt x="28" y="4"/>
                        <a:pt x="28" y="4"/>
                        <a:pt x="28" y="4"/>
                      </a:cubicBezTo>
                      <a:lnTo>
                        <a:pt x="28" y="16"/>
                      </a:lnTo>
                      <a:close/>
                      <a:moveTo>
                        <a:pt x="76" y="16"/>
                      </a:moveTo>
                      <a:cubicBezTo>
                        <a:pt x="68" y="16"/>
                        <a:pt x="68" y="16"/>
                        <a:pt x="68" y="16"/>
                      </a:cubicBezTo>
                      <a:cubicBezTo>
                        <a:pt x="68" y="4"/>
                        <a:pt x="68" y="4"/>
                        <a:pt x="68" y="4"/>
                      </a:cubicBezTo>
                      <a:cubicBezTo>
                        <a:pt x="76" y="4"/>
                        <a:pt x="76" y="4"/>
                        <a:pt x="76" y="4"/>
                      </a:cubicBezTo>
                      <a:lnTo>
                        <a:pt x="76"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54" name="Group 53">
                <a:extLst>
                  <a:ext uri="{FF2B5EF4-FFF2-40B4-BE49-F238E27FC236}">
                    <a16:creationId xmlns:a16="http://schemas.microsoft.com/office/drawing/2014/main" id="{610DA63F-9612-EAC1-C79A-23FB421EA393}"/>
                  </a:ext>
                </a:extLst>
              </p:cNvPr>
              <p:cNvGrpSpPr/>
              <p:nvPr/>
            </p:nvGrpSpPr>
            <p:grpSpPr>
              <a:xfrm>
                <a:off x="954177" y="4566792"/>
                <a:ext cx="223756" cy="196157"/>
                <a:chOff x="9161463" y="3305176"/>
                <a:chExt cx="360362" cy="315912"/>
              </a:xfrm>
            </p:grpSpPr>
            <p:sp>
              <p:nvSpPr>
                <p:cNvPr id="65" name="Freeform 80">
                  <a:extLst>
                    <a:ext uri="{FF2B5EF4-FFF2-40B4-BE49-F238E27FC236}">
                      <a16:creationId xmlns:a16="http://schemas.microsoft.com/office/drawing/2014/main" id="{2329E588-5AF0-8D9D-D70C-0443112CD4A0}"/>
                    </a:ext>
                  </a:extLst>
                </p:cNvPr>
                <p:cNvSpPr>
                  <a:spLocks/>
                </p:cNvSpPr>
                <p:nvPr/>
              </p:nvSpPr>
              <p:spPr bwMode="auto">
                <a:xfrm>
                  <a:off x="9161463" y="3379788"/>
                  <a:ext cx="285750" cy="241300"/>
                </a:xfrm>
                <a:custGeom>
                  <a:avLst/>
                  <a:gdLst>
                    <a:gd name="T0" fmla="*/ 68 w 76"/>
                    <a:gd name="T1" fmla="*/ 36 h 64"/>
                    <a:gd name="T2" fmla="*/ 28 w 76"/>
                    <a:gd name="T3" fmla="*/ 36 h 64"/>
                    <a:gd name="T4" fmla="*/ 26 w 76"/>
                    <a:gd name="T5" fmla="*/ 32 h 64"/>
                    <a:gd name="T6" fmla="*/ 18 w 76"/>
                    <a:gd name="T7" fmla="*/ 36 h 64"/>
                    <a:gd name="T8" fmla="*/ 16 w 76"/>
                    <a:gd name="T9" fmla="*/ 34 h 64"/>
                    <a:gd name="T10" fmla="*/ 18 w 76"/>
                    <a:gd name="T11" fmla="*/ 32 h 64"/>
                    <a:gd name="T12" fmla="*/ 30 w 76"/>
                    <a:gd name="T13" fmla="*/ 19 h 64"/>
                    <a:gd name="T14" fmla="*/ 32 w 76"/>
                    <a:gd name="T15" fmla="*/ 18 h 64"/>
                    <a:gd name="T16" fmla="*/ 38 w 76"/>
                    <a:gd name="T17" fmla="*/ 18 h 64"/>
                    <a:gd name="T18" fmla="*/ 48 w 76"/>
                    <a:gd name="T19" fmla="*/ 10 h 64"/>
                    <a:gd name="T20" fmla="*/ 48 w 76"/>
                    <a:gd name="T21" fmla="*/ 8 h 64"/>
                    <a:gd name="T22" fmla="*/ 38 w 76"/>
                    <a:gd name="T23" fmla="*/ 0 h 64"/>
                    <a:gd name="T24" fmla="*/ 26 w 76"/>
                    <a:gd name="T25" fmla="*/ 0 h 64"/>
                    <a:gd name="T26" fmla="*/ 20 w 76"/>
                    <a:gd name="T27" fmla="*/ 0 h 64"/>
                    <a:gd name="T28" fmla="*/ 20 w 76"/>
                    <a:gd name="T29" fmla="*/ 1 h 64"/>
                    <a:gd name="T30" fmla="*/ 0 w 76"/>
                    <a:gd name="T31" fmla="*/ 29 h 64"/>
                    <a:gd name="T32" fmla="*/ 0 w 76"/>
                    <a:gd name="T33" fmla="*/ 42 h 64"/>
                    <a:gd name="T34" fmla="*/ 22 w 76"/>
                    <a:gd name="T35" fmla="*/ 64 h 64"/>
                    <a:gd name="T36" fmla="*/ 52 w 76"/>
                    <a:gd name="T37" fmla="*/ 64 h 64"/>
                    <a:gd name="T38" fmla="*/ 60 w 76"/>
                    <a:gd name="T39" fmla="*/ 56 h 64"/>
                    <a:gd name="T40" fmla="*/ 59 w 76"/>
                    <a:gd name="T41" fmla="*/ 52 h 64"/>
                    <a:gd name="T42" fmla="*/ 68 w 76"/>
                    <a:gd name="T43" fmla="*/ 52 h 64"/>
                    <a:gd name="T44" fmla="*/ 76 w 76"/>
                    <a:gd name="T45" fmla="*/ 44 h 64"/>
                    <a:gd name="T46" fmla="*/ 68 w 76"/>
                    <a:gd name="T47" fmla="*/ 3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 h="64">
                      <a:moveTo>
                        <a:pt x="68" y="36"/>
                      </a:moveTo>
                      <a:cubicBezTo>
                        <a:pt x="28" y="36"/>
                        <a:pt x="28" y="36"/>
                        <a:pt x="28" y="36"/>
                      </a:cubicBezTo>
                      <a:cubicBezTo>
                        <a:pt x="27" y="36"/>
                        <a:pt x="26" y="35"/>
                        <a:pt x="26" y="32"/>
                      </a:cubicBezTo>
                      <a:cubicBezTo>
                        <a:pt x="24" y="34"/>
                        <a:pt x="21" y="36"/>
                        <a:pt x="18" y="36"/>
                      </a:cubicBezTo>
                      <a:cubicBezTo>
                        <a:pt x="17" y="36"/>
                        <a:pt x="16" y="35"/>
                        <a:pt x="16" y="34"/>
                      </a:cubicBezTo>
                      <a:cubicBezTo>
                        <a:pt x="16" y="33"/>
                        <a:pt x="17" y="32"/>
                        <a:pt x="18" y="32"/>
                      </a:cubicBezTo>
                      <a:cubicBezTo>
                        <a:pt x="23" y="32"/>
                        <a:pt x="29" y="23"/>
                        <a:pt x="30" y="19"/>
                      </a:cubicBezTo>
                      <a:cubicBezTo>
                        <a:pt x="30" y="18"/>
                        <a:pt x="31" y="18"/>
                        <a:pt x="32" y="18"/>
                      </a:cubicBezTo>
                      <a:cubicBezTo>
                        <a:pt x="38" y="18"/>
                        <a:pt x="38" y="18"/>
                        <a:pt x="38" y="18"/>
                      </a:cubicBezTo>
                      <a:cubicBezTo>
                        <a:pt x="45" y="18"/>
                        <a:pt x="48" y="13"/>
                        <a:pt x="48" y="10"/>
                      </a:cubicBezTo>
                      <a:cubicBezTo>
                        <a:pt x="48" y="8"/>
                        <a:pt x="48" y="8"/>
                        <a:pt x="48" y="8"/>
                      </a:cubicBezTo>
                      <a:cubicBezTo>
                        <a:pt x="48" y="5"/>
                        <a:pt x="45" y="0"/>
                        <a:pt x="38" y="0"/>
                      </a:cubicBezTo>
                      <a:cubicBezTo>
                        <a:pt x="26" y="0"/>
                        <a:pt x="26" y="0"/>
                        <a:pt x="26" y="0"/>
                      </a:cubicBezTo>
                      <a:cubicBezTo>
                        <a:pt x="20" y="0"/>
                        <a:pt x="20" y="0"/>
                        <a:pt x="20" y="0"/>
                      </a:cubicBezTo>
                      <a:cubicBezTo>
                        <a:pt x="20" y="1"/>
                        <a:pt x="20" y="1"/>
                        <a:pt x="20" y="1"/>
                      </a:cubicBezTo>
                      <a:cubicBezTo>
                        <a:pt x="12" y="2"/>
                        <a:pt x="0" y="8"/>
                        <a:pt x="0" y="29"/>
                      </a:cubicBezTo>
                      <a:cubicBezTo>
                        <a:pt x="0" y="42"/>
                        <a:pt x="0" y="42"/>
                        <a:pt x="0" y="42"/>
                      </a:cubicBezTo>
                      <a:cubicBezTo>
                        <a:pt x="0" y="54"/>
                        <a:pt x="10" y="64"/>
                        <a:pt x="22" y="64"/>
                      </a:cubicBezTo>
                      <a:cubicBezTo>
                        <a:pt x="52" y="64"/>
                        <a:pt x="52" y="64"/>
                        <a:pt x="52" y="64"/>
                      </a:cubicBezTo>
                      <a:cubicBezTo>
                        <a:pt x="56" y="64"/>
                        <a:pt x="60" y="60"/>
                        <a:pt x="60" y="56"/>
                      </a:cubicBezTo>
                      <a:cubicBezTo>
                        <a:pt x="60" y="55"/>
                        <a:pt x="60" y="53"/>
                        <a:pt x="59" y="52"/>
                      </a:cubicBezTo>
                      <a:cubicBezTo>
                        <a:pt x="68" y="52"/>
                        <a:pt x="68" y="52"/>
                        <a:pt x="68" y="52"/>
                      </a:cubicBezTo>
                      <a:cubicBezTo>
                        <a:pt x="72" y="52"/>
                        <a:pt x="76" y="48"/>
                        <a:pt x="76" y="44"/>
                      </a:cubicBezTo>
                      <a:cubicBezTo>
                        <a:pt x="76" y="40"/>
                        <a:pt x="72" y="36"/>
                        <a:pt x="68" y="3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6" name="Freeform 81">
                  <a:extLst>
                    <a:ext uri="{FF2B5EF4-FFF2-40B4-BE49-F238E27FC236}">
                      <a16:creationId xmlns:a16="http://schemas.microsoft.com/office/drawing/2014/main" id="{2B37421B-8632-6075-CC38-3D6145B4E88E}"/>
                    </a:ext>
                  </a:extLst>
                </p:cNvPr>
                <p:cNvSpPr>
                  <a:spLocks noEditPoints="1"/>
                </p:cNvSpPr>
                <p:nvPr/>
              </p:nvSpPr>
              <p:spPr bwMode="auto">
                <a:xfrm>
                  <a:off x="9236075" y="3305176"/>
                  <a:ext cx="285750" cy="195263"/>
                </a:xfrm>
                <a:custGeom>
                  <a:avLst/>
                  <a:gdLst>
                    <a:gd name="T0" fmla="*/ 32 w 76"/>
                    <a:gd name="T1" fmla="*/ 16 h 52"/>
                    <a:gd name="T2" fmla="*/ 76 w 76"/>
                    <a:gd name="T3" fmla="*/ 16 h 52"/>
                    <a:gd name="T4" fmla="*/ 76 w 76"/>
                    <a:gd name="T5" fmla="*/ 8 h 52"/>
                    <a:gd name="T6" fmla="*/ 68 w 76"/>
                    <a:gd name="T7" fmla="*/ 0 h 52"/>
                    <a:gd name="T8" fmla="*/ 8 w 76"/>
                    <a:gd name="T9" fmla="*/ 0 h 52"/>
                    <a:gd name="T10" fmla="*/ 0 w 76"/>
                    <a:gd name="T11" fmla="*/ 8 h 52"/>
                    <a:gd name="T12" fmla="*/ 0 w 76"/>
                    <a:gd name="T13" fmla="*/ 16 h 52"/>
                    <a:gd name="T14" fmla="*/ 18 w 76"/>
                    <a:gd name="T15" fmla="*/ 16 h 52"/>
                    <a:gd name="T16" fmla="*/ 32 w 76"/>
                    <a:gd name="T17" fmla="*/ 28 h 52"/>
                    <a:gd name="T18" fmla="*/ 32 w 76"/>
                    <a:gd name="T19" fmla="*/ 30 h 52"/>
                    <a:gd name="T20" fmla="*/ 18 w 76"/>
                    <a:gd name="T21" fmla="*/ 42 h 52"/>
                    <a:gd name="T22" fmla="*/ 13 w 76"/>
                    <a:gd name="T23" fmla="*/ 42 h 52"/>
                    <a:gd name="T24" fmla="*/ 7 w 76"/>
                    <a:gd name="T25" fmla="*/ 52 h 52"/>
                    <a:gd name="T26" fmla="*/ 8 w 76"/>
                    <a:gd name="T27" fmla="*/ 52 h 52"/>
                    <a:gd name="T28" fmla="*/ 68 w 76"/>
                    <a:gd name="T29" fmla="*/ 52 h 52"/>
                    <a:gd name="T30" fmla="*/ 76 w 76"/>
                    <a:gd name="T31" fmla="*/ 44 h 52"/>
                    <a:gd name="T32" fmla="*/ 76 w 76"/>
                    <a:gd name="T33" fmla="*/ 20 h 52"/>
                    <a:gd name="T34" fmla="*/ 32 w 76"/>
                    <a:gd name="T35" fmla="*/ 20 h 52"/>
                    <a:gd name="T36" fmla="*/ 30 w 76"/>
                    <a:gd name="T37" fmla="*/ 18 h 52"/>
                    <a:gd name="T38" fmla="*/ 32 w 76"/>
                    <a:gd name="T39" fmla="*/ 16 h 52"/>
                    <a:gd name="T40" fmla="*/ 54 w 76"/>
                    <a:gd name="T41" fmla="*/ 24 h 52"/>
                    <a:gd name="T42" fmla="*/ 66 w 76"/>
                    <a:gd name="T43" fmla="*/ 24 h 52"/>
                    <a:gd name="T44" fmla="*/ 68 w 76"/>
                    <a:gd name="T45" fmla="*/ 26 h 52"/>
                    <a:gd name="T46" fmla="*/ 66 w 76"/>
                    <a:gd name="T47" fmla="*/ 28 h 52"/>
                    <a:gd name="T48" fmla="*/ 54 w 76"/>
                    <a:gd name="T49" fmla="*/ 28 h 52"/>
                    <a:gd name="T50" fmla="*/ 52 w 76"/>
                    <a:gd name="T51" fmla="*/ 26 h 52"/>
                    <a:gd name="T52" fmla="*/ 54 w 76"/>
                    <a:gd name="T53" fmla="*/ 2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52">
                      <a:moveTo>
                        <a:pt x="32" y="16"/>
                      </a:moveTo>
                      <a:cubicBezTo>
                        <a:pt x="76" y="16"/>
                        <a:pt x="76" y="16"/>
                        <a:pt x="76" y="16"/>
                      </a:cubicBezTo>
                      <a:cubicBezTo>
                        <a:pt x="76" y="8"/>
                        <a:pt x="76" y="8"/>
                        <a:pt x="76" y="8"/>
                      </a:cubicBezTo>
                      <a:cubicBezTo>
                        <a:pt x="76" y="4"/>
                        <a:pt x="72" y="0"/>
                        <a:pt x="68" y="0"/>
                      </a:cubicBezTo>
                      <a:cubicBezTo>
                        <a:pt x="8" y="0"/>
                        <a:pt x="8" y="0"/>
                        <a:pt x="8" y="0"/>
                      </a:cubicBezTo>
                      <a:cubicBezTo>
                        <a:pt x="4" y="0"/>
                        <a:pt x="0" y="4"/>
                        <a:pt x="0" y="8"/>
                      </a:cubicBezTo>
                      <a:cubicBezTo>
                        <a:pt x="0" y="16"/>
                        <a:pt x="0" y="16"/>
                        <a:pt x="0" y="16"/>
                      </a:cubicBezTo>
                      <a:cubicBezTo>
                        <a:pt x="18" y="16"/>
                        <a:pt x="18" y="16"/>
                        <a:pt x="18" y="16"/>
                      </a:cubicBezTo>
                      <a:cubicBezTo>
                        <a:pt x="27" y="16"/>
                        <a:pt x="32" y="23"/>
                        <a:pt x="32" y="28"/>
                      </a:cubicBezTo>
                      <a:cubicBezTo>
                        <a:pt x="32" y="30"/>
                        <a:pt x="32" y="30"/>
                        <a:pt x="32" y="30"/>
                      </a:cubicBezTo>
                      <a:cubicBezTo>
                        <a:pt x="32" y="35"/>
                        <a:pt x="27" y="42"/>
                        <a:pt x="18" y="42"/>
                      </a:cubicBezTo>
                      <a:cubicBezTo>
                        <a:pt x="13" y="42"/>
                        <a:pt x="13" y="42"/>
                        <a:pt x="13" y="42"/>
                      </a:cubicBezTo>
                      <a:cubicBezTo>
                        <a:pt x="12" y="44"/>
                        <a:pt x="10" y="49"/>
                        <a:pt x="7" y="52"/>
                      </a:cubicBezTo>
                      <a:cubicBezTo>
                        <a:pt x="7" y="52"/>
                        <a:pt x="7" y="52"/>
                        <a:pt x="8" y="52"/>
                      </a:cubicBezTo>
                      <a:cubicBezTo>
                        <a:pt x="68" y="52"/>
                        <a:pt x="68" y="52"/>
                        <a:pt x="68" y="52"/>
                      </a:cubicBezTo>
                      <a:cubicBezTo>
                        <a:pt x="72" y="52"/>
                        <a:pt x="76" y="48"/>
                        <a:pt x="76" y="44"/>
                      </a:cubicBezTo>
                      <a:cubicBezTo>
                        <a:pt x="76" y="20"/>
                        <a:pt x="76" y="20"/>
                        <a:pt x="76" y="20"/>
                      </a:cubicBezTo>
                      <a:cubicBezTo>
                        <a:pt x="32" y="20"/>
                        <a:pt x="32" y="20"/>
                        <a:pt x="32" y="20"/>
                      </a:cubicBezTo>
                      <a:cubicBezTo>
                        <a:pt x="31" y="20"/>
                        <a:pt x="30" y="19"/>
                        <a:pt x="30" y="18"/>
                      </a:cubicBezTo>
                      <a:cubicBezTo>
                        <a:pt x="30" y="17"/>
                        <a:pt x="31" y="16"/>
                        <a:pt x="32" y="16"/>
                      </a:cubicBezTo>
                      <a:close/>
                      <a:moveTo>
                        <a:pt x="54" y="24"/>
                      </a:moveTo>
                      <a:cubicBezTo>
                        <a:pt x="66" y="24"/>
                        <a:pt x="66" y="24"/>
                        <a:pt x="66" y="24"/>
                      </a:cubicBezTo>
                      <a:cubicBezTo>
                        <a:pt x="67" y="24"/>
                        <a:pt x="68" y="25"/>
                        <a:pt x="68" y="26"/>
                      </a:cubicBezTo>
                      <a:cubicBezTo>
                        <a:pt x="68" y="27"/>
                        <a:pt x="67" y="28"/>
                        <a:pt x="66" y="28"/>
                      </a:cubicBezTo>
                      <a:cubicBezTo>
                        <a:pt x="54" y="28"/>
                        <a:pt x="54" y="28"/>
                        <a:pt x="54" y="28"/>
                      </a:cubicBezTo>
                      <a:cubicBezTo>
                        <a:pt x="53" y="28"/>
                        <a:pt x="52" y="27"/>
                        <a:pt x="52" y="26"/>
                      </a:cubicBezTo>
                      <a:cubicBezTo>
                        <a:pt x="52" y="25"/>
                        <a:pt x="53" y="24"/>
                        <a:pt x="54" y="2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nvGrpSpPr>
              <p:cNvPr id="55" name="Group 54">
                <a:extLst>
                  <a:ext uri="{FF2B5EF4-FFF2-40B4-BE49-F238E27FC236}">
                    <a16:creationId xmlns:a16="http://schemas.microsoft.com/office/drawing/2014/main" id="{A72707D4-364C-3CDE-7F96-5AB9F68801CC}"/>
                  </a:ext>
                </a:extLst>
              </p:cNvPr>
              <p:cNvGrpSpPr/>
              <p:nvPr/>
            </p:nvGrpSpPr>
            <p:grpSpPr>
              <a:xfrm>
                <a:off x="954177" y="5374029"/>
                <a:ext cx="223757" cy="224742"/>
                <a:chOff x="9161463" y="2535238"/>
                <a:chExt cx="360363" cy="361950"/>
              </a:xfrm>
            </p:grpSpPr>
            <p:sp>
              <p:nvSpPr>
                <p:cNvPr id="56" name="Freeform 111">
                  <a:extLst>
                    <a:ext uri="{FF2B5EF4-FFF2-40B4-BE49-F238E27FC236}">
                      <a16:creationId xmlns:a16="http://schemas.microsoft.com/office/drawing/2014/main" id="{25A41E68-AA61-3CD4-88F1-5084404AB9D3}"/>
                    </a:ext>
                  </a:extLst>
                </p:cNvPr>
                <p:cNvSpPr>
                  <a:spLocks/>
                </p:cNvSpPr>
                <p:nvPr/>
              </p:nvSpPr>
              <p:spPr bwMode="auto">
                <a:xfrm>
                  <a:off x="9161463" y="2682876"/>
                  <a:ext cx="239713" cy="49213"/>
                </a:xfrm>
                <a:custGeom>
                  <a:avLst/>
                  <a:gdLst>
                    <a:gd name="T0" fmla="*/ 32 w 64"/>
                    <a:gd name="T1" fmla="*/ 13 h 13"/>
                    <a:gd name="T2" fmla="*/ 37 w 64"/>
                    <a:gd name="T3" fmla="*/ 13 h 13"/>
                    <a:gd name="T4" fmla="*/ 64 w 64"/>
                    <a:gd name="T5" fmla="*/ 9 h 13"/>
                    <a:gd name="T6" fmla="*/ 64 w 64"/>
                    <a:gd name="T7" fmla="*/ 7 h 13"/>
                    <a:gd name="T8" fmla="*/ 64 w 64"/>
                    <a:gd name="T9" fmla="*/ 7 h 13"/>
                    <a:gd name="T10" fmla="*/ 64 w 64"/>
                    <a:gd name="T11" fmla="*/ 7 h 13"/>
                    <a:gd name="T12" fmla="*/ 64 w 64"/>
                    <a:gd name="T13" fmla="*/ 0 h 13"/>
                    <a:gd name="T14" fmla="*/ 32 w 64"/>
                    <a:gd name="T15" fmla="*/ 5 h 13"/>
                    <a:gd name="T16" fmla="*/ 0 w 64"/>
                    <a:gd name="T17" fmla="*/ 0 h 13"/>
                    <a:gd name="T18" fmla="*/ 0 w 64"/>
                    <a:gd name="T19" fmla="*/ 7 h 13"/>
                    <a:gd name="T20" fmla="*/ 32 w 64"/>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13">
                      <a:moveTo>
                        <a:pt x="32" y="13"/>
                      </a:moveTo>
                      <a:cubicBezTo>
                        <a:pt x="34" y="13"/>
                        <a:pt x="35" y="13"/>
                        <a:pt x="37" y="13"/>
                      </a:cubicBezTo>
                      <a:cubicBezTo>
                        <a:pt x="46" y="9"/>
                        <a:pt x="59" y="9"/>
                        <a:pt x="64" y="9"/>
                      </a:cubicBezTo>
                      <a:cubicBezTo>
                        <a:pt x="64" y="7"/>
                        <a:pt x="64" y="7"/>
                        <a:pt x="64" y="7"/>
                      </a:cubicBezTo>
                      <a:cubicBezTo>
                        <a:pt x="64" y="7"/>
                        <a:pt x="64" y="7"/>
                        <a:pt x="64" y="7"/>
                      </a:cubicBezTo>
                      <a:cubicBezTo>
                        <a:pt x="64" y="7"/>
                        <a:pt x="64" y="7"/>
                        <a:pt x="64" y="7"/>
                      </a:cubicBezTo>
                      <a:cubicBezTo>
                        <a:pt x="64" y="0"/>
                        <a:pt x="64" y="0"/>
                        <a:pt x="64" y="0"/>
                      </a:cubicBezTo>
                      <a:cubicBezTo>
                        <a:pt x="57" y="4"/>
                        <a:pt x="42" y="5"/>
                        <a:pt x="32" y="5"/>
                      </a:cubicBezTo>
                      <a:cubicBezTo>
                        <a:pt x="22" y="5"/>
                        <a:pt x="7" y="4"/>
                        <a:pt x="0" y="0"/>
                      </a:cubicBezTo>
                      <a:cubicBezTo>
                        <a:pt x="0" y="7"/>
                        <a:pt x="0" y="7"/>
                        <a:pt x="0" y="7"/>
                      </a:cubicBezTo>
                      <a:cubicBezTo>
                        <a:pt x="0" y="9"/>
                        <a:pt x="12" y="13"/>
                        <a:pt x="32"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7" name="Freeform 112">
                  <a:extLst>
                    <a:ext uri="{FF2B5EF4-FFF2-40B4-BE49-F238E27FC236}">
                      <a16:creationId xmlns:a16="http://schemas.microsoft.com/office/drawing/2014/main" id="{74C2BE51-0D26-0F17-D400-DA6F017AC315}"/>
                    </a:ext>
                  </a:extLst>
                </p:cNvPr>
                <p:cNvSpPr>
                  <a:spLocks/>
                </p:cNvSpPr>
                <p:nvPr/>
              </p:nvSpPr>
              <p:spPr bwMode="auto">
                <a:xfrm>
                  <a:off x="9161463" y="2592388"/>
                  <a:ext cx="239713" cy="49213"/>
                </a:xfrm>
                <a:custGeom>
                  <a:avLst/>
                  <a:gdLst>
                    <a:gd name="T0" fmla="*/ 32 w 64"/>
                    <a:gd name="T1" fmla="*/ 13 h 13"/>
                    <a:gd name="T2" fmla="*/ 64 w 64"/>
                    <a:gd name="T3" fmla="*/ 7 h 13"/>
                    <a:gd name="T4" fmla="*/ 64 w 64"/>
                    <a:gd name="T5" fmla="*/ 0 h 13"/>
                    <a:gd name="T6" fmla="*/ 32 w 64"/>
                    <a:gd name="T7" fmla="*/ 5 h 13"/>
                    <a:gd name="T8" fmla="*/ 0 w 64"/>
                    <a:gd name="T9" fmla="*/ 0 h 13"/>
                    <a:gd name="T10" fmla="*/ 0 w 64"/>
                    <a:gd name="T11" fmla="*/ 7 h 13"/>
                    <a:gd name="T12" fmla="*/ 32 w 64"/>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4" h="13">
                      <a:moveTo>
                        <a:pt x="32" y="13"/>
                      </a:moveTo>
                      <a:cubicBezTo>
                        <a:pt x="52" y="13"/>
                        <a:pt x="64" y="9"/>
                        <a:pt x="64" y="7"/>
                      </a:cubicBezTo>
                      <a:cubicBezTo>
                        <a:pt x="64" y="0"/>
                        <a:pt x="64" y="0"/>
                        <a:pt x="64" y="0"/>
                      </a:cubicBezTo>
                      <a:cubicBezTo>
                        <a:pt x="57" y="4"/>
                        <a:pt x="42" y="5"/>
                        <a:pt x="32" y="5"/>
                      </a:cubicBezTo>
                      <a:cubicBezTo>
                        <a:pt x="22" y="5"/>
                        <a:pt x="7" y="4"/>
                        <a:pt x="0" y="0"/>
                      </a:cubicBezTo>
                      <a:cubicBezTo>
                        <a:pt x="0" y="7"/>
                        <a:pt x="0" y="7"/>
                        <a:pt x="0" y="7"/>
                      </a:cubicBezTo>
                      <a:cubicBezTo>
                        <a:pt x="0" y="9"/>
                        <a:pt x="12" y="13"/>
                        <a:pt x="32"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8" name="Freeform 113">
                  <a:extLst>
                    <a:ext uri="{FF2B5EF4-FFF2-40B4-BE49-F238E27FC236}">
                      <a16:creationId xmlns:a16="http://schemas.microsoft.com/office/drawing/2014/main" id="{098E547C-2456-4AF0-59E2-3BDA6A9029F9}"/>
                    </a:ext>
                  </a:extLst>
                </p:cNvPr>
                <p:cNvSpPr>
                  <a:spLocks/>
                </p:cNvSpPr>
                <p:nvPr/>
              </p:nvSpPr>
              <p:spPr bwMode="auto">
                <a:xfrm>
                  <a:off x="9161463" y="2727326"/>
                  <a:ext cx="115888" cy="49213"/>
                </a:xfrm>
                <a:custGeom>
                  <a:avLst/>
                  <a:gdLst>
                    <a:gd name="T0" fmla="*/ 0 w 31"/>
                    <a:gd name="T1" fmla="*/ 7 h 13"/>
                    <a:gd name="T2" fmla="*/ 28 w 31"/>
                    <a:gd name="T3" fmla="*/ 13 h 13"/>
                    <a:gd name="T4" fmla="*/ 28 w 31"/>
                    <a:gd name="T5" fmla="*/ 11 h 13"/>
                    <a:gd name="T6" fmla="*/ 31 w 31"/>
                    <a:gd name="T7" fmla="*/ 5 h 13"/>
                    <a:gd name="T8" fmla="*/ 0 w 31"/>
                    <a:gd name="T9" fmla="*/ 0 h 13"/>
                    <a:gd name="T10" fmla="*/ 0 w 31"/>
                    <a:gd name="T11" fmla="*/ 7 h 13"/>
                  </a:gdLst>
                  <a:ahLst/>
                  <a:cxnLst>
                    <a:cxn ang="0">
                      <a:pos x="T0" y="T1"/>
                    </a:cxn>
                    <a:cxn ang="0">
                      <a:pos x="T2" y="T3"/>
                    </a:cxn>
                    <a:cxn ang="0">
                      <a:pos x="T4" y="T5"/>
                    </a:cxn>
                    <a:cxn ang="0">
                      <a:pos x="T6" y="T7"/>
                    </a:cxn>
                    <a:cxn ang="0">
                      <a:pos x="T8" y="T9"/>
                    </a:cxn>
                    <a:cxn ang="0">
                      <a:pos x="T10" y="T11"/>
                    </a:cxn>
                  </a:cxnLst>
                  <a:rect l="0" t="0" r="r" b="b"/>
                  <a:pathLst>
                    <a:path w="31" h="13">
                      <a:moveTo>
                        <a:pt x="0" y="7"/>
                      </a:moveTo>
                      <a:cubicBezTo>
                        <a:pt x="0" y="9"/>
                        <a:pt x="10" y="12"/>
                        <a:pt x="28" y="13"/>
                      </a:cubicBezTo>
                      <a:cubicBezTo>
                        <a:pt x="28" y="11"/>
                        <a:pt x="28" y="11"/>
                        <a:pt x="28" y="11"/>
                      </a:cubicBezTo>
                      <a:cubicBezTo>
                        <a:pt x="28" y="9"/>
                        <a:pt x="29" y="7"/>
                        <a:pt x="31" y="5"/>
                      </a:cubicBezTo>
                      <a:cubicBezTo>
                        <a:pt x="21" y="5"/>
                        <a:pt x="7" y="4"/>
                        <a:pt x="0" y="0"/>
                      </a:cubicBez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9" name="Freeform 114">
                  <a:extLst>
                    <a:ext uri="{FF2B5EF4-FFF2-40B4-BE49-F238E27FC236}">
                      <a16:creationId xmlns:a16="http://schemas.microsoft.com/office/drawing/2014/main" id="{D43020DD-EB0C-A8CF-7730-70CE3DB4AFA3}"/>
                    </a:ext>
                  </a:extLst>
                </p:cNvPr>
                <p:cNvSpPr>
                  <a:spLocks/>
                </p:cNvSpPr>
                <p:nvPr/>
              </p:nvSpPr>
              <p:spPr bwMode="auto">
                <a:xfrm>
                  <a:off x="9161463" y="2535238"/>
                  <a:ext cx="239713" cy="60325"/>
                </a:xfrm>
                <a:custGeom>
                  <a:avLst/>
                  <a:gdLst>
                    <a:gd name="T0" fmla="*/ 32 w 64"/>
                    <a:gd name="T1" fmla="*/ 16 h 16"/>
                    <a:gd name="T2" fmla="*/ 64 w 64"/>
                    <a:gd name="T3" fmla="*/ 10 h 16"/>
                    <a:gd name="T4" fmla="*/ 32 w 64"/>
                    <a:gd name="T5" fmla="*/ 0 h 16"/>
                    <a:gd name="T6" fmla="*/ 0 w 64"/>
                    <a:gd name="T7" fmla="*/ 10 h 16"/>
                    <a:gd name="T8" fmla="*/ 32 w 64"/>
                    <a:gd name="T9" fmla="*/ 16 h 16"/>
                  </a:gdLst>
                  <a:ahLst/>
                  <a:cxnLst>
                    <a:cxn ang="0">
                      <a:pos x="T0" y="T1"/>
                    </a:cxn>
                    <a:cxn ang="0">
                      <a:pos x="T2" y="T3"/>
                    </a:cxn>
                    <a:cxn ang="0">
                      <a:pos x="T4" y="T5"/>
                    </a:cxn>
                    <a:cxn ang="0">
                      <a:pos x="T6" y="T7"/>
                    </a:cxn>
                    <a:cxn ang="0">
                      <a:pos x="T8" y="T9"/>
                    </a:cxn>
                  </a:cxnLst>
                  <a:rect l="0" t="0" r="r" b="b"/>
                  <a:pathLst>
                    <a:path w="64" h="16">
                      <a:moveTo>
                        <a:pt x="32" y="16"/>
                      </a:moveTo>
                      <a:cubicBezTo>
                        <a:pt x="52" y="16"/>
                        <a:pt x="64" y="12"/>
                        <a:pt x="64" y="10"/>
                      </a:cubicBezTo>
                      <a:cubicBezTo>
                        <a:pt x="64" y="3"/>
                        <a:pt x="47" y="0"/>
                        <a:pt x="32" y="0"/>
                      </a:cubicBezTo>
                      <a:cubicBezTo>
                        <a:pt x="17" y="0"/>
                        <a:pt x="0" y="3"/>
                        <a:pt x="0" y="10"/>
                      </a:cubicBezTo>
                      <a:cubicBezTo>
                        <a:pt x="0" y="12"/>
                        <a:pt x="12" y="16"/>
                        <a:pt x="32" y="1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0" name="Freeform 115">
                  <a:extLst>
                    <a:ext uri="{FF2B5EF4-FFF2-40B4-BE49-F238E27FC236}">
                      <a16:creationId xmlns:a16="http://schemas.microsoft.com/office/drawing/2014/main" id="{2010F655-4A9B-04FB-8D18-E783AE024C29}"/>
                    </a:ext>
                  </a:extLst>
                </p:cNvPr>
                <p:cNvSpPr>
                  <a:spLocks/>
                </p:cNvSpPr>
                <p:nvPr/>
              </p:nvSpPr>
              <p:spPr bwMode="auto">
                <a:xfrm>
                  <a:off x="9161463" y="2636838"/>
                  <a:ext cx="239713" cy="49213"/>
                </a:xfrm>
                <a:custGeom>
                  <a:avLst/>
                  <a:gdLst>
                    <a:gd name="T0" fmla="*/ 32 w 64"/>
                    <a:gd name="T1" fmla="*/ 13 h 13"/>
                    <a:gd name="T2" fmla="*/ 64 w 64"/>
                    <a:gd name="T3" fmla="*/ 7 h 13"/>
                    <a:gd name="T4" fmla="*/ 64 w 64"/>
                    <a:gd name="T5" fmla="*/ 0 h 13"/>
                    <a:gd name="T6" fmla="*/ 32 w 64"/>
                    <a:gd name="T7" fmla="*/ 5 h 13"/>
                    <a:gd name="T8" fmla="*/ 0 w 64"/>
                    <a:gd name="T9" fmla="*/ 0 h 13"/>
                    <a:gd name="T10" fmla="*/ 0 w 64"/>
                    <a:gd name="T11" fmla="*/ 7 h 13"/>
                    <a:gd name="T12" fmla="*/ 32 w 64"/>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4" h="13">
                      <a:moveTo>
                        <a:pt x="32" y="13"/>
                      </a:moveTo>
                      <a:cubicBezTo>
                        <a:pt x="52" y="13"/>
                        <a:pt x="64" y="9"/>
                        <a:pt x="64" y="7"/>
                      </a:cubicBezTo>
                      <a:cubicBezTo>
                        <a:pt x="64" y="0"/>
                        <a:pt x="64" y="0"/>
                        <a:pt x="64" y="0"/>
                      </a:cubicBezTo>
                      <a:cubicBezTo>
                        <a:pt x="57" y="4"/>
                        <a:pt x="42" y="5"/>
                        <a:pt x="32" y="5"/>
                      </a:cubicBezTo>
                      <a:cubicBezTo>
                        <a:pt x="22" y="5"/>
                        <a:pt x="7" y="4"/>
                        <a:pt x="0" y="0"/>
                      </a:cubicBezTo>
                      <a:cubicBezTo>
                        <a:pt x="0" y="7"/>
                        <a:pt x="0" y="7"/>
                        <a:pt x="0" y="7"/>
                      </a:cubicBezTo>
                      <a:cubicBezTo>
                        <a:pt x="0" y="9"/>
                        <a:pt x="12" y="13"/>
                        <a:pt x="32"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1" name="Freeform 116">
                  <a:extLst>
                    <a:ext uri="{FF2B5EF4-FFF2-40B4-BE49-F238E27FC236}">
                      <a16:creationId xmlns:a16="http://schemas.microsoft.com/office/drawing/2014/main" id="{109E8EEF-EAF1-2733-4504-2BF35C521793}"/>
                    </a:ext>
                  </a:extLst>
                </p:cNvPr>
                <p:cNvSpPr>
                  <a:spLocks/>
                </p:cNvSpPr>
                <p:nvPr/>
              </p:nvSpPr>
              <p:spPr bwMode="auto">
                <a:xfrm>
                  <a:off x="9161463" y="2773363"/>
                  <a:ext cx="104775" cy="63500"/>
                </a:xfrm>
                <a:custGeom>
                  <a:avLst/>
                  <a:gdLst>
                    <a:gd name="T0" fmla="*/ 0 w 28"/>
                    <a:gd name="T1" fmla="*/ 7 h 17"/>
                    <a:gd name="T2" fmla="*/ 28 w 28"/>
                    <a:gd name="T3" fmla="*/ 17 h 17"/>
                    <a:gd name="T4" fmla="*/ 28 w 28"/>
                    <a:gd name="T5" fmla="*/ 5 h 17"/>
                    <a:gd name="T6" fmla="*/ 0 w 28"/>
                    <a:gd name="T7" fmla="*/ 0 h 17"/>
                    <a:gd name="T8" fmla="*/ 0 w 28"/>
                    <a:gd name="T9" fmla="*/ 7 h 17"/>
                  </a:gdLst>
                  <a:ahLst/>
                  <a:cxnLst>
                    <a:cxn ang="0">
                      <a:pos x="T0" y="T1"/>
                    </a:cxn>
                    <a:cxn ang="0">
                      <a:pos x="T2" y="T3"/>
                    </a:cxn>
                    <a:cxn ang="0">
                      <a:pos x="T4" y="T5"/>
                    </a:cxn>
                    <a:cxn ang="0">
                      <a:pos x="T6" y="T7"/>
                    </a:cxn>
                    <a:cxn ang="0">
                      <a:pos x="T8" y="T9"/>
                    </a:cxn>
                  </a:cxnLst>
                  <a:rect l="0" t="0" r="r" b="b"/>
                  <a:pathLst>
                    <a:path w="28" h="17">
                      <a:moveTo>
                        <a:pt x="0" y="7"/>
                      </a:moveTo>
                      <a:cubicBezTo>
                        <a:pt x="0" y="13"/>
                        <a:pt x="14" y="16"/>
                        <a:pt x="28" y="17"/>
                      </a:cubicBezTo>
                      <a:cubicBezTo>
                        <a:pt x="28" y="5"/>
                        <a:pt x="28" y="5"/>
                        <a:pt x="28" y="5"/>
                      </a:cubicBezTo>
                      <a:cubicBezTo>
                        <a:pt x="18" y="5"/>
                        <a:pt x="6" y="3"/>
                        <a:pt x="0" y="0"/>
                      </a:cubicBez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2" name="Freeform 117">
                  <a:extLst>
                    <a:ext uri="{FF2B5EF4-FFF2-40B4-BE49-F238E27FC236}">
                      <a16:creationId xmlns:a16="http://schemas.microsoft.com/office/drawing/2014/main" id="{CCA99C2E-854C-93E5-1B35-A3EB2C14D605}"/>
                    </a:ext>
                  </a:extLst>
                </p:cNvPr>
                <p:cNvSpPr>
                  <a:spLocks/>
                </p:cNvSpPr>
                <p:nvPr/>
              </p:nvSpPr>
              <p:spPr bwMode="auto">
                <a:xfrm>
                  <a:off x="9282113" y="2732088"/>
                  <a:ext cx="239713" cy="60325"/>
                </a:xfrm>
                <a:custGeom>
                  <a:avLst/>
                  <a:gdLst>
                    <a:gd name="T0" fmla="*/ 0 w 64"/>
                    <a:gd name="T1" fmla="*/ 10 h 16"/>
                    <a:gd name="T2" fmla="*/ 32 w 64"/>
                    <a:gd name="T3" fmla="*/ 16 h 16"/>
                    <a:gd name="T4" fmla="*/ 64 w 64"/>
                    <a:gd name="T5" fmla="*/ 10 h 16"/>
                    <a:gd name="T6" fmla="*/ 32 w 64"/>
                    <a:gd name="T7" fmla="*/ 0 h 16"/>
                    <a:gd name="T8" fmla="*/ 0 w 64"/>
                    <a:gd name="T9" fmla="*/ 10 h 16"/>
                  </a:gdLst>
                  <a:ahLst/>
                  <a:cxnLst>
                    <a:cxn ang="0">
                      <a:pos x="T0" y="T1"/>
                    </a:cxn>
                    <a:cxn ang="0">
                      <a:pos x="T2" y="T3"/>
                    </a:cxn>
                    <a:cxn ang="0">
                      <a:pos x="T4" y="T5"/>
                    </a:cxn>
                    <a:cxn ang="0">
                      <a:pos x="T6" y="T7"/>
                    </a:cxn>
                    <a:cxn ang="0">
                      <a:pos x="T8" y="T9"/>
                    </a:cxn>
                  </a:cxnLst>
                  <a:rect l="0" t="0" r="r" b="b"/>
                  <a:pathLst>
                    <a:path w="64" h="16">
                      <a:moveTo>
                        <a:pt x="0" y="10"/>
                      </a:moveTo>
                      <a:cubicBezTo>
                        <a:pt x="1" y="12"/>
                        <a:pt x="14" y="16"/>
                        <a:pt x="32" y="16"/>
                      </a:cubicBezTo>
                      <a:cubicBezTo>
                        <a:pt x="50" y="16"/>
                        <a:pt x="63" y="12"/>
                        <a:pt x="64" y="10"/>
                      </a:cubicBezTo>
                      <a:cubicBezTo>
                        <a:pt x="64" y="1"/>
                        <a:pt x="41" y="0"/>
                        <a:pt x="32" y="0"/>
                      </a:cubicBezTo>
                      <a:cubicBezTo>
                        <a:pt x="23" y="0"/>
                        <a:pt x="0" y="1"/>
                        <a:pt x="0"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3" name="Freeform 118">
                  <a:extLst>
                    <a:ext uri="{FF2B5EF4-FFF2-40B4-BE49-F238E27FC236}">
                      <a16:creationId xmlns:a16="http://schemas.microsoft.com/office/drawing/2014/main" id="{2C5E04E9-A64F-9E27-C4D1-1660C40CDFAC}"/>
                    </a:ext>
                  </a:extLst>
                </p:cNvPr>
                <p:cNvSpPr>
                  <a:spLocks/>
                </p:cNvSpPr>
                <p:nvPr/>
              </p:nvSpPr>
              <p:spPr bwMode="auto">
                <a:xfrm>
                  <a:off x="9282113" y="2833688"/>
                  <a:ext cx="239713" cy="63500"/>
                </a:xfrm>
                <a:custGeom>
                  <a:avLst/>
                  <a:gdLst>
                    <a:gd name="T0" fmla="*/ 0 w 64"/>
                    <a:gd name="T1" fmla="*/ 0 h 17"/>
                    <a:gd name="T2" fmla="*/ 0 w 64"/>
                    <a:gd name="T3" fmla="*/ 7 h 17"/>
                    <a:gd name="T4" fmla="*/ 32 w 64"/>
                    <a:gd name="T5" fmla="*/ 17 h 17"/>
                    <a:gd name="T6" fmla="*/ 64 w 64"/>
                    <a:gd name="T7" fmla="*/ 7 h 17"/>
                    <a:gd name="T8" fmla="*/ 64 w 64"/>
                    <a:gd name="T9" fmla="*/ 0 h 17"/>
                    <a:gd name="T10" fmla="*/ 32 w 64"/>
                    <a:gd name="T11" fmla="*/ 5 h 17"/>
                    <a:gd name="T12" fmla="*/ 0 w 6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0" y="0"/>
                      </a:moveTo>
                      <a:cubicBezTo>
                        <a:pt x="0" y="7"/>
                        <a:pt x="0" y="7"/>
                        <a:pt x="0" y="7"/>
                      </a:cubicBezTo>
                      <a:cubicBezTo>
                        <a:pt x="0" y="16"/>
                        <a:pt x="23" y="17"/>
                        <a:pt x="32" y="17"/>
                      </a:cubicBezTo>
                      <a:cubicBezTo>
                        <a:pt x="41" y="17"/>
                        <a:pt x="64" y="16"/>
                        <a:pt x="64" y="7"/>
                      </a:cubicBezTo>
                      <a:cubicBezTo>
                        <a:pt x="64" y="0"/>
                        <a:pt x="64" y="0"/>
                        <a:pt x="64" y="0"/>
                      </a:cubicBezTo>
                      <a:cubicBezTo>
                        <a:pt x="56" y="4"/>
                        <a:pt x="39" y="5"/>
                        <a:pt x="32" y="5"/>
                      </a:cubicBezTo>
                      <a:cubicBezTo>
                        <a:pt x="25" y="5"/>
                        <a:pt x="8" y="4"/>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64" name="Freeform 119">
                  <a:extLst>
                    <a:ext uri="{FF2B5EF4-FFF2-40B4-BE49-F238E27FC236}">
                      <a16:creationId xmlns:a16="http://schemas.microsoft.com/office/drawing/2014/main" id="{8253C627-2B1A-2EF9-B90E-BD53E402EA29}"/>
                    </a:ext>
                  </a:extLst>
                </p:cNvPr>
                <p:cNvSpPr>
                  <a:spLocks/>
                </p:cNvSpPr>
                <p:nvPr/>
              </p:nvSpPr>
              <p:spPr bwMode="auto">
                <a:xfrm>
                  <a:off x="9282113" y="2787651"/>
                  <a:ext cx="239713" cy="49213"/>
                </a:xfrm>
                <a:custGeom>
                  <a:avLst/>
                  <a:gdLst>
                    <a:gd name="T0" fmla="*/ 32 w 64"/>
                    <a:gd name="T1" fmla="*/ 5 h 13"/>
                    <a:gd name="T2" fmla="*/ 0 w 64"/>
                    <a:gd name="T3" fmla="*/ 0 h 13"/>
                    <a:gd name="T4" fmla="*/ 0 w 64"/>
                    <a:gd name="T5" fmla="*/ 7 h 13"/>
                    <a:gd name="T6" fmla="*/ 32 w 64"/>
                    <a:gd name="T7" fmla="*/ 13 h 13"/>
                    <a:gd name="T8" fmla="*/ 64 w 64"/>
                    <a:gd name="T9" fmla="*/ 7 h 13"/>
                    <a:gd name="T10" fmla="*/ 64 w 64"/>
                    <a:gd name="T11" fmla="*/ 0 h 13"/>
                    <a:gd name="T12" fmla="*/ 32 w 64"/>
                    <a:gd name="T13" fmla="*/ 5 h 13"/>
                  </a:gdLst>
                  <a:ahLst/>
                  <a:cxnLst>
                    <a:cxn ang="0">
                      <a:pos x="T0" y="T1"/>
                    </a:cxn>
                    <a:cxn ang="0">
                      <a:pos x="T2" y="T3"/>
                    </a:cxn>
                    <a:cxn ang="0">
                      <a:pos x="T4" y="T5"/>
                    </a:cxn>
                    <a:cxn ang="0">
                      <a:pos x="T6" y="T7"/>
                    </a:cxn>
                    <a:cxn ang="0">
                      <a:pos x="T8" y="T9"/>
                    </a:cxn>
                    <a:cxn ang="0">
                      <a:pos x="T10" y="T11"/>
                    </a:cxn>
                    <a:cxn ang="0">
                      <a:pos x="T12" y="T13"/>
                    </a:cxn>
                  </a:cxnLst>
                  <a:rect l="0" t="0" r="r" b="b"/>
                  <a:pathLst>
                    <a:path w="64" h="13">
                      <a:moveTo>
                        <a:pt x="32" y="5"/>
                      </a:moveTo>
                      <a:cubicBezTo>
                        <a:pt x="25" y="5"/>
                        <a:pt x="8" y="4"/>
                        <a:pt x="0" y="0"/>
                      </a:cubicBezTo>
                      <a:cubicBezTo>
                        <a:pt x="0" y="7"/>
                        <a:pt x="0" y="7"/>
                        <a:pt x="0" y="7"/>
                      </a:cubicBezTo>
                      <a:cubicBezTo>
                        <a:pt x="1" y="9"/>
                        <a:pt x="14" y="13"/>
                        <a:pt x="32" y="13"/>
                      </a:cubicBezTo>
                      <a:cubicBezTo>
                        <a:pt x="50" y="13"/>
                        <a:pt x="63" y="9"/>
                        <a:pt x="64" y="7"/>
                      </a:cubicBezTo>
                      <a:cubicBezTo>
                        <a:pt x="64" y="0"/>
                        <a:pt x="64" y="0"/>
                        <a:pt x="64" y="0"/>
                      </a:cubicBezTo>
                      <a:cubicBezTo>
                        <a:pt x="56" y="4"/>
                        <a:pt x="39" y="5"/>
                        <a:pt x="32"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grpSp>
        <p:nvGrpSpPr>
          <p:cNvPr id="95" name="Group 94">
            <a:extLst>
              <a:ext uri="{FF2B5EF4-FFF2-40B4-BE49-F238E27FC236}">
                <a16:creationId xmlns:a16="http://schemas.microsoft.com/office/drawing/2014/main" id="{158D76DE-B730-F088-2DFA-7BB2824A7EDF}"/>
              </a:ext>
            </a:extLst>
          </p:cNvPr>
          <p:cNvGrpSpPr/>
          <p:nvPr/>
        </p:nvGrpSpPr>
        <p:grpSpPr>
          <a:xfrm>
            <a:off x="800543" y="3270288"/>
            <a:ext cx="258819" cy="260013"/>
            <a:chOff x="8440738" y="1458913"/>
            <a:chExt cx="344488" cy="346075"/>
          </a:xfrm>
        </p:grpSpPr>
        <p:sp>
          <p:nvSpPr>
            <p:cNvPr id="96" name="Freeform 156">
              <a:extLst>
                <a:ext uri="{FF2B5EF4-FFF2-40B4-BE49-F238E27FC236}">
                  <a16:creationId xmlns:a16="http://schemas.microsoft.com/office/drawing/2014/main" id="{E8B59391-8B7B-D55F-9AD0-18DA7B5CDC9E}"/>
                </a:ext>
              </a:extLst>
            </p:cNvPr>
            <p:cNvSpPr>
              <a:spLocks/>
            </p:cNvSpPr>
            <p:nvPr/>
          </p:nvSpPr>
          <p:spPr bwMode="auto">
            <a:xfrm>
              <a:off x="8605838" y="1458913"/>
              <a:ext cx="14288" cy="74613"/>
            </a:xfrm>
            <a:custGeom>
              <a:avLst/>
              <a:gdLst>
                <a:gd name="T0" fmla="*/ 2 w 4"/>
                <a:gd name="T1" fmla="*/ 20 h 20"/>
                <a:gd name="T2" fmla="*/ 0 w 4"/>
                <a:gd name="T3" fmla="*/ 18 h 20"/>
                <a:gd name="T4" fmla="*/ 0 w 4"/>
                <a:gd name="T5" fmla="*/ 2 h 20"/>
                <a:gd name="T6" fmla="*/ 2 w 4"/>
                <a:gd name="T7" fmla="*/ 0 h 20"/>
                <a:gd name="T8" fmla="*/ 4 w 4"/>
                <a:gd name="T9" fmla="*/ 2 h 20"/>
                <a:gd name="T10" fmla="*/ 4 w 4"/>
                <a:gd name="T11" fmla="*/ 18 h 20"/>
                <a:gd name="T12" fmla="*/ 2 w 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4" h="20">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7" name="Freeform 157">
              <a:extLst>
                <a:ext uri="{FF2B5EF4-FFF2-40B4-BE49-F238E27FC236}">
                  <a16:creationId xmlns:a16="http://schemas.microsoft.com/office/drawing/2014/main" id="{993D89A9-B83C-D6BA-EA8E-DC5707C5FEAD}"/>
                </a:ext>
              </a:extLst>
            </p:cNvPr>
            <p:cNvSpPr>
              <a:spLocks/>
            </p:cNvSpPr>
            <p:nvPr/>
          </p:nvSpPr>
          <p:spPr bwMode="auto">
            <a:xfrm>
              <a:off x="8440738" y="1624013"/>
              <a:ext cx="74613" cy="14288"/>
            </a:xfrm>
            <a:custGeom>
              <a:avLst/>
              <a:gdLst>
                <a:gd name="T0" fmla="*/ 2 w 20"/>
                <a:gd name="T1" fmla="*/ 4 h 4"/>
                <a:gd name="T2" fmla="*/ 0 w 20"/>
                <a:gd name="T3" fmla="*/ 2 h 4"/>
                <a:gd name="T4" fmla="*/ 2 w 20"/>
                <a:gd name="T5" fmla="*/ 0 h 4"/>
                <a:gd name="T6" fmla="*/ 18 w 20"/>
                <a:gd name="T7" fmla="*/ 0 h 4"/>
                <a:gd name="T8" fmla="*/ 20 w 20"/>
                <a:gd name="T9" fmla="*/ 2 h 4"/>
                <a:gd name="T10" fmla="*/ 18 w 20"/>
                <a:gd name="T11" fmla="*/ 4 h 4"/>
                <a:gd name="T12" fmla="*/ 2 w 20"/>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20" h="4">
                  <a:moveTo>
                    <a:pt x="2" y="4"/>
                  </a:move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8" name="Freeform 158">
              <a:extLst>
                <a:ext uri="{FF2B5EF4-FFF2-40B4-BE49-F238E27FC236}">
                  <a16:creationId xmlns:a16="http://schemas.microsoft.com/office/drawing/2014/main" id="{C359BE9D-0AD0-6C12-123F-9D94B3A51E5F}"/>
                </a:ext>
              </a:extLst>
            </p:cNvPr>
            <p:cNvSpPr>
              <a:spLocks/>
            </p:cNvSpPr>
            <p:nvPr/>
          </p:nvSpPr>
          <p:spPr bwMode="auto">
            <a:xfrm>
              <a:off x="8605838" y="1728788"/>
              <a:ext cx="14288" cy="76200"/>
            </a:xfrm>
            <a:custGeom>
              <a:avLst/>
              <a:gdLst>
                <a:gd name="T0" fmla="*/ 2 w 4"/>
                <a:gd name="T1" fmla="*/ 20 h 20"/>
                <a:gd name="T2" fmla="*/ 0 w 4"/>
                <a:gd name="T3" fmla="*/ 18 h 20"/>
                <a:gd name="T4" fmla="*/ 0 w 4"/>
                <a:gd name="T5" fmla="*/ 2 h 20"/>
                <a:gd name="T6" fmla="*/ 2 w 4"/>
                <a:gd name="T7" fmla="*/ 0 h 20"/>
                <a:gd name="T8" fmla="*/ 4 w 4"/>
                <a:gd name="T9" fmla="*/ 2 h 20"/>
                <a:gd name="T10" fmla="*/ 4 w 4"/>
                <a:gd name="T11" fmla="*/ 18 h 20"/>
                <a:gd name="T12" fmla="*/ 2 w 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4" h="20">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9" name="Freeform 159">
              <a:extLst>
                <a:ext uri="{FF2B5EF4-FFF2-40B4-BE49-F238E27FC236}">
                  <a16:creationId xmlns:a16="http://schemas.microsoft.com/office/drawing/2014/main" id="{8ED55880-88C6-C9BA-DB65-262C58DA00EA}"/>
                </a:ext>
              </a:extLst>
            </p:cNvPr>
            <p:cNvSpPr>
              <a:spLocks/>
            </p:cNvSpPr>
            <p:nvPr/>
          </p:nvSpPr>
          <p:spPr bwMode="auto">
            <a:xfrm>
              <a:off x="8710613" y="1624013"/>
              <a:ext cx="74613" cy="14288"/>
            </a:xfrm>
            <a:custGeom>
              <a:avLst/>
              <a:gdLst>
                <a:gd name="T0" fmla="*/ 18 w 20"/>
                <a:gd name="T1" fmla="*/ 4 h 4"/>
                <a:gd name="T2" fmla="*/ 18 w 20"/>
                <a:gd name="T3" fmla="*/ 4 h 4"/>
                <a:gd name="T4" fmla="*/ 2 w 20"/>
                <a:gd name="T5" fmla="*/ 4 h 4"/>
                <a:gd name="T6" fmla="*/ 0 w 20"/>
                <a:gd name="T7" fmla="*/ 2 h 4"/>
                <a:gd name="T8" fmla="*/ 2 w 20"/>
                <a:gd name="T9" fmla="*/ 0 h 4"/>
                <a:gd name="T10" fmla="*/ 2 w 20"/>
                <a:gd name="T11" fmla="*/ 0 h 4"/>
                <a:gd name="T12" fmla="*/ 18 w 20"/>
                <a:gd name="T13" fmla="*/ 0 h 4"/>
                <a:gd name="T14" fmla="*/ 20 w 20"/>
                <a:gd name="T15" fmla="*/ 2 h 4"/>
                <a:gd name="T16" fmla="*/ 18 w 20"/>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4">
                  <a:moveTo>
                    <a:pt x="18" y="4"/>
                  </a:moveTo>
                  <a:cubicBezTo>
                    <a:pt x="18" y="4"/>
                    <a:pt x="18" y="4"/>
                    <a:pt x="18" y="4"/>
                  </a:cubicBezTo>
                  <a:cubicBezTo>
                    <a:pt x="2" y="4"/>
                    <a:pt x="2" y="4"/>
                    <a:pt x="2" y="4"/>
                  </a:cubicBezTo>
                  <a:cubicBezTo>
                    <a:pt x="1" y="4"/>
                    <a:pt x="0" y="3"/>
                    <a:pt x="0" y="2"/>
                  </a:cubicBezTo>
                  <a:cubicBezTo>
                    <a:pt x="0" y="1"/>
                    <a:pt x="1" y="0"/>
                    <a:pt x="2" y="0"/>
                  </a:cubicBezTo>
                  <a:cubicBezTo>
                    <a:pt x="2" y="0"/>
                    <a:pt x="2" y="0"/>
                    <a:pt x="2" y="0"/>
                  </a:cubicBezTo>
                  <a:cubicBezTo>
                    <a:pt x="18" y="0"/>
                    <a:pt x="18" y="0"/>
                    <a:pt x="18" y="0"/>
                  </a:cubicBezTo>
                  <a:cubicBezTo>
                    <a:pt x="19" y="0"/>
                    <a:pt x="20" y="1"/>
                    <a:pt x="20" y="2"/>
                  </a:cubicBezTo>
                  <a:cubicBezTo>
                    <a:pt x="20" y="3"/>
                    <a:pt x="19" y="4"/>
                    <a:pt x="18" y="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00" name="Freeform 160">
              <a:extLst>
                <a:ext uri="{FF2B5EF4-FFF2-40B4-BE49-F238E27FC236}">
                  <a16:creationId xmlns:a16="http://schemas.microsoft.com/office/drawing/2014/main" id="{0D4D6D76-856B-CEFA-AA10-67C3F9C1E5F0}"/>
                </a:ext>
              </a:extLst>
            </p:cNvPr>
            <p:cNvSpPr>
              <a:spLocks noEditPoints="1"/>
            </p:cNvSpPr>
            <p:nvPr/>
          </p:nvSpPr>
          <p:spPr bwMode="auto">
            <a:xfrm>
              <a:off x="8470900" y="1489076"/>
              <a:ext cx="284163" cy="285750"/>
            </a:xfrm>
            <a:custGeom>
              <a:avLst/>
              <a:gdLst>
                <a:gd name="T0" fmla="*/ 66 w 76"/>
                <a:gd name="T1" fmla="*/ 42 h 76"/>
                <a:gd name="T2" fmla="*/ 62 w 76"/>
                <a:gd name="T3" fmla="*/ 38 h 76"/>
                <a:gd name="T4" fmla="*/ 66 w 76"/>
                <a:gd name="T5" fmla="*/ 34 h 76"/>
                <a:gd name="T6" fmla="*/ 76 w 76"/>
                <a:gd name="T7" fmla="*/ 34 h 76"/>
                <a:gd name="T8" fmla="*/ 42 w 76"/>
                <a:gd name="T9" fmla="*/ 0 h 76"/>
                <a:gd name="T10" fmla="*/ 42 w 76"/>
                <a:gd name="T11" fmla="*/ 10 h 76"/>
                <a:gd name="T12" fmla="*/ 38 w 76"/>
                <a:gd name="T13" fmla="*/ 14 h 76"/>
                <a:gd name="T14" fmla="*/ 34 w 76"/>
                <a:gd name="T15" fmla="*/ 10 h 76"/>
                <a:gd name="T16" fmla="*/ 34 w 76"/>
                <a:gd name="T17" fmla="*/ 0 h 76"/>
                <a:gd name="T18" fmla="*/ 0 w 76"/>
                <a:gd name="T19" fmla="*/ 34 h 76"/>
                <a:gd name="T20" fmla="*/ 10 w 76"/>
                <a:gd name="T21" fmla="*/ 34 h 76"/>
                <a:gd name="T22" fmla="*/ 14 w 76"/>
                <a:gd name="T23" fmla="*/ 38 h 76"/>
                <a:gd name="T24" fmla="*/ 10 w 76"/>
                <a:gd name="T25" fmla="*/ 42 h 76"/>
                <a:gd name="T26" fmla="*/ 0 w 76"/>
                <a:gd name="T27" fmla="*/ 42 h 76"/>
                <a:gd name="T28" fmla="*/ 34 w 76"/>
                <a:gd name="T29" fmla="*/ 76 h 76"/>
                <a:gd name="T30" fmla="*/ 34 w 76"/>
                <a:gd name="T31" fmla="*/ 66 h 76"/>
                <a:gd name="T32" fmla="*/ 38 w 76"/>
                <a:gd name="T33" fmla="*/ 62 h 76"/>
                <a:gd name="T34" fmla="*/ 42 w 76"/>
                <a:gd name="T35" fmla="*/ 66 h 76"/>
                <a:gd name="T36" fmla="*/ 42 w 76"/>
                <a:gd name="T37" fmla="*/ 76 h 76"/>
                <a:gd name="T38" fmla="*/ 76 w 76"/>
                <a:gd name="T39" fmla="*/ 42 h 76"/>
                <a:gd name="T40" fmla="*/ 66 w 76"/>
                <a:gd name="T41" fmla="*/ 42 h 76"/>
                <a:gd name="T42" fmla="*/ 54 w 76"/>
                <a:gd name="T43" fmla="*/ 56 h 76"/>
                <a:gd name="T44" fmla="*/ 54 w 76"/>
                <a:gd name="T45" fmla="*/ 56 h 76"/>
                <a:gd name="T46" fmla="*/ 22 w 76"/>
                <a:gd name="T47" fmla="*/ 56 h 76"/>
                <a:gd name="T48" fmla="*/ 20 w 76"/>
                <a:gd name="T49" fmla="*/ 54 h 76"/>
                <a:gd name="T50" fmla="*/ 31 w 76"/>
                <a:gd name="T51" fmla="*/ 37 h 76"/>
                <a:gd name="T52" fmla="*/ 28 w 76"/>
                <a:gd name="T53" fmla="*/ 30 h 76"/>
                <a:gd name="T54" fmla="*/ 38 w 76"/>
                <a:gd name="T55" fmla="*/ 20 h 76"/>
                <a:gd name="T56" fmla="*/ 48 w 76"/>
                <a:gd name="T57" fmla="*/ 30 h 76"/>
                <a:gd name="T58" fmla="*/ 45 w 76"/>
                <a:gd name="T59" fmla="*/ 37 h 76"/>
                <a:gd name="T60" fmla="*/ 56 w 76"/>
                <a:gd name="T61" fmla="*/ 53 h 76"/>
                <a:gd name="T62" fmla="*/ 56 w 76"/>
                <a:gd name="T63" fmla="*/ 54 h 76"/>
                <a:gd name="T64" fmla="*/ 54 w 76"/>
                <a:gd name="T65" fmla="*/ 5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76">
                  <a:moveTo>
                    <a:pt x="66" y="42"/>
                  </a:moveTo>
                  <a:cubicBezTo>
                    <a:pt x="64" y="42"/>
                    <a:pt x="62" y="40"/>
                    <a:pt x="62" y="38"/>
                  </a:cubicBezTo>
                  <a:cubicBezTo>
                    <a:pt x="62" y="36"/>
                    <a:pt x="64" y="34"/>
                    <a:pt x="66" y="34"/>
                  </a:cubicBezTo>
                  <a:cubicBezTo>
                    <a:pt x="76" y="34"/>
                    <a:pt x="76" y="34"/>
                    <a:pt x="76" y="34"/>
                  </a:cubicBezTo>
                  <a:cubicBezTo>
                    <a:pt x="74" y="16"/>
                    <a:pt x="60" y="2"/>
                    <a:pt x="42" y="0"/>
                  </a:cubicBezTo>
                  <a:cubicBezTo>
                    <a:pt x="42" y="10"/>
                    <a:pt x="42" y="10"/>
                    <a:pt x="42" y="10"/>
                  </a:cubicBezTo>
                  <a:cubicBezTo>
                    <a:pt x="42" y="12"/>
                    <a:pt x="40" y="14"/>
                    <a:pt x="38" y="14"/>
                  </a:cubicBezTo>
                  <a:cubicBezTo>
                    <a:pt x="36" y="14"/>
                    <a:pt x="34" y="12"/>
                    <a:pt x="34" y="10"/>
                  </a:cubicBezTo>
                  <a:cubicBezTo>
                    <a:pt x="34" y="0"/>
                    <a:pt x="34" y="0"/>
                    <a:pt x="34" y="0"/>
                  </a:cubicBezTo>
                  <a:cubicBezTo>
                    <a:pt x="16" y="2"/>
                    <a:pt x="2" y="16"/>
                    <a:pt x="0" y="34"/>
                  </a:cubicBezTo>
                  <a:cubicBezTo>
                    <a:pt x="10" y="34"/>
                    <a:pt x="10" y="34"/>
                    <a:pt x="10" y="34"/>
                  </a:cubicBezTo>
                  <a:cubicBezTo>
                    <a:pt x="12" y="34"/>
                    <a:pt x="14" y="36"/>
                    <a:pt x="14" y="38"/>
                  </a:cubicBezTo>
                  <a:cubicBezTo>
                    <a:pt x="14" y="40"/>
                    <a:pt x="12" y="42"/>
                    <a:pt x="10" y="42"/>
                  </a:cubicBezTo>
                  <a:cubicBezTo>
                    <a:pt x="0" y="42"/>
                    <a:pt x="0" y="42"/>
                    <a:pt x="0" y="42"/>
                  </a:cubicBezTo>
                  <a:cubicBezTo>
                    <a:pt x="2" y="60"/>
                    <a:pt x="16" y="74"/>
                    <a:pt x="34" y="76"/>
                  </a:cubicBezTo>
                  <a:cubicBezTo>
                    <a:pt x="34" y="66"/>
                    <a:pt x="34" y="66"/>
                    <a:pt x="34" y="66"/>
                  </a:cubicBezTo>
                  <a:cubicBezTo>
                    <a:pt x="34" y="64"/>
                    <a:pt x="36" y="62"/>
                    <a:pt x="38" y="62"/>
                  </a:cubicBezTo>
                  <a:cubicBezTo>
                    <a:pt x="40" y="62"/>
                    <a:pt x="42" y="64"/>
                    <a:pt x="42" y="66"/>
                  </a:cubicBezTo>
                  <a:cubicBezTo>
                    <a:pt x="42" y="76"/>
                    <a:pt x="42" y="76"/>
                    <a:pt x="42" y="76"/>
                  </a:cubicBezTo>
                  <a:cubicBezTo>
                    <a:pt x="60" y="74"/>
                    <a:pt x="74" y="60"/>
                    <a:pt x="76" y="42"/>
                  </a:cubicBezTo>
                  <a:lnTo>
                    <a:pt x="66" y="42"/>
                  </a:lnTo>
                  <a:close/>
                  <a:moveTo>
                    <a:pt x="54" y="56"/>
                  </a:moveTo>
                  <a:cubicBezTo>
                    <a:pt x="54" y="56"/>
                    <a:pt x="54" y="56"/>
                    <a:pt x="54" y="56"/>
                  </a:cubicBezTo>
                  <a:cubicBezTo>
                    <a:pt x="22" y="56"/>
                    <a:pt x="22" y="56"/>
                    <a:pt x="22" y="56"/>
                  </a:cubicBezTo>
                  <a:cubicBezTo>
                    <a:pt x="21" y="56"/>
                    <a:pt x="20" y="55"/>
                    <a:pt x="20" y="54"/>
                  </a:cubicBezTo>
                  <a:cubicBezTo>
                    <a:pt x="20" y="46"/>
                    <a:pt x="25" y="40"/>
                    <a:pt x="31" y="37"/>
                  </a:cubicBezTo>
                  <a:cubicBezTo>
                    <a:pt x="29" y="36"/>
                    <a:pt x="28" y="33"/>
                    <a:pt x="28" y="30"/>
                  </a:cubicBezTo>
                  <a:cubicBezTo>
                    <a:pt x="28" y="25"/>
                    <a:pt x="33" y="20"/>
                    <a:pt x="38" y="20"/>
                  </a:cubicBezTo>
                  <a:cubicBezTo>
                    <a:pt x="44" y="20"/>
                    <a:pt x="48" y="25"/>
                    <a:pt x="48" y="30"/>
                  </a:cubicBezTo>
                  <a:cubicBezTo>
                    <a:pt x="48" y="33"/>
                    <a:pt x="47" y="36"/>
                    <a:pt x="45" y="37"/>
                  </a:cubicBezTo>
                  <a:cubicBezTo>
                    <a:pt x="51" y="40"/>
                    <a:pt x="56" y="46"/>
                    <a:pt x="56" y="53"/>
                  </a:cubicBezTo>
                  <a:cubicBezTo>
                    <a:pt x="56" y="54"/>
                    <a:pt x="56" y="54"/>
                    <a:pt x="56" y="54"/>
                  </a:cubicBezTo>
                  <a:cubicBezTo>
                    <a:pt x="56" y="55"/>
                    <a:pt x="55" y="56"/>
                    <a:pt x="54" y="5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dirty="0"/>
            </a:p>
          </p:txBody>
        </p:sp>
      </p:grpSp>
      <p:grpSp>
        <p:nvGrpSpPr>
          <p:cNvPr id="101" name="Group 100">
            <a:extLst>
              <a:ext uri="{FF2B5EF4-FFF2-40B4-BE49-F238E27FC236}">
                <a16:creationId xmlns:a16="http://schemas.microsoft.com/office/drawing/2014/main" id="{60AB491E-2374-B79F-6B89-E642F2281754}"/>
              </a:ext>
            </a:extLst>
          </p:cNvPr>
          <p:cNvGrpSpPr/>
          <p:nvPr/>
        </p:nvGrpSpPr>
        <p:grpSpPr>
          <a:xfrm>
            <a:off x="4097594" y="1172170"/>
            <a:ext cx="7572176" cy="4080747"/>
            <a:chOff x="4067175" y="1877020"/>
            <a:chExt cx="7572176" cy="4080747"/>
          </a:xfrm>
        </p:grpSpPr>
        <p:sp>
          <p:nvSpPr>
            <p:cNvPr id="102" name="TextBox 101">
              <a:extLst>
                <a:ext uri="{FF2B5EF4-FFF2-40B4-BE49-F238E27FC236}">
                  <a16:creationId xmlns:a16="http://schemas.microsoft.com/office/drawing/2014/main" id="{D53D3E11-9458-82F8-4639-2B661058B0B9}"/>
                </a:ext>
              </a:extLst>
            </p:cNvPr>
            <p:cNvSpPr txBox="1"/>
            <p:nvPr/>
          </p:nvSpPr>
          <p:spPr>
            <a:xfrm>
              <a:off x="11271943" y="1929386"/>
              <a:ext cx="367408" cy="523220"/>
            </a:xfrm>
            <a:prstGeom prst="rect">
              <a:avLst/>
            </a:prstGeom>
            <a:noFill/>
          </p:spPr>
          <p:txBody>
            <a:bodyPr wrap="none" rtlCol="0">
              <a:spAutoFit/>
            </a:bodyPr>
            <a:lstStyle/>
            <a:p>
              <a:r>
                <a:rPr lang="en-US" sz="2800" b="1" i="1" dirty="0"/>
                <a:t>1</a:t>
              </a:r>
              <a:endParaRPr lang="en-ID" sz="2800" b="1" i="1" dirty="0"/>
            </a:p>
          </p:txBody>
        </p:sp>
        <p:sp>
          <p:nvSpPr>
            <p:cNvPr id="103" name="TextBox 102">
              <a:extLst>
                <a:ext uri="{FF2B5EF4-FFF2-40B4-BE49-F238E27FC236}">
                  <a16:creationId xmlns:a16="http://schemas.microsoft.com/office/drawing/2014/main" id="{349B378F-E50D-E566-1D79-CC703BD8BC6C}"/>
                </a:ext>
              </a:extLst>
            </p:cNvPr>
            <p:cNvSpPr txBox="1"/>
            <p:nvPr/>
          </p:nvSpPr>
          <p:spPr>
            <a:xfrm>
              <a:off x="11205977" y="3581727"/>
              <a:ext cx="367408" cy="523220"/>
            </a:xfrm>
            <a:prstGeom prst="rect">
              <a:avLst/>
            </a:prstGeom>
            <a:noFill/>
          </p:spPr>
          <p:txBody>
            <a:bodyPr wrap="none" rtlCol="0">
              <a:spAutoFit/>
            </a:bodyPr>
            <a:lstStyle/>
            <a:p>
              <a:r>
                <a:rPr lang="en-US" sz="2800" b="1" i="1" dirty="0"/>
                <a:t>3</a:t>
              </a:r>
              <a:endParaRPr lang="en-ID" sz="2800" b="1" i="1" dirty="0"/>
            </a:p>
          </p:txBody>
        </p:sp>
        <p:sp>
          <p:nvSpPr>
            <p:cNvPr id="104" name="TextBox 103">
              <a:extLst>
                <a:ext uri="{FF2B5EF4-FFF2-40B4-BE49-F238E27FC236}">
                  <a16:creationId xmlns:a16="http://schemas.microsoft.com/office/drawing/2014/main" id="{D2DFE7D9-8AD6-DCA1-B5C4-1B7F2B333AD7}"/>
                </a:ext>
              </a:extLst>
            </p:cNvPr>
            <p:cNvSpPr txBox="1"/>
            <p:nvPr/>
          </p:nvSpPr>
          <p:spPr>
            <a:xfrm>
              <a:off x="11126426" y="5269205"/>
              <a:ext cx="367408" cy="523220"/>
            </a:xfrm>
            <a:prstGeom prst="rect">
              <a:avLst/>
            </a:prstGeom>
            <a:noFill/>
          </p:spPr>
          <p:txBody>
            <a:bodyPr wrap="none" rtlCol="0">
              <a:spAutoFit/>
            </a:bodyPr>
            <a:lstStyle/>
            <a:p>
              <a:r>
                <a:rPr lang="en-US" sz="2800" b="1" i="1" dirty="0"/>
                <a:t>5</a:t>
              </a:r>
              <a:endParaRPr lang="en-ID" sz="2800" b="1" i="1" dirty="0"/>
            </a:p>
          </p:txBody>
        </p:sp>
        <p:grpSp>
          <p:nvGrpSpPr>
            <p:cNvPr id="105" name="Group 104">
              <a:extLst>
                <a:ext uri="{FF2B5EF4-FFF2-40B4-BE49-F238E27FC236}">
                  <a16:creationId xmlns:a16="http://schemas.microsoft.com/office/drawing/2014/main" id="{FC51BE99-C5CC-4550-2F73-EF3263A2FF1A}"/>
                </a:ext>
              </a:extLst>
            </p:cNvPr>
            <p:cNvGrpSpPr/>
            <p:nvPr/>
          </p:nvGrpSpPr>
          <p:grpSpPr>
            <a:xfrm>
              <a:off x="4067175" y="1877020"/>
              <a:ext cx="7059251" cy="4080747"/>
              <a:chOff x="4067175" y="1877020"/>
              <a:chExt cx="7059251" cy="4080747"/>
            </a:xfrm>
          </p:grpSpPr>
          <p:sp>
            <p:nvSpPr>
              <p:cNvPr id="106" name="Rectangle: Rounded Corners 105">
                <a:extLst>
                  <a:ext uri="{FF2B5EF4-FFF2-40B4-BE49-F238E27FC236}">
                    <a16:creationId xmlns:a16="http://schemas.microsoft.com/office/drawing/2014/main" id="{73A3F557-F608-7D3B-1C4F-594A0C3DAE9E}"/>
                  </a:ext>
                </a:extLst>
              </p:cNvPr>
              <p:cNvSpPr/>
              <p:nvPr/>
            </p:nvSpPr>
            <p:spPr>
              <a:xfrm>
                <a:off x="4264819" y="3479482"/>
                <a:ext cx="6791139"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Women contribute around 60% of orders and revenue, while men still represent about 40%. Both segments are worth targeting with different messaging.</a:t>
                </a:r>
                <a:endParaRPr lang="en-US" sz="1600" dirty="0">
                  <a:solidFill>
                    <a:schemeClr val="tx1"/>
                  </a:solidFill>
                </a:endParaRPr>
              </a:p>
            </p:txBody>
          </p:sp>
          <p:sp>
            <p:nvSpPr>
              <p:cNvPr id="107" name="Rectangle: Rounded Corners 106">
                <a:extLst>
                  <a:ext uri="{FF2B5EF4-FFF2-40B4-BE49-F238E27FC236}">
                    <a16:creationId xmlns:a16="http://schemas.microsoft.com/office/drawing/2014/main" id="{9C904190-D3B9-AE21-ECED-17AA0B1555B1}"/>
                  </a:ext>
                </a:extLst>
              </p:cNvPr>
              <p:cNvSpPr/>
              <p:nvPr/>
            </p:nvSpPr>
            <p:spPr>
              <a:xfrm>
                <a:off x="4264818" y="4355305"/>
                <a:ext cx="6791139"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Together, these categories contribute around 72% of revenue, making them suitable for bundle or cross-selling opportunities.</a:t>
                </a:r>
                <a:endParaRPr lang="en-US" sz="1600" dirty="0">
                  <a:solidFill>
                    <a:schemeClr val="tx1"/>
                  </a:solidFill>
                </a:endParaRPr>
              </a:p>
            </p:txBody>
          </p:sp>
          <p:sp>
            <p:nvSpPr>
              <p:cNvPr id="108" name="Rectangle: Rounded Corners 107">
                <a:extLst>
                  <a:ext uri="{FF2B5EF4-FFF2-40B4-BE49-F238E27FC236}">
                    <a16:creationId xmlns:a16="http://schemas.microsoft.com/office/drawing/2014/main" id="{D02AA416-F4AE-E2E9-7088-187040A426A9}"/>
                  </a:ext>
                </a:extLst>
              </p:cNvPr>
              <p:cNvSpPr/>
              <p:nvPr/>
            </p:nvSpPr>
            <p:spPr>
              <a:xfrm>
                <a:off x="4264817" y="5252917"/>
                <a:ext cx="6791139"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Cards already account for the majority of transactions. Small incentives could encourage some cash users to shift toward card payments, particularly at lower-performing malls.</a:t>
                </a:r>
                <a:endParaRPr lang="en-US" sz="1600" dirty="0">
                  <a:solidFill>
                    <a:schemeClr val="tx1"/>
                  </a:solidFill>
                </a:endParaRPr>
              </a:p>
            </p:txBody>
          </p:sp>
          <p:sp>
            <p:nvSpPr>
              <p:cNvPr id="109" name="Rectangle: Rounded Corners 108">
                <a:extLst>
                  <a:ext uri="{FF2B5EF4-FFF2-40B4-BE49-F238E27FC236}">
                    <a16:creationId xmlns:a16="http://schemas.microsoft.com/office/drawing/2014/main" id="{5859A829-317D-0CA7-A25B-203B5F31841A}"/>
                  </a:ext>
                </a:extLst>
              </p:cNvPr>
              <p:cNvSpPr/>
              <p:nvPr/>
            </p:nvSpPr>
            <p:spPr>
              <a:xfrm>
                <a:off x="4067175" y="1877020"/>
                <a:ext cx="7059251"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solidFill>
                  </a:rPr>
                  <a:t>It contributes nearly half of total revenue, so it should remain a key focus while testing ways to grow smaller categories.</a:t>
                </a:r>
                <a:endParaRPr lang="en-US" sz="1600" dirty="0">
                  <a:solidFill>
                    <a:schemeClr val="tx1"/>
                  </a:solidFill>
                </a:endParaRPr>
              </a:p>
            </p:txBody>
          </p:sp>
          <p:sp>
            <p:nvSpPr>
              <p:cNvPr id="110" name="Rectangle: Rounded Corners 109">
                <a:extLst>
                  <a:ext uri="{FF2B5EF4-FFF2-40B4-BE49-F238E27FC236}">
                    <a16:creationId xmlns:a16="http://schemas.microsoft.com/office/drawing/2014/main" id="{600ACAC1-2F73-B089-0B32-BADF3C3F4F08}"/>
                  </a:ext>
                </a:extLst>
              </p:cNvPr>
              <p:cNvSpPr/>
              <p:nvPr/>
            </p:nvSpPr>
            <p:spPr>
              <a:xfrm>
                <a:off x="4264819" y="2636907"/>
                <a:ext cx="6791139"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1600" dirty="0">
                    <a:solidFill>
                      <a:schemeClr val="tx1"/>
                    </a:solidFill>
                  </a:rPr>
                  <a:t>These groups show similar purchase levels, making a broader campaign more practical than highly segmented campaigns. The under-21 group can be addressed separately.</a:t>
                </a:r>
                <a:endParaRPr lang="en-US" sz="1600" dirty="0">
                  <a:solidFill>
                    <a:schemeClr val="tx1"/>
                  </a:solidFill>
                </a:endParaRPr>
              </a:p>
            </p:txBody>
          </p:sp>
        </p:grpSp>
      </p:grpSp>
      <p:cxnSp>
        <p:nvCxnSpPr>
          <p:cNvPr id="111" name="Straight Connector 110">
            <a:extLst>
              <a:ext uri="{FF2B5EF4-FFF2-40B4-BE49-F238E27FC236}">
                <a16:creationId xmlns:a16="http://schemas.microsoft.com/office/drawing/2014/main" id="{CA835842-7909-68F0-EA0B-2409770EC58C}"/>
              </a:ext>
            </a:extLst>
          </p:cNvPr>
          <p:cNvCxnSpPr>
            <a:cxnSpLocks/>
          </p:cNvCxnSpPr>
          <p:nvPr/>
        </p:nvCxnSpPr>
        <p:spPr>
          <a:xfrm>
            <a:off x="4295236" y="1829546"/>
            <a:ext cx="7591964" cy="47474"/>
          </a:xfrm>
          <a:prstGeom prst="line">
            <a:avLst/>
          </a:prstGeom>
          <a:ln>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281A4AD2-82E8-C280-E29B-86A97A3EFD64}"/>
              </a:ext>
            </a:extLst>
          </p:cNvPr>
          <p:cNvCxnSpPr>
            <a:cxnSpLocks/>
          </p:cNvCxnSpPr>
          <p:nvPr/>
        </p:nvCxnSpPr>
        <p:spPr>
          <a:xfrm>
            <a:off x="4295238" y="2807880"/>
            <a:ext cx="7591964" cy="47474"/>
          </a:xfrm>
          <a:prstGeom prst="line">
            <a:avLst/>
          </a:prstGeom>
          <a:ln>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B2FA404-3B27-1DFA-6EF0-7D702818774F}"/>
              </a:ext>
            </a:extLst>
          </p:cNvPr>
          <p:cNvCxnSpPr>
            <a:cxnSpLocks/>
          </p:cNvCxnSpPr>
          <p:nvPr/>
        </p:nvCxnSpPr>
        <p:spPr>
          <a:xfrm>
            <a:off x="4295238" y="3602981"/>
            <a:ext cx="7591964" cy="47474"/>
          </a:xfrm>
          <a:prstGeom prst="line">
            <a:avLst/>
          </a:prstGeom>
          <a:ln>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ECE8F2F-441F-5216-5D9B-BBE520AB7CA4}"/>
              </a:ext>
            </a:extLst>
          </p:cNvPr>
          <p:cNvCxnSpPr>
            <a:cxnSpLocks/>
          </p:cNvCxnSpPr>
          <p:nvPr/>
        </p:nvCxnSpPr>
        <p:spPr>
          <a:xfrm>
            <a:off x="4295238" y="4331568"/>
            <a:ext cx="7591964" cy="47474"/>
          </a:xfrm>
          <a:prstGeom prst="line">
            <a:avLst/>
          </a:prstGeom>
          <a:ln>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9C5CBA7A-97BF-BD0C-27DC-6F89BD2C33E7}"/>
              </a:ext>
            </a:extLst>
          </p:cNvPr>
          <p:cNvSpPr txBox="1"/>
          <p:nvPr/>
        </p:nvSpPr>
        <p:spPr>
          <a:xfrm>
            <a:off x="11236396" y="1966198"/>
            <a:ext cx="367408" cy="523220"/>
          </a:xfrm>
          <a:prstGeom prst="rect">
            <a:avLst/>
          </a:prstGeom>
          <a:noFill/>
        </p:spPr>
        <p:txBody>
          <a:bodyPr wrap="none" rtlCol="0">
            <a:spAutoFit/>
          </a:bodyPr>
          <a:lstStyle/>
          <a:p>
            <a:r>
              <a:rPr lang="en-US" sz="2800" b="1" i="1" dirty="0"/>
              <a:t>2</a:t>
            </a:r>
            <a:endParaRPr lang="en-ID" sz="2800" b="1" i="1" dirty="0"/>
          </a:p>
        </p:txBody>
      </p:sp>
      <p:sp>
        <p:nvSpPr>
          <p:cNvPr id="119" name="TextBox 118">
            <a:extLst>
              <a:ext uri="{FF2B5EF4-FFF2-40B4-BE49-F238E27FC236}">
                <a16:creationId xmlns:a16="http://schemas.microsoft.com/office/drawing/2014/main" id="{DDA37A5D-80A5-E411-05B9-98E148281C84}"/>
              </a:ext>
            </a:extLst>
          </p:cNvPr>
          <p:cNvSpPr txBox="1"/>
          <p:nvPr/>
        </p:nvSpPr>
        <p:spPr>
          <a:xfrm>
            <a:off x="11156845" y="3747467"/>
            <a:ext cx="367408" cy="523220"/>
          </a:xfrm>
          <a:prstGeom prst="rect">
            <a:avLst/>
          </a:prstGeom>
          <a:noFill/>
        </p:spPr>
        <p:txBody>
          <a:bodyPr wrap="none" rtlCol="0">
            <a:spAutoFit/>
          </a:bodyPr>
          <a:lstStyle/>
          <a:p>
            <a:r>
              <a:rPr lang="en-US" sz="2800" b="1" i="1" dirty="0"/>
              <a:t>4</a:t>
            </a:r>
            <a:endParaRPr lang="en-ID" sz="2800" b="1" i="1" dirty="0"/>
          </a:p>
        </p:txBody>
      </p:sp>
      <p:grpSp>
        <p:nvGrpSpPr>
          <p:cNvPr id="127" name="Group 126">
            <a:extLst>
              <a:ext uri="{FF2B5EF4-FFF2-40B4-BE49-F238E27FC236}">
                <a16:creationId xmlns:a16="http://schemas.microsoft.com/office/drawing/2014/main" id="{63C1F657-D53E-E751-8DB6-B6F91BE3DCF4}"/>
              </a:ext>
            </a:extLst>
          </p:cNvPr>
          <p:cNvGrpSpPr/>
          <p:nvPr/>
        </p:nvGrpSpPr>
        <p:grpSpPr>
          <a:xfrm>
            <a:off x="553295" y="5570999"/>
            <a:ext cx="3171825" cy="704850"/>
            <a:chOff x="469722" y="5282668"/>
            <a:chExt cx="3171825" cy="704850"/>
          </a:xfrm>
        </p:grpSpPr>
        <p:sp>
          <p:nvSpPr>
            <p:cNvPr id="121" name="Rectangle: Rounded Corners 120">
              <a:extLst>
                <a:ext uri="{FF2B5EF4-FFF2-40B4-BE49-F238E27FC236}">
                  <a16:creationId xmlns:a16="http://schemas.microsoft.com/office/drawing/2014/main" id="{797EC880-CA8A-5884-DA24-408D0A30EE90}"/>
                </a:ext>
              </a:extLst>
            </p:cNvPr>
            <p:cNvSpPr/>
            <p:nvPr/>
          </p:nvSpPr>
          <p:spPr>
            <a:xfrm>
              <a:off x="469722" y="5282668"/>
              <a:ext cx="3171825" cy="704850"/>
            </a:xfrm>
            <a:prstGeom prst="roundRect">
              <a:avLst>
                <a:gd name="adj" fmla="val 5000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nvGrpSpPr>
            <p:cNvPr id="126" name="Group 125">
              <a:extLst>
                <a:ext uri="{FF2B5EF4-FFF2-40B4-BE49-F238E27FC236}">
                  <a16:creationId xmlns:a16="http://schemas.microsoft.com/office/drawing/2014/main" id="{C1DF1A29-C2D1-AB86-39D1-F0FD01C20D04}"/>
                </a:ext>
              </a:extLst>
            </p:cNvPr>
            <p:cNvGrpSpPr/>
            <p:nvPr/>
          </p:nvGrpSpPr>
          <p:grpSpPr>
            <a:xfrm>
              <a:off x="573004" y="5343833"/>
              <a:ext cx="2649543" cy="582520"/>
              <a:chOff x="573004" y="5343833"/>
              <a:chExt cx="2649543" cy="582520"/>
            </a:xfrm>
          </p:grpSpPr>
          <p:sp>
            <p:nvSpPr>
              <p:cNvPr id="123" name="Oval 122">
                <a:extLst>
                  <a:ext uri="{FF2B5EF4-FFF2-40B4-BE49-F238E27FC236}">
                    <a16:creationId xmlns:a16="http://schemas.microsoft.com/office/drawing/2014/main" id="{B650DA92-136C-E86F-1AEA-874CE69B1E0C}"/>
                  </a:ext>
                </a:extLst>
              </p:cNvPr>
              <p:cNvSpPr/>
              <p:nvPr/>
            </p:nvSpPr>
            <p:spPr>
              <a:xfrm>
                <a:off x="573004" y="5343833"/>
                <a:ext cx="582520" cy="582520"/>
              </a:xfrm>
              <a:prstGeom prst="ellipse">
                <a:avLst/>
              </a:prstGeom>
              <a:solidFill>
                <a:schemeClr val="bg1"/>
              </a:solidFill>
              <a:ln>
                <a:noFill/>
              </a:ln>
              <a:effectLst>
                <a:outerShdw blurRad="101600" dist="38100" dir="2700000" algn="tl"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5" name="TextBox 124">
                <a:extLst>
                  <a:ext uri="{FF2B5EF4-FFF2-40B4-BE49-F238E27FC236}">
                    <a16:creationId xmlns:a16="http://schemas.microsoft.com/office/drawing/2014/main" id="{DCA3F370-4E53-077D-FF08-98060F84A5D4}"/>
                  </a:ext>
                </a:extLst>
              </p:cNvPr>
              <p:cNvSpPr txBox="1"/>
              <p:nvPr/>
            </p:nvSpPr>
            <p:spPr>
              <a:xfrm>
                <a:off x="1155524" y="5371290"/>
                <a:ext cx="2067023" cy="523220"/>
              </a:xfrm>
              <a:prstGeom prst="rect">
                <a:avLst/>
              </a:prstGeom>
              <a:noFill/>
            </p:spPr>
            <p:txBody>
              <a:bodyPr wrap="square">
                <a:spAutoFit/>
              </a:bodyPr>
              <a:lstStyle/>
              <a:p>
                <a:pPr algn="ctr"/>
                <a:r>
                  <a:rPr lang="en-IN" sz="1400" b="1" dirty="0">
                    <a:solidFill>
                      <a:schemeClr val="bg1"/>
                    </a:solidFill>
                  </a:rPr>
                  <a:t>LEARN FROM THE TOP-PERFORMING MALLS</a:t>
                </a:r>
                <a:endParaRPr lang="en-US" sz="1600" b="1" dirty="0">
                  <a:solidFill>
                    <a:schemeClr val="bg1"/>
                  </a:solidFill>
                </a:endParaRPr>
              </a:p>
            </p:txBody>
          </p:sp>
        </p:grpSp>
      </p:grpSp>
      <p:sp>
        <p:nvSpPr>
          <p:cNvPr id="129" name="Rectangle: Rounded Corners 128">
            <a:extLst>
              <a:ext uri="{FF2B5EF4-FFF2-40B4-BE49-F238E27FC236}">
                <a16:creationId xmlns:a16="http://schemas.microsoft.com/office/drawing/2014/main" id="{93D5582A-7D84-854D-F342-36A8DBE23875}"/>
              </a:ext>
            </a:extLst>
          </p:cNvPr>
          <p:cNvSpPr/>
          <p:nvPr/>
        </p:nvSpPr>
        <p:spPr>
          <a:xfrm>
            <a:off x="4295238" y="5526401"/>
            <a:ext cx="6791139" cy="704850"/>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tx1"/>
                </a:solidFill>
              </a:rPr>
              <a:t>Mall of Istanbul and Kanyon lead in revenue. Understanding what drives their performance could help identify practices worth testing at other malls.</a:t>
            </a:r>
            <a:endParaRPr lang="en-US" sz="1600" dirty="0">
              <a:solidFill>
                <a:schemeClr val="tx1"/>
              </a:solidFill>
            </a:endParaRPr>
          </a:p>
        </p:txBody>
      </p:sp>
      <p:cxnSp>
        <p:nvCxnSpPr>
          <p:cNvPr id="130" name="Straight Connector 129">
            <a:extLst>
              <a:ext uri="{FF2B5EF4-FFF2-40B4-BE49-F238E27FC236}">
                <a16:creationId xmlns:a16="http://schemas.microsoft.com/office/drawing/2014/main" id="{F7B2F69F-CA06-924E-424B-68DD30E14E96}"/>
              </a:ext>
            </a:extLst>
          </p:cNvPr>
          <p:cNvCxnSpPr>
            <a:cxnSpLocks/>
          </p:cNvCxnSpPr>
          <p:nvPr/>
        </p:nvCxnSpPr>
        <p:spPr>
          <a:xfrm>
            <a:off x="4405085" y="5362324"/>
            <a:ext cx="7591964" cy="47474"/>
          </a:xfrm>
          <a:prstGeom prst="line">
            <a:avLst/>
          </a:prstGeom>
          <a:ln>
            <a:solidFill>
              <a:schemeClr val="bg1">
                <a:lumMod val="8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C913D02E-E1D6-EABC-5EB5-7D0CCC68EF06}"/>
              </a:ext>
            </a:extLst>
          </p:cNvPr>
          <p:cNvSpPr txBox="1"/>
          <p:nvPr/>
        </p:nvSpPr>
        <p:spPr>
          <a:xfrm>
            <a:off x="11118658" y="5624185"/>
            <a:ext cx="367408" cy="523220"/>
          </a:xfrm>
          <a:prstGeom prst="rect">
            <a:avLst/>
          </a:prstGeom>
          <a:noFill/>
        </p:spPr>
        <p:txBody>
          <a:bodyPr wrap="none" rtlCol="0">
            <a:spAutoFit/>
          </a:bodyPr>
          <a:lstStyle/>
          <a:p>
            <a:r>
              <a:rPr lang="en-US" sz="2800" b="1" i="1" dirty="0"/>
              <a:t>6</a:t>
            </a:r>
            <a:endParaRPr lang="en-ID" sz="2800" b="1" i="1" dirty="0"/>
          </a:p>
        </p:txBody>
      </p:sp>
      <p:sp>
        <p:nvSpPr>
          <p:cNvPr id="138" name="Freeform 69">
            <a:extLst>
              <a:ext uri="{FF2B5EF4-FFF2-40B4-BE49-F238E27FC236}">
                <a16:creationId xmlns:a16="http://schemas.microsoft.com/office/drawing/2014/main" id="{B89A0FC8-35EB-6A92-B299-F6ADB5097B9B}"/>
              </a:ext>
            </a:extLst>
          </p:cNvPr>
          <p:cNvSpPr>
            <a:spLocks noEditPoints="1"/>
          </p:cNvSpPr>
          <p:nvPr/>
        </p:nvSpPr>
        <p:spPr bwMode="auto">
          <a:xfrm>
            <a:off x="748063" y="5725265"/>
            <a:ext cx="353043" cy="398996"/>
          </a:xfrm>
          <a:custGeom>
            <a:avLst/>
            <a:gdLst>
              <a:gd name="T0" fmla="*/ 83 w 97"/>
              <a:gd name="T1" fmla="*/ 41 h 97"/>
              <a:gd name="T2" fmla="*/ 79 w 97"/>
              <a:gd name="T3" fmla="*/ 31 h 97"/>
              <a:gd name="T4" fmla="*/ 94 w 97"/>
              <a:gd name="T5" fmla="*/ 2 h 97"/>
              <a:gd name="T6" fmla="*/ 71 w 97"/>
              <a:gd name="T7" fmla="*/ 21 h 97"/>
              <a:gd name="T8" fmla="*/ 56 w 97"/>
              <a:gd name="T9" fmla="*/ 14 h 97"/>
              <a:gd name="T10" fmla="*/ 54 w 97"/>
              <a:gd name="T11" fmla="*/ 1 h 97"/>
              <a:gd name="T12" fmla="*/ 40 w 97"/>
              <a:gd name="T13" fmla="*/ 3 h 97"/>
              <a:gd name="T14" fmla="*/ 31 w 97"/>
              <a:gd name="T15" fmla="*/ 18 h 97"/>
              <a:gd name="T16" fmla="*/ 20 w 97"/>
              <a:gd name="T17" fmla="*/ 9 h 97"/>
              <a:gd name="T18" fmla="*/ 8 w 97"/>
              <a:gd name="T19" fmla="*/ 22 h 97"/>
              <a:gd name="T20" fmla="*/ 17 w 97"/>
              <a:gd name="T21" fmla="*/ 32 h 97"/>
              <a:gd name="T22" fmla="*/ 2 w 97"/>
              <a:gd name="T23" fmla="*/ 41 h 97"/>
              <a:gd name="T24" fmla="*/ 0 w 97"/>
              <a:gd name="T25" fmla="*/ 55 h 97"/>
              <a:gd name="T26" fmla="*/ 13 w 97"/>
              <a:gd name="T27" fmla="*/ 57 h 97"/>
              <a:gd name="T28" fmla="*/ 8 w 97"/>
              <a:gd name="T29" fmla="*/ 74 h 97"/>
              <a:gd name="T30" fmla="*/ 8 w 97"/>
              <a:gd name="T31" fmla="*/ 77 h 97"/>
              <a:gd name="T32" fmla="*/ 23 w 97"/>
              <a:gd name="T33" fmla="*/ 89 h 97"/>
              <a:gd name="T34" fmla="*/ 40 w 97"/>
              <a:gd name="T35" fmla="*/ 84 h 97"/>
              <a:gd name="T36" fmla="*/ 42 w 97"/>
              <a:gd name="T37" fmla="*/ 97 h 97"/>
              <a:gd name="T38" fmla="*/ 56 w 97"/>
              <a:gd name="T39" fmla="*/ 95 h 97"/>
              <a:gd name="T40" fmla="*/ 65 w 97"/>
              <a:gd name="T41" fmla="*/ 80 h 97"/>
              <a:gd name="T42" fmla="*/ 76 w 97"/>
              <a:gd name="T43" fmla="*/ 89 h 97"/>
              <a:gd name="T44" fmla="*/ 88 w 97"/>
              <a:gd name="T45" fmla="*/ 74 h 97"/>
              <a:gd name="T46" fmla="*/ 83 w 97"/>
              <a:gd name="T47" fmla="*/ 57 h 97"/>
              <a:gd name="T48" fmla="*/ 96 w 97"/>
              <a:gd name="T49" fmla="*/ 55 h 97"/>
              <a:gd name="T50" fmla="*/ 94 w 97"/>
              <a:gd name="T51" fmla="*/ 41 h 97"/>
              <a:gd name="T52" fmla="*/ 49 w 97"/>
              <a:gd name="T53" fmla="*/ 60 h 97"/>
              <a:gd name="T54" fmla="*/ 48 w 97"/>
              <a:gd name="T55" fmla="*/ 60 h 97"/>
              <a:gd name="T56" fmla="*/ 30 w 97"/>
              <a:gd name="T57" fmla="*/ 39 h 97"/>
              <a:gd name="T58" fmla="*/ 49 w 97"/>
              <a:gd name="T59" fmla="*/ 56 h 97"/>
              <a:gd name="T60" fmla="*/ 91 w 97"/>
              <a:gd name="T61" fmla="*/ 5 h 97"/>
              <a:gd name="T62" fmla="*/ 51 w 97"/>
              <a:gd name="T63" fmla="*/ 6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7" h="97">
                <a:moveTo>
                  <a:pt x="94" y="41"/>
                </a:moveTo>
                <a:cubicBezTo>
                  <a:pt x="83" y="41"/>
                  <a:pt x="83" y="41"/>
                  <a:pt x="83" y="41"/>
                </a:cubicBezTo>
                <a:cubicBezTo>
                  <a:pt x="82" y="39"/>
                  <a:pt x="82" y="37"/>
                  <a:pt x="81" y="35"/>
                </a:cubicBezTo>
                <a:cubicBezTo>
                  <a:pt x="80" y="34"/>
                  <a:pt x="79" y="32"/>
                  <a:pt x="79" y="31"/>
                </a:cubicBezTo>
                <a:cubicBezTo>
                  <a:pt x="95" y="11"/>
                  <a:pt x="95" y="11"/>
                  <a:pt x="95" y="11"/>
                </a:cubicBezTo>
                <a:cubicBezTo>
                  <a:pt x="97" y="8"/>
                  <a:pt x="96" y="4"/>
                  <a:pt x="94" y="2"/>
                </a:cubicBezTo>
                <a:cubicBezTo>
                  <a:pt x="91" y="0"/>
                  <a:pt x="87" y="1"/>
                  <a:pt x="85" y="3"/>
                </a:cubicBezTo>
                <a:cubicBezTo>
                  <a:pt x="71" y="21"/>
                  <a:pt x="71" y="21"/>
                  <a:pt x="71" y="21"/>
                </a:cubicBezTo>
                <a:cubicBezTo>
                  <a:pt x="70" y="20"/>
                  <a:pt x="68" y="19"/>
                  <a:pt x="67" y="18"/>
                </a:cubicBezTo>
                <a:cubicBezTo>
                  <a:pt x="64" y="17"/>
                  <a:pt x="60" y="15"/>
                  <a:pt x="56" y="14"/>
                </a:cubicBezTo>
                <a:cubicBezTo>
                  <a:pt x="56" y="3"/>
                  <a:pt x="56" y="3"/>
                  <a:pt x="56" y="3"/>
                </a:cubicBezTo>
                <a:cubicBezTo>
                  <a:pt x="56" y="2"/>
                  <a:pt x="55" y="1"/>
                  <a:pt x="54" y="1"/>
                </a:cubicBezTo>
                <a:cubicBezTo>
                  <a:pt x="42" y="1"/>
                  <a:pt x="42" y="1"/>
                  <a:pt x="42" y="1"/>
                </a:cubicBezTo>
                <a:cubicBezTo>
                  <a:pt x="41" y="1"/>
                  <a:pt x="40" y="2"/>
                  <a:pt x="40" y="3"/>
                </a:cubicBezTo>
                <a:cubicBezTo>
                  <a:pt x="40" y="14"/>
                  <a:pt x="40" y="14"/>
                  <a:pt x="40" y="14"/>
                </a:cubicBezTo>
                <a:cubicBezTo>
                  <a:pt x="37" y="15"/>
                  <a:pt x="33" y="16"/>
                  <a:pt x="31" y="18"/>
                </a:cubicBezTo>
                <a:cubicBezTo>
                  <a:pt x="23" y="9"/>
                  <a:pt x="23" y="9"/>
                  <a:pt x="23" y="9"/>
                </a:cubicBezTo>
                <a:cubicBezTo>
                  <a:pt x="22" y="9"/>
                  <a:pt x="20" y="9"/>
                  <a:pt x="20" y="9"/>
                </a:cubicBezTo>
                <a:cubicBezTo>
                  <a:pt x="8" y="21"/>
                  <a:pt x="8" y="21"/>
                  <a:pt x="8" y="21"/>
                </a:cubicBezTo>
                <a:cubicBezTo>
                  <a:pt x="8" y="21"/>
                  <a:pt x="8" y="22"/>
                  <a:pt x="8" y="22"/>
                </a:cubicBezTo>
                <a:cubicBezTo>
                  <a:pt x="8" y="23"/>
                  <a:pt x="8" y="23"/>
                  <a:pt x="8" y="24"/>
                </a:cubicBezTo>
                <a:cubicBezTo>
                  <a:pt x="17" y="32"/>
                  <a:pt x="17" y="32"/>
                  <a:pt x="17" y="32"/>
                </a:cubicBezTo>
                <a:cubicBezTo>
                  <a:pt x="15" y="34"/>
                  <a:pt x="14" y="38"/>
                  <a:pt x="13" y="41"/>
                </a:cubicBezTo>
                <a:cubicBezTo>
                  <a:pt x="2" y="41"/>
                  <a:pt x="2" y="41"/>
                  <a:pt x="2" y="41"/>
                </a:cubicBezTo>
                <a:cubicBezTo>
                  <a:pt x="1" y="41"/>
                  <a:pt x="0" y="42"/>
                  <a:pt x="0" y="43"/>
                </a:cubicBezTo>
                <a:cubicBezTo>
                  <a:pt x="0" y="55"/>
                  <a:pt x="0" y="55"/>
                  <a:pt x="0" y="55"/>
                </a:cubicBezTo>
                <a:cubicBezTo>
                  <a:pt x="0" y="56"/>
                  <a:pt x="1" y="57"/>
                  <a:pt x="2" y="57"/>
                </a:cubicBezTo>
                <a:cubicBezTo>
                  <a:pt x="13" y="57"/>
                  <a:pt x="13" y="57"/>
                  <a:pt x="13" y="57"/>
                </a:cubicBezTo>
                <a:cubicBezTo>
                  <a:pt x="14" y="60"/>
                  <a:pt x="15" y="64"/>
                  <a:pt x="17" y="66"/>
                </a:cubicBezTo>
                <a:cubicBezTo>
                  <a:pt x="8" y="74"/>
                  <a:pt x="8" y="74"/>
                  <a:pt x="8" y="74"/>
                </a:cubicBezTo>
                <a:cubicBezTo>
                  <a:pt x="8" y="75"/>
                  <a:pt x="8" y="75"/>
                  <a:pt x="8" y="76"/>
                </a:cubicBezTo>
                <a:cubicBezTo>
                  <a:pt x="8" y="76"/>
                  <a:pt x="8" y="77"/>
                  <a:pt x="8" y="77"/>
                </a:cubicBezTo>
                <a:cubicBezTo>
                  <a:pt x="20" y="89"/>
                  <a:pt x="20" y="89"/>
                  <a:pt x="20" y="89"/>
                </a:cubicBezTo>
                <a:cubicBezTo>
                  <a:pt x="20" y="89"/>
                  <a:pt x="22" y="89"/>
                  <a:pt x="23" y="89"/>
                </a:cubicBezTo>
                <a:cubicBezTo>
                  <a:pt x="31" y="80"/>
                  <a:pt x="31" y="80"/>
                  <a:pt x="31" y="80"/>
                </a:cubicBezTo>
                <a:cubicBezTo>
                  <a:pt x="33" y="82"/>
                  <a:pt x="37" y="83"/>
                  <a:pt x="40" y="84"/>
                </a:cubicBezTo>
                <a:cubicBezTo>
                  <a:pt x="40" y="95"/>
                  <a:pt x="40" y="95"/>
                  <a:pt x="40" y="95"/>
                </a:cubicBezTo>
                <a:cubicBezTo>
                  <a:pt x="40" y="96"/>
                  <a:pt x="41" y="97"/>
                  <a:pt x="42" y="97"/>
                </a:cubicBezTo>
                <a:cubicBezTo>
                  <a:pt x="54" y="97"/>
                  <a:pt x="54" y="97"/>
                  <a:pt x="54" y="97"/>
                </a:cubicBezTo>
                <a:cubicBezTo>
                  <a:pt x="55" y="97"/>
                  <a:pt x="56" y="96"/>
                  <a:pt x="56" y="95"/>
                </a:cubicBezTo>
                <a:cubicBezTo>
                  <a:pt x="56" y="84"/>
                  <a:pt x="56" y="84"/>
                  <a:pt x="56" y="84"/>
                </a:cubicBezTo>
                <a:cubicBezTo>
                  <a:pt x="59" y="83"/>
                  <a:pt x="63" y="82"/>
                  <a:pt x="65" y="80"/>
                </a:cubicBezTo>
                <a:cubicBezTo>
                  <a:pt x="73" y="89"/>
                  <a:pt x="73" y="89"/>
                  <a:pt x="73" y="89"/>
                </a:cubicBezTo>
                <a:cubicBezTo>
                  <a:pt x="74" y="89"/>
                  <a:pt x="76" y="89"/>
                  <a:pt x="76" y="89"/>
                </a:cubicBezTo>
                <a:cubicBezTo>
                  <a:pt x="88" y="77"/>
                  <a:pt x="88" y="77"/>
                  <a:pt x="88" y="77"/>
                </a:cubicBezTo>
                <a:cubicBezTo>
                  <a:pt x="88" y="77"/>
                  <a:pt x="88" y="75"/>
                  <a:pt x="88" y="74"/>
                </a:cubicBezTo>
                <a:cubicBezTo>
                  <a:pt x="79" y="66"/>
                  <a:pt x="79" y="66"/>
                  <a:pt x="79" y="66"/>
                </a:cubicBezTo>
                <a:cubicBezTo>
                  <a:pt x="81" y="64"/>
                  <a:pt x="82" y="60"/>
                  <a:pt x="83" y="57"/>
                </a:cubicBezTo>
                <a:cubicBezTo>
                  <a:pt x="94" y="57"/>
                  <a:pt x="94" y="57"/>
                  <a:pt x="94" y="57"/>
                </a:cubicBezTo>
                <a:cubicBezTo>
                  <a:pt x="95" y="57"/>
                  <a:pt x="96" y="56"/>
                  <a:pt x="96" y="55"/>
                </a:cubicBezTo>
                <a:cubicBezTo>
                  <a:pt x="96" y="43"/>
                  <a:pt x="96" y="43"/>
                  <a:pt x="96" y="43"/>
                </a:cubicBezTo>
                <a:cubicBezTo>
                  <a:pt x="96" y="42"/>
                  <a:pt x="95" y="41"/>
                  <a:pt x="94" y="41"/>
                </a:cubicBezTo>
                <a:close/>
                <a:moveTo>
                  <a:pt x="51" y="60"/>
                </a:moveTo>
                <a:cubicBezTo>
                  <a:pt x="50" y="60"/>
                  <a:pt x="50" y="60"/>
                  <a:pt x="49" y="60"/>
                </a:cubicBezTo>
                <a:cubicBezTo>
                  <a:pt x="49" y="61"/>
                  <a:pt x="49" y="61"/>
                  <a:pt x="49" y="61"/>
                </a:cubicBezTo>
                <a:cubicBezTo>
                  <a:pt x="49" y="61"/>
                  <a:pt x="48" y="60"/>
                  <a:pt x="48" y="60"/>
                </a:cubicBezTo>
                <a:cubicBezTo>
                  <a:pt x="30" y="42"/>
                  <a:pt x="30" y="42"/>
                  <a:pt x="30" y="42"/>
                </a:cubicBezTo>
                <a:cubicBezTo>
                  <a:pt x="29" y="41"/>
                  <a:pt x="29" y="40"/>
                  <a:pt x="30" y="39"/>
                </a:cubicBezTo>
                <a:cubicBezTo>
                  <a:pt x="31" y="38"/>
                  <a:pt x="32" y="38"/>
                  <a:pt x="33" y="39"/>
                </a:cubicBezTo>
                <a:cubicBezTo>
                  <a:pt x="49" y="56"/>
                  <a:pt x="49" y="56"/>
                  <a:pt x="49" y="56"/>
                </a:cubicBezTo>
                <a:cubicBezTo>
                  <a:pt x="88" y="6"/>
                  <a:pt x="88" y="6"/>
                  <a:pt x="88" y="6"/>
                </a:cubicBezTo>
                <a:cubicBezTo>
                  <a:pt x="89" y="5"/>
                  <a:pt x="90" y="5"/>
                  <a:pt x="91" y="5"/>
                </a:cubicBezTo>
                <a:cubicBezTo>
                  <a:pt x="92" y="6"/>
                  <a:pt x="92" y="7"/>
                  <a:pt x="92" y="8"/>
                </a:cubicBezTo>
                <a:lnTo>
                  <a:pt x="51"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6581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B779E4ED-B26D-CAA7-0907-8E99FDED5D26}"/>
              </a:ext>
            </a:extLst>
          </p:cNvPr>
          <p:cNvSpPr txBox="1"/>
          <p:nvPr/>
        </p:nvSpPr>
        <p:spPr>
          <a:xfrm>
            <a:off x="1412895" y="919768"/>
            <a:ext cx="8686800" cy="594360"/>
          </a:xfrm>
          <a:prstGeom prst="rect">
            <a:avLst/>
          </a:prstGeom>
          <a:noFill/>
          <a:ln/>
        </p:spPr>
        <p:txBody>
          <a:bodyPr wrap="square" lIns="0" tIns="0" rIns="0" bIns="0" rtlCol="0" anchor="ctr"/>
          <a:lstStyle/>
          <a:p>
            <a:pPr algn="ctr"/>
            <a:r>
              <a:rPr lang="en-US" sz="3200" b="1" u="sng" dirty="0">
                <a:solidFill>
                  <a:srgbClr val="3D9A8B"/>
                </a:solidFill>
                <a:latin typeface="Calibri" pitchFamily="34" charset="0"/>
                <a:ea typeface="Calibri" pitchFamily="34" charset="-122"/>
                <a:cs typeface="Calibri" pitchFamily="34" charset="-120"/>
              </a:rPr>
              <a:t>CONCLUSION</a:t>
            </a:r>
            <a:endParaRPr lang="en-US" sz="3200" u="sng" dirty="0">
              <a:solidFill>
                <a:srgbClr val="3D9A8B"/>
              </a:solidFill>
            </a:endParaRPr>
          </a:p>
        </p:txBody>
      </p:sp>
      <p:sp>
        <p:nvSpPr>
          <p:cNvPr id="6" name="Text 1">
            <a:extLst>
              <a:ext uri="{FF2B5EF4-FFF2-40B4-BE49-F238E27FC236}">
                <a16:creationId xmlns:a16="http://schemas.microsoft.com/office/drawing/2014/main" id="{33CB71C5-E2BB-C4B2-EC13-812A81EC3A54}"/>
              </a:ext>
            </a:extLst>
          </p:cNvPr>
          <p:cNvSpPr txBox="1"/>
          <p:nvPr/>
        </p:nvSpPr>
        <p:spPr>
          <a:xfrm>
            <a:off x="1412895" y="1836666"/>
            <a:ext cx="9875520" cy="2103120"/>
          </a:xfrm>
          <a:prstGeom prst="rect">
            <a:avLst/>
          </a:prstGeom>
          <a:noFill/>
          <a:ln/>
        </p:spPr>
        <p:txBody>
          <a:bodyPr wrap="square" lIns="0" tIns="0" rIns="0" bIns="0" rtlCol="0" anchor="ctr"/>
          <a:lstStyle/>
          <a:p>
            <a:pPr marL="0" indent="0" algn="just">
              <a:lnSpc>
                <a:spcPct val="250000"/>
              </a:lnSpc>
              <a:buNone/>
            </a:pPr>
            <a:r>
              <a:rPr lang="en-US" sz="1600" i="1" dirty="0">
                <a:solidFill>
                  <a:srgbClr val="C00000"/>
                </a:solidFill>
                <a:latin typeface="Calibri" pitchFamily="34" charset="0"/>
                <a:ea typeface="Calibri" pitchFamily="34" charset="-122"/>
                <a:cs typeface="Calibri" pitchFamily="34" charset="-120"/>
              </a:rPr>
              <a:t>Looking across everything — who’s buying, what they’re buying, and how they’re paying — the same picture keeps showing up: women aged roughly 21 to 50 are among the strongest customer groups, Clothing carries most of the revenue, and card payments already account for the majority of transactions. These findings provide a practical basis for deciding where to focus marketing, inventory and payment strategy going forward.</a:t>
            </a:r>
            <a:endParaRPr lang="en-US" sz="1600" i="1" dirty="0">
              <a:solidFill>
                <a:srgbClr val="C00000"/>
              </a:solidFill>
            </a:endParaRPr>
          </a:p>
        </p:txBody>
      </p:sp>
      <p:sp>
        <p:nvSpPr>
          <p:cNvPr id="8" name="Text 1">
            <a:extLst>
              <a:ext uri="{FF2B5EF4-FFF2-40B4-BE49-F238E27FC236}">
                <a16:creationId xmlns:a16="http://schemas.microsoft.com/office/drawing/2014/main" id="{74679C9F-DBDE-D3CA-EB04-6DAF2F0A1A88}"/>
              </a:ext>
            </a:extLst>
          </p:cNvPr>
          <p:cNvSpPr txBox="1"/>
          <p:nvPr/>
        </p:nvSpPr>
        <p:spPr>
          <a:xfrm>
            <a:off x="6461759" y="5725037"/>
            <a:ext cx="8686800" cy="594360"/>
          </a:xfrm>
          <a:prstGeom prst="rect">
            <a:avLst/>
          </a:prstGeom>
          <a:noFill/>
          <a:ln/>
        </p:spPr>
        <p:txBody>
          <a:bodyPr wrap="square" lIns="0" tIns="0" rIns="0" bIns="0" rtlCol="0" anchor="ctr"/>
          <a:lstStyle/>
          <a:p>
            <a:pPr algn="ctr"/>
            <a:r>
              <a:rPr lang="en-US" sz="2400" b="1" i="1" dirty="0">
                <a:solidFill>
                  <a:srgbClr val="3D9A8B"/>
                </a:solidFill>
                <a:latin typeface="Calibri" pitchFamily="34" charset="0"/>
                <a:ea typeface="Calibri" pitchFamily="34" charset="-122"/>
                <a:cs typeface="Calibri" pitchFamily="34" charset="-120"/>
              </a:rPr>
              <a:t>THANKYOU</a:t>
            </a:r>
            <a:endParaRPr lang="en-US" sz="2400" i="1" dirty="0">
              <a:solidFill>
                <a:srgbClr val="3D9A8B"/>
              </a:solidFill>
            </a:endParaRPr>
          </a:p>
        </p:txBody>
      </p:sp>
      <p:sp>
        <p:nvSpPr>
          <p:cNvPr id="10" name="Freeform: Shape 9">
            <a:extLst>
              <a:ext uri="{FF2B5EF4-FFF2-40B4-BE49-F238E27FC236}">
                <a16:creationId xmlns:a16="http://schemas.microsoft.com/office/drawing/2014/main" id="{532D028B-5C83-F9A0-9BDF-87DC41F851C3}"/>
              </a:ext>
            </a:extLst>
          </p:cNvPr>
          <p:cNvSpPr/>
          <p:nvPr/>
        </p:nvSpPr>
        <p:spPr>
          <a:xfrm>
            <a:off x="9255417" y="19466"/>
            <a:ext cx="2917372" cy="268430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8A63710-0129-F64D-512B-AF2861C26A33}"/>
              </a:ext>
            </a:extLst>
          </p:cNvPr>
          <p:cNvSpPr/>
          <p:nvPr/>
        </p:nvSpPr>
        <p:spPr>
          <a:xfrm rot="10800000">
            <a:off x="0" y="4193498"/>
            <a:ext cx="2381160" cy="2364260"/>
          </a:xfrm>
          <a:custGeom>
            <a:avLst/>
            <a:gdLst>
              <a:gd name="connsiteX0" fmla="*/ 0 w 3883599"/>
              <a:gd name="connsiteY0" fmla="*/ 0 h 3573334"/>
              <a:gd name="connsiteX1" fmla="*/ 3883599 w 3883599"/>
              <a:gd name="connsiteY1" fmla="*/ 0 h 3573334"/>
              <a:gd name="connsiteX2" fmla="*/ 3883599 w 3883599"/>
              <a:gd name="connsiteY2" fmla="*/ 3573334 h 3573334"/>
              <a:gd name="connsiteX3" fmla="*/ 3844236 w 3883599"/>
              <a:gd name="connsiteY3" fmla="*/ 3561483 h 3573334"/>
              <a:gd name="connsiteX4" fmla="*/ 3731199 w 3883599"/>
              <a:gd name="connsiteY4" fmla="*/ 3505200 h 3573334"/>
              <a:gd name="connsiteX5" fmla="*/ 2321499 w 3883599"/>
              <a:gd name="connsiteY5" fmla="*/ 628650 h 3573334"/>
              <a:gd name="connsiteX6" fmla="*/ 73599 w 3883599"/>
              <a:gd name="connsiteY6" fmla="*/ 57150 h 357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3599" h="3573334">
                <a:moveTo>
                  <a:pt x="0" y="0"/>
                </a:moveTo>
                <a:lnTo>
                  <a:pt x="3883599" y="0"/>
                </a:lnTo>
                <a:lnTo>
                  <a:pt x="3883599" y="3573334"/>
                </a:lnTo>
                <a:lnTo>
                  <a:pt x="3844236" y="3561483"/>
                </a:lnTo>
                <a:cubicBezTo>
                  <a:pt x="3803964" y="3545743"/>
                  <a:pt x="3766124" y="3527028"/>
                  <a:pt x="3731199" y="3505200"/>
                </a:cubicBezTo>
                <a:cubicBezTo>
                  <a:pt x="3172399" y="3155950"/>
                  <a:pt x="2931099" y="1203325"/>
                  <a:pt x="2321499" y="628650"/>
                </a:cubicBezTo>
                <a:cubicBezTo>
                  <a:pt x="1711899" y="53975"/>
                  <a:pt x="387924" y="257175"/>
                  <a:pt x="73599" y="57150"/>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1275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2.png"/></Relationships>
</file>

<file path=ppt/webextensions/webextension1.xml><?xml version="1.0" encoding="utf-8"?>
<we:webextension xmlns:we="http://schemas.microsoft.com/office/webextensions/webextension/2010/11" id="{0F225189-5C07-4ED6-B309-A59BD5AD5E4F}">
  <we:reference id="wa200003233" version="2.0.0.3" store="en-US" storeType="OMEX"/>
  <we:alternateReferences>
    <we:reference id="WA200003233" version="2.0.0.3" store="WA200003233" storeType="OMEX"/>
  </we:alternateReferences>
  <we:properties>
    <we:property name="artifactViewState" value="&quot;publicSnapshot&quot;"/>
    <we:property name="backgroundColor" value="&quot;#FFFFFF&quot;"/>
    <we:property name="bookmark" value="&quot;H4sIAAAAAAAAA+1bW3PbNhb+Kx6+9EXTwf3it8RNOpnZpmmc7T50MpkD4EBmS5EKSTnxZvzfFyQl17Fsy5ZshU43Dx4JgA7O5Ts3APmShbyZF3D2GmaYHWbPq+qvGdR/HdBskpXDmAnUOgxKRW4CB2WJDWm2mrd5VTbZ4ZeshXqK7e95s4CiI5QG/3g/yeY1Nlif4mv8NMylv7nLi7w9yw7beoGTDIriDUy7H0QomjQwx7qpSijy/+Lwm2ZYej7J8PO8qGrodj1uocVu59O0PH1PXNIfeWIKfJuf4jH6dhhVmnLrYzQusc2YExJUWtYMC3rmr13Ske63P6rKFvIybdONER0U1zG6gNxaG4I0shuPedEul7izF5/ndVJAUsvZvNPfUeJ1WtW5hyLrpUhqGZj+kh1VxWLWf3rx1fhxtag9vsXYT5Vtr7LML5q2mmF9EKCF7Dzp5E1dJY31k8+mePBzXS3m/cRJ9emoxrRzyA7J+eSCmWfhFEqPYY2TZ9NpjVNol19fPBabHxcwrOvGXy7KpaXIqJl+i6dYLnAzz+/TSJOX02KJ3r+B9G4QpUhYOirSXlhjGDg8qmauOjqBuu28yv2ZsNkhKVGq6oD187MeTD/l9QrVdPJ4kl5G0fn7lUOlBX9ecpklogfGHmnz9+fdJIlEBpDeEo1OC8WZZ2NxOL/Swm3Q3RMvczibYdl+mGF7UoXtIsAvCM2ixgfh513VQnFw2W3u6Sd+5SPPob6Pb7CrvvGYUu3dQS5BbvAPGhjxjnLnubbICQtoxuIfd0tIY3LWp+Ea8/y0at+BK/Bp+URvzOZRc8Yke1t9evAt1r0O0QkrjDYhConGo4OO3K1ma/Fz66rPX9uspxat0oyhp1wLSYnQjG5PjRGOUkptosQQHMTgzA7UGIJiMlrnHVoHUgPbgZpgHIyT3AjqNEPm6Q6SChoi8mi10yiNCZLRHXgTEYm13DltNOiYhA472FSaYLQIUoJTTlLJpaIb4/Iew89vl6vw+6ZmqMNyajTx55I8nY8mA4CWCiH1cojEaMIdG01inGKZ9DTuNu3hOp4Hq+S+ueh7L/cugDKkHRmliEwRbpClrKO5cXb7EKWIt9HYgAI5NWgNFWpMIerXDhbN9xKgLqQZwpMmUgrLvDCOq6AgVRJqe1Nq50NgwdFgBXeBpWy4C7VAHYWOQy5d31sw3IUaB8chmqhSlhZKaDqaDv7GQLwRYk2R+/TLy9JmaZdpr6h+q06a+bBVjsN8Ffpp7IX9kv0rTwoYaP8OxaIj+8NP6Reh+lT+0CGlDzgNFiuYrlFs2qSi9rhn9Lhft4F+f8i6JN1JfW006xc/eBF9JZYZlhpXqQgo4MQI5rUk24PMREuNMMpHycAqnnK/Hkcse3aabJBalN7/DwY7PPmQdr1QA6QsVVE7Jz1XQKSJ3tMd6mjLvfbUc0eCp9IrB8zebNjlhUWUziIPlkhOmPOEJmQk0kuzv6vmr9O3gUKP99UdQtLZy7qa9aSW9yHNwn1cYMrsV9V5vJpIn39bfbiNku9IXK/dSTaogXT+vvLju3rf8KXf4IqVmpNqPk9a/zCDosjS3JKTmGMRsm6vX/dWed3M5a3VVrJVdih6JAwqYl2NfE+N/ucEO9z3Ci1DvpLi1RWe7xHx7qzzXob+pOZGEhcIW0blR0x3V5n7R7QfbY04g/nVsHlt5hvOkR448a1BooczyMAEYxSUjJ57xqLdIf+B1j4IT7ig3JIAPnW+48h/u18EjCrzrZ929uo3zOnoDA1Cp2JZeeJHc9hw2yn8aMrcPdei6/eMECJGrdBpxoTjIUbY3AzvyYKbwvY4rDjJ8uZVmQrDxNXxqmf5ZTOV7nHHd9fs3BDzowcmhPLSSKdTV4zUjwVkD3GBvK/iIC9Pq4ToD2V1pT6QW92m4ZM4lbxN6L0fTK6hZQC441ZSCMhTo4Yh9faKjSaKjum1xlO4AHhQJ3tydwCj8ra1+2fnHfWWB0o854oZhCDG4mff3TPEPbzH+PZC34jpx3hPsV5+uyi8IYYAGuyeFwcj+/51u27YS229kAgWKIkRgyGjqbN2Cf3jegYQqnLRjuxp3lfPAL7tZW2wGAlDbqnixhNJUz20EYR7Mf2/y/zjAg+Olmu+gyvWayQaWr7gIgnEKU6ZiQSCBRW3jyvI079EJ7DINUjP6B1umZ5G2h3Vkd8TfeC4n1SJPiC46IJgLkgWlMbNceXb91jjOKTa/0nQWu2eKh2XKhPNkRBGHIlodrgfjdIT8MAYSMaMS0WU2+FFZXSWUAWKCEKMQUcUHc059j+3Z17+L6H/t827FWQxCkOF4MoRSzhg5GTrR1I9wesCVbVomzl4fAMlXhOwEiwhMRU2BK2Lk+tJx02+vD++81H3+fn/ABxSCb7XOQAA&quot;"/>
    <we:property name="creatorSessionId" value="&quot;d1528c14-d824-41ff-8023-26180bb8c34c&quot;"/>
    <we:property name="creatorTenantId" value="&quot;40d4962a-25be-4554-9a57-8eb2396095da&quot;"/>
    <we:property name="creatorUserId" value="&quot;10032004A5A669B5&quot;"/>
    <we:property name="datasetId" value="&quot;8e6d1f6a-280a-44d4-8191-82a38d2bc690&quot;"/>
    <we:property name="embedUrl" value="&quot;/reportEmbed?reportId=3e4e356a-5bb1-441b-b2be-cbc66bfca19b&amp;config=eyJjbHVzdGVyVXJsIjoiaHR0cHM6Ly9XQUJJLUlORElBLUNFTlRSQUwtQS1QUklNQVJZLXJlZGlyZWN0LmFuYWx5c2lzLndpbmRvd3MubmV0IiwiZW1iZWRGZWF0dXJlcyI6eyJ1c2FnZU1ldHJpY3NWTmV4dCI6dHJ1ZX19&amp;disableSensitivityBanner=true&amp;storytellingChangeViewModeShortcutKeys=true&quot;"/>
    <we:property name="initialStateBookmark" value="&quot;H4sIAAAAAAAAA+1bWXPbthb+Kx6+9EVzB/viN8dN73TaLI1zex86mcwBcCCzpUiFpJy4Gf/3gqTkOvIi27IVOm0ePBIAHZzlOxuAfM5C3swLOH0JM8z2s2dV9ccM6j/2aDbJyuXYq1c/vTh489P7lwcvnqfhat7mVdlk+5+zFuoptr/mzQKKjkIa/O3dJJvX2GB9gi/x4zCX/uYuL/L2NNtv6wVOMiiK1zDtfhChaNLAHOumKqHI/8ThN82w9GyS4ad5UdXQ7XrUQovdzidpefqe2KP/4Ykp8G1+gkfo22FUacqtj9E4ZQljTkhQaVkzLOiZv3JJR7rf/rAqW8jLtE03RnRQXMfoAnJrbQjSyG485kW7XOJOn3+a10kBSS2n805xh4nXaVXnHoqslyKpZWD6c3ZYFYtZ/+n5F+NH1aL2+AZjP1W2vcoyv2jaaob1XoAWsrOkk9d1lTTWTx5Mce+/dbWY9xPH1cfDGtPOIdsnZ5NzZg7CCZQ+ja5zcjCd1jiFdvn1+WOx+WEBw7pu/IdFubQUGTXTb/AEywVu5vldGmnyclos0fs3kN4OohQJS4dF2gtrDAOHh9XMVYfHULedV7nfEzY7JCVKVR2wfnbag+n7vF6hmk4eT9KLKDp7t3KotOD3Cy6zRPTA2CNt/u6smySRyADSW6LRaaE482wsDudXWrgJujviZQ6nMyzb9zNsj6twvwjwAqFZ1Pgg/LytWij2LrrNHf3Er3zkGdR38Q227huPKdXOHeQC5Ab/oIER7yh3nmuLnLCAZiz+cbuENCZnfRquMc9PqvYtuAKflk/0xmweNWdMsjfVxwff4rLXITphhdEmRCHReHTQkbvRbC1+al316Uub9dSiVZox9JRrISkRmtH7U2OEo5RSmygxBAcxOLMFNYagmIzWeYfWgdTAtqAmGAfjJDeCOs2QebqFpIKGiDxa7TRKY4JkdAveRERiLXdOGw06JqHDFjaVJhgtgpTglJNUcqnoxri8w/Dzy8Uq/K6pGeqwnBpN/LkgT+ejyQCgpUJIvRwiMZpwx0aTGKdYJj2Nu017uI7nwSq5ry76zsu9c6AMaUdGKSJThBtkKetobpy9f4hSxNtobECBnBq0hgo1phD1qoNF860EqHNphvCkiZTCMi+M4yooSJWEur8ptfMhsOBosIK7wFI23IZaoI5CxyGXru8tGG5DjYPjEE1UKUsLJTQdTQd/bSDeCLGmyH365UVps7TLtFdUv1UnzXzYKsdhvgr9NPbCfs5+zpMCBtq/QrHoyH73ffpFqD6W33VI6QNOg8UKppcoNm1SUXvUM3rUr9tAvz9kXZLupL4ymvWLH7yIXotlhqXGVSoCCjgxgnktyf1BZqKlRhjlo2RgFU+5X48jlh2cJBukFqX3/73BDk8+pF0t1AApS1XUzknPFRBpovd0izracq899dyR4Kn0ygGz1xt2eVMRpbPIgyWSE+Y8oQkZifTS7G+r+cv0baDQ4311h5B09kNdzXpSy4uQZuE+LDBl9nV1Hq0m0udfVh9uouQ7Eldrd5INaiCdv6/8+LbeN3zpN1izUnNczedJ6+9nUBRZmltyEnMsQtbt9Wpnldf1XN5YbSVbZfuiR8KgItbVyHfU6P+PscN9r9Ay5Cspflzj+Q4R79Y672XoT2quJXGOsGVUfsR0t87cP6L9aGvEGczXw+aVmW84R3rgxHcJEj2cQQYmGKOgZPTcMxbtFvkPtPZBeMIF5ZYE8KnzHUf+2/4iYFSZ7/JpZ69+w5yOztAgdCqWlSd+NIcNN53Cj6bM3XEtevmeEULEqBU6zZhwPMQIm5vhHVlwU9gehxUnWd78WKbCMHF1tOpZXmym0j3u+OaanWtifvTAhFBeGul06oqR+rGA7CEukHdVHOTlSZUQ/b6s1uoDea/bNHwSp5I3Cb3zg8lLaBkA7riVFALy1KhhSL29YqOJomN6rfEULgAe1Mme3B3AqLzt0v2z8456ywMlnnPFDEIQY/Gzb+4Z4g7eY3x9oa/F9GO8p7hcfrsovCGGABq0xIZgZN+/3q8b9lJbLySCBUpixGDIaOqsbUL/uJ4BhKpctCN7mvfFM4Cve1kbLEbCkFuquPFE0lQPbQThTkz/vzL/sMC9w+Wab+CK9QqJhpYvuEgCcYpTZiKBYEHF+8cV5OlfohNY5BqkZ/QWt0xPI+2O6sjviT5w3E2qRB8QXHRBMBckC0rj5rjy9XuscRxS7f4k6FLtniodlyoTzZEQRhyJaLa4H43SE/DAGEjGjEtFlNviRWV0llAFighCjEFHFB3NOfY/t2de/i+hf9vm7QqyGIWhQnDliCUcMHJy70dSPcGrAlW1aJs5eHwNJV4RsBIsITEVNgSt85PrScdNvrw/vt0hevfnL2X544nPOQAA&quot;"/>
    <we:property name="isFiltersActionButtonVisible" value="true"/>
    <we:property name="isVisualContainerHeaderHidden" value="false"/>
    <we:property name="pageDisplayName" value="&quot;Duplicate of Duplicate of Page 2&quot;"/>
    <we:property name="pageName" value="&quot;67139cff8b69022b45a6&quot;"/>
    <we:property name="reportEmbeddedTime" value="&quot;2026-09-04T10:49:42.805Z&quot;"/>
    <we:property name="reportName" value="&quot;customer pbi1&quot;"/>
    <we:property name="reportState" value="&quot;CONNECTED&quot;"/>
    <we:property name="reportUrl" value="&quot;/groups/me/reports/3e4e356a-5bb1-441b-b2be-cbc66bfca19b/67139cff8b69022b45a6&quot;"/>
    <we:property name="design" value="{&quot;border&quot;:{&quot;isActive&quot;:false,&quot;color&quot;:&quot;#808080&quot;,&quot;width&quot;:1,&quot;transparency&quot;:5,&quot;dash&quot;:&quot;solid&quot;}}"/>
    <we:property name="snapshotLastRefreshTime" value="&quot;4/9/26, 4:07 pm&quot;"/>
    <we:property name="snapshot" value="&quot;data:image/png;base64,iVBORw0KGgoAAAANSUhEUgAAA9YAAAI8CAYAAAAUQTPiAAAQAElEQVR4AeydBWAURxfH/3cXdwOCu2txaIsUihcqtKXUXWlLSwulpa6Ur+5Ki5VSnOLu7gR3SSDunnzzBi69hAskIXJ3+Qfmdnf0zW9md+e9t3tnzOYfCZQBgdDQ0Oztx49kHw8LZSADzgHOAc4BzgHOAc4BzgHOgWKbA2sPhWTzjwRKm4ARdvFHIR2NQHxyEip5+SDA3YOBDDgHOAc4BzgHOAc4BzgHOAeKbQ6kpKU52tKZ/bEDAlSsi3OQWBcJkAAJkAAJkAAJkAAJkAAJkEC5I0DFutwNOcAukwAJkAAJkAAJkAAJkAAJkAAJFB8BKtbFx5I1FS8B1kYCJEACJEACJEACJEACJEACdkGAirVdDBOFtF0ClIwESIAESIAESIAESIAESKC8E6BiXd5nAPtfPgiwl2VGIPPQFiS+fQsSX++VEzI2zcuRJ23uNzreMi4r4gySPrwTSV8+geykuJy8eesyp0se2bdsw3Jf2jBXkvLbSN2eOV3KSXlr6ZYyyb65jNQh+aVec1zereSXPJI3b5oc521X8uYNecua65R8Ok1xFSZyLEH2hbWkybE5SDlpMyfkUy4n/dJYWcqYX18lXtoRhpJfxk3GT4Lsizwil+SRIPmlHZFJjs3BHC9p5pA3jzmvbKWP5nyWW5FBZJE80q60b5lu3pfyksfcrmVbZtkt65K8Uq/ESR3m8hIvZfPGSXxOPWouZ545oOezMJF4SZdgTUapT9LMQdqSfkhec5zsS5ykSZy5HyKHZcjbnuTNG8xlreU1t5M3TdqV9iXdsr6C1CVlLctIHVKXsBXG5jThIH2xjJd0OZZ4HSzmsrmevPXLsc57aV5LveY2uCUBEiABEig+AlSsi48layIBErhGAo5WXBawKX+8Duc2veH5wWIdnDsOROqcryAL8ML0V5SR1H/GwuBfGR6v/wPXgc8j+8IJpP71AQwePvB44Sddv9uDHwDOrjDVvU4fS7sutzynFfQkpahnhR2D+/DfdJpskRiN5C8ehdSfV54sVb85LmPfGvPuZVuRRdqxDE4dBvyXT8kjcpnTJb/Inr7sz//y5NkTPplHd+h+Sn8NFWshdcGPEOUhT9YrHko9wlvaNLdvqtEEKWpcZHwsC1syk/wio/C1zCPxOfUoxukb5yBvPZb5kZ6K9LX/5IqyPDArSunbFsGSUYHmST5c88ps2S+z7G6PfGIpRoH2s84cRHZ0qM4r88g8Z4x1W8Hg6QvLOMmUdXQnshNjYQyuA2NAFYnKFYSbjENxnB/mii3HR3hmp6Ugbc7X5uTLtsI/49huHS+yisz6IM+HpGVsmJUnNvdhQevKXQowNWgHmZMy38znhNSVpuaWnMuufR+HnONSTsZWxkD6JuevwcUNcl0wj4XksQwy/4vjPLKsk/skQAIkQALWCRitRzOWBEiABEggHwIFipaFbtqyP7SCK4qtuZDsi3IjW3NcQbbZUaEQJcHo7a8X2aK4Sj0FVZDSlRIrC3eXHg/CGFRNNylb18Gv6nqtKR+icMgCX0JWfDREeZKFvi58DR9mRcxcv7WqssJPQ9oy+FeCKBXacPD2XK2EWMtvLU6UcFFYRbEUXuY8rkNehyjqaWp8ZJzM8ZZbU/MuOk9eZdEyj/MNg7WMVzI6SH5RbESJlP28If3SuLj2fTJX32R+yPjKNm+Z/I7NXGWsZMzyy1fU+MyDmyCGAuFpqWjKPBLlWeanzFNz/WbDjFPTG81ROVvhnqb4yzg493ggJ176K/XLuMn45SQUYcdYraE2RF1pDM3GApFD5rcos/mxu5pMhakrb3dcBg6DtJ+xZ5U2cmXuWa0NZ6Jwi+It+UUuGVtRpg0BlfV57DF6GiTIGEievKE4zqO8dfKYBEiABEjAOgGj9WjGkgAJkAAJXAsB8XyJ8mGsUP1aqrmsrChp8mjnZQmXRfwXIQtyUWJl4S7K138pQI7yoRRnyafTlCfUWL0RxJstcTkKg1rM6/TS+lDe3pTJ7xbaS20Wz6wI5lXsRFF3qtNCGxQsFUFzuZLYWlPYhG1+41IUGcxzTvomfSxKHfmVsZTV+YY7LyqBytMr8VJGz3M1Xpq5ipB46ZvZOKKicv2/kqx6vFRd2dHnc5UpiQMtr2rLpeNA7VkXb7DMd6ttqXxXevqgUHXlaUAUY6fmXbWHP23hL9BGB09fiMKdJ6vOk/LTcK2A502zeqzkvpbzyGqdjCQBEiABEriMABXry5AwggRIgASunYDZW2esWOvaK1M1iNdKvFdqF6JcyzuT+XlBJY9lECVHlGR4XvR2W6bl7CdG68fFzcey0BfDgFaALik4pjqtzMm5tvKotchjDnnfR82VWR3oOhNjoRVADx8Vc/l/50veYPGQyuPCSV/mft9clxCF4Y/Xc94ZT1H7kl+nqQ9Lb506vPy/Kp+f8mb2GIonVlhcXlg5b+URb1WHVgStZVBx4gkVI4U8LSB1qqic/wUal5zcVnZU29JnM3cZB2nP0gMspczzxZxPtnnnjpSVeAnJnz+ilTcpaw6ibIrSKTxMDdpepoSaGnaAKNGiTEu/zPkN/sqzqjzH5nrM24KcH+Y85jKF3ZplEJmtjaHIKfKaDU56HBVTrSDnaUzGUNhmngqxaugpTF15qs45lHHTbexfr/mLom0ptxhLxAAgBeTclHG6mpGtQOeRVMhAAiRAAiRwzQSM11wDKyABEiABEigVAvLYt7x7a25MlCF5h9J8XJxbU/UmF72S+9ZAHnWWx0+NvhWtNuE68Hn9zrY8uizhskdTlbKSVwGUfshjv1YrVJGmBu3g/tz3WgZ1qB+LvexdcOVZl3dNpU0Jsi/KneQvSrBUQIWtPJIszKUuc5B4UT4lSH7pu+Vj5uZ8llvX/s/ofogXMis2wjLpsn1ReKVuc0iyZlAwl7LSf1F+83KSfggfy5BXZumHOV2/u6u8peZmZKuVTTWOWvlUEXk91OYnH6R9UWhz8tdpAVEIVZFS+W85PinK0CLGqLxjaBZE5BR5zYq3vHYg80eUbVGUzflka3Bxh7zrLPupC35Gdlqy7OaEwtSVUyjPjnAyK86iYIuinScLZNws57nMwaQrzJECnUd5G+ExCZAACZBAkQhQsS4SNhYiARIggSsTMHuqr9XrlrcVUUZFARJlSdIyLr2TKfv5BVmwi7davNZ5FYb8ysDdE1JG3k8VL50oH1rxyLfAFRIuKYCWCpuZzxVK5bxDalYkxEt3tS+QsqzPrPzl55W2zCv7wlTYmoM1hcxSAZV8ouhI2SsFQ2AViPdR5M9U3khzXmvjIvVJvZaszPmvtjU1aHfxS7DSUlCcj7jLnBFl0+zZFTnyeqilL/IEgjwxILzNTwvofFIgTzCPf3GfHzI+5i+7kyb1HJAdKyFH+b/0Dnhe40DeIqKkiqIuTx9knT6QK7mwdeUqbHGgzzF1vpi/S8EiKWdX5PB8ey6krxIp8mTuWS27VoN4vcXYVdTzyGqljCQBEiABEriMABXry5AwggRIgASunYC8yyyKiFYwrlCdWcG4QharSeYv4LKamCfSrPSIYiePYVsm5/W0mdMMbl76UW0pI8rSlRQUc5mrbWWBL1+eJvm09zbijOxeNYgiIV/uddWMeTJopU4pKeJxt0yypihappfEvlOnWyHzwbJuGRfxUArjvONima+s981zROSUx4/Fm56ivMEyL8TjK+kio5m3vE8uBpn8HgMHAPP5IQq7jIeUNwc9XmrcdH0qsrBzT7hq77KqI78vHJM2pW1Vvf6WfulT0geD9ZMR0i+tKEtinpDzaLVFfFHrsqiiSLtihJEnPwpauKjnUUHrZz4SIAESKO8EqFiX9xnA/pMACZQIAbMSKY9qWj6uLfuyiJetNGxWMEQZkQW6xImSJUqMeABFSZA4yW9ZTudNjNZeZXMeyZdfkMdK5fFSy5+skm9mlp/qMbi4Wf2SpBylXykoZiUnv/oLGi/KgHiGpX/Wvolc6hG55D1tCbKv4y799FeOTBJ5lSCKhPyUU94x0D9ZpOoTJV/G6SrVFEuytCPt5a3M/O3jluMiY5sy6V39nm3e/Fc6FlZXU2ivVD6/NK1kpqdClDjxppuDHFsqoTkeX8VWxtdy/uat28xDvK0yHuZ0mecyXjJuMn4Sb557ll8cZpbJ/Gi65LMMUlbqEPn0o9sWvwcv+cQYIEYBOSfEw23uk9mrK0p3dp4yUi6nXjm4FIpa16XiBd7It6Qnvn0Lkiwe/daGO3V+ak93nppkPsg5JEH2Jdn8hEBhziMpx0ACJEACJHB1AlSsr86IOUiABEigSAREiZSFunjNRCmWIL97LI9wyiPdUqkoGG5PfK6/gVs8ZpJH3hMVpcWcR/LJvsRJeckjnkN5VNv98XEoiGIteeQnq+RR1hTlbcxVx4u/6seupR3LYFb6RfGWn/exTLPcF3mlPssgCpJlHst9l0s/LSQKlLxTbJkm+zlM1IH0U+qVfrsOfF6/Y6qiC/xfuEk5KS/1SJBH22VcZHwKXFExZDQr0ZZVmcdFlEDzuMg8EIVTlL4rjq9Sds1lpF/CSup2u/fNXHNCOEu6ZUiyUM6kTH4hOzkeomTKu8dmBdecVx8rpU7SxRggfRFlWqereJ2uD6x/CH8ZBxkPs2wyTjJeMm7mUqLMug19E9bySR3I589sTBKW6cty/2Z6jmKe5x3wHONAdChEYbZWdd6nDwpbl7XxsHYe5G3bzEEMAjJHhJkwETaSljd/cZ5HeevmMQmQAAmQwOUEqFhfzoQxJEACJFBsBGTBK+9Dmj1iss2rDMgCWN6BlDRzsFQszMJInDldtqIoizJjTpetuT1r7wdLusRLWXPIW4dOf/vi70Wb5RLZZD9v3XnlMdcpW0nLae9SfXIsQeqSOiVfXhaSLsEyj+STYJnXUk7JLyGvfBInQcpJ+ZyQR578yklZc5D+SHmpyxxnuZVxEJbSL5FdguxLnKRJXtnKsbV6zPVLmjlIXikjZfMG3f8PFuf60jgpJ21K25Lf3C+JzxvMdZvbteyXlJd6JI8xsCpkK3NY6pN6zUGOJV7SzXKa65N4STfnlXTJJ/VK/eZ4ySN5LeWzlKWg+cztWpY1tyl1S7q5LtnKsbX4nDKX5ohZPuEt5SSI/NIPkVvSC1uXtJs3mOWW+qRey/akTXMwp+eUvySnpJvTLMvmyGoxV8xtSZlSDGyKBEiABByeABVrhx9idpAESIAESIAESIAESODqBJiDBEiABIpOgIp10dmxJAmQAAmQAAmQAAmQAAmULgG2RgIkYJMEqFjb5LBQKBIgARIgARIgARIgARKwXwKUnATKGwEq1uVtxNlfEiABEiABEiABEiABEiABIcBAAsVGgIp1saFkRSRAAiRAAiRAAiRAAiRAAiRQ3ARYnz0QoGJtD6NEGUmABEiABEiABEiABEiABEjAlgmUc9moWJfzCcDukwAJkAAJkAAJkAAJkAAJkEB5IVBSCvAw8QAAEABJREFU/aRiXVJkWS8JkAAJkAAJkAAJkAAJkAAJkEC5IFDMinW5YMZOFgMBLzd37L0Qig2njzOQAecA5wDnAOcA5wDnAOcA50CxzIFNZ08i2NOnGFarrIIECkegfCrWhWPE3CVAoHLlyujVpAV6N23JQAacA5wDnAOcA5wDnAOcA5wDxTIHbm7cHE1r1S6B1SurJIErE6BifWU+ZZrKxkmABEiABEiABEiABEiABEiABGyfABVr2x8jW5eQ8pEACZAACZAACZAACZAACZBAuSZAxbpcD79tdP5UVARKPthPG+diogs0MLvDzoDh6gwKBJOZSIAESIAESpVAeb1/WYOckJCAsJPHsX3NMgbFYMfa5RAm1lgxjgRsmQAVa1senXIgW2ZmJrKNBtw3fTyDMFDByckJ2dnZVx39bedO4bm5fzFcgcErC6dflSMzkAAJkAAJlD6BtSePlrv7V373pITIcByKicCLB3YwKAYvHdyJ07u3lP6kZIskcI0EqFhfI0AWLx4CFTy98WyHbni9Wz881LoTPJxdrlrx/a064Jtbhlw1nz1mKIhiLf1qWrEyXrq+J7rXaSiHVw1F4WytUsaRAAmQAAmQwLUS6F2/CV7r2kff/+X+ZK5P1gB1AyqYDx1+e/70CbgFVsCgxi31OkjWNx/cfCue7dit0H0Xph/1vg2NKgRftewT7W7EU+276DVXLf9AvNi5h5bBsqBZjq8G3I3SHJOAKtUtxeA+CdgFASrWdjFMji/kWzcNQPPgqjgceR4VPX3QIKgS7m7eVt9s5eZwfY26+uIvNwy54YryXVvddN2cnCE3g+c6dsfgZq31fs96jdG3QTPHh6Z62EstSm5W/R3YqKW+MQqzx9WNslONOriucnXITVKYqaw6PS/nHnUb4c5mbTQvyTfixl7oUqs+pLxwb12lhr45t61aU4+HcHc2mqQ6ewiUkQRIgARIwEYJBHl44Yl2XbR0ni6ukPvZcGUolnv5A9d1xMdKOZT7ueW9TPaHdeqOgY1a6Pu95JUyEt8iuJq+n0m63L8k1PYP0vXbw4eT0Yg7m7dBTHISsrKz9T27mq+/XvuI0cHyHi3rnq61G0DWPu2r1YL0XZiIkhyXmoKtZ07C3dkFlnmEkbCRfFJemHSsXge3KJa3NmmF21SQ9US32g31OkDWA9KmrLm81PjI1tnE+79wYyCB/AgY80tgPAmUFgGjwQBfNzesPXlEeV4bIcjTC3Jx712/KeoFVsQrN/TCq116a8X7/lYd8YpS/vo1aIYa6oYjF3m5qVbx8cWtjVvhBWVtfa5DNwS4e5SW+GXWjsloRMOgYGyV32v09sFLN/TU3Dqom+yQ5u0wrNNNiqs7Hriuk+LaUCvIeTmLAeL2ptehY/XaeLTN9ajs5aNu1N0gXnCxnAtv2crNWMbkFqXAt6hctcz67JgNs1ckQAIkUP4IeLi4ICEtBRN3bsLYNYtQUd37PVWcGHubVKwMVycnNK1YJde9TNYCldR96n6leD/doasyqLfRCrasA0SplPuZKJnyBNyTSmkX47C9kBVlOjUjA70bNNH3bpG7ll+gVo7f7N4v1z36AdX/4Wq906xSFXXP7q6V77tbtNN5H1D3fLlvyzrJnOfRttdDeJnZidFB6s/KzkJYQhxaVa6m1xOnY6PhopTnG5WB3dPZRa8fvFxdJSsDCZBAAQgYC5CHWUigxAkYDUaYjEasV8p1FW9fiHU2yNMTfu7uiE9PRWxKMlYdP6StuJ7Kcno2LhYbTh1DemYmfF3dUVtZpZMz0vVxRFICJu3aXOIyl3UDPq5uEGt2B6UUV1ALkorK0x+sFhw+bu44FRMFL7VAqa8ME2K9TlFsMrKykJez3EB3hp7W+SXflN1bkKaYmtR4WPZPOAvv8+oG7GZytkzifnkhwH6SAAmQQDESkFeeXExO+n4v1VZW9/4WlapCnkRLSEtFUno6wuJjc93LspGNlsozfTYuBnFqXRCq1gKLD4dA2ee1Qij3sxn7dqCSlzcqK4P7yZhIqdouQpbyUg+b+xcWH96vjORN4K8cBNKfsPg4eLi4wvIeLYxkrbP4SAiMRoPuu3wZ3MGIMIhCbO6w5Nly5gRMBqOOMrNbffywPpaPE9GRqBNQAd5qTRGqeBsVzOrKcdFEGTecjUYYJBMDCZBAgQgYC5SLmUigBAnIzWSHUu6GNG+LQU1awVlZSyOVcqzuMZBHo1zVjdey+ZiUJNQPrID+jZprZfxCYry6qTipYILcBCzzOvK+l7rRno2LRq/fv8SWMydRRXmtDQaDvoF6KKU6NjUFToqlm7L6uyiGctPNyzkbF//EYh3g4YlRXftADBQn1GJEHiFrEFRRZ3BW9dzW9DpU9fGD8NaR/CABGyRAkUiABOyDQGRSolKe0/Buj1swdcjj6v7ij6xLokepNHcnZ7SpWgPme5m38pw6X3oVSe5/BoMBdQOD8FjbGxCqlM/41FRdWozw8Uoxz8jKxPHoCB1nDx9yn/319geU17k+ItUaKDk9LUds2be8R4erdU9VH3880uZ6nL/Ud7lnt6taC6dio3LKmXfEiO6i1gFyLOxaBFeVXR0uKIO5GN/PKG+1bE1Go34MXdYHEnQmfpAACRSIABXrAmFippImMG7NYvT942sMnvwj7v7rZ3yyehEGTfwO90/7HU/PnoQH/vkdf+/ZprcfrlyAARO+xe2TfsDD0//Aqwun447JP+DBf8Zj+PxpeGzmhJIW1ybql0e2npw1Scvy2uKZ2HjmBKKSE3FOWfKDlAf7ccVhiGIpjFYpb79kzMtZ8gjrfw/u0TyFv8S9pDj2U+PR/89v9FiIx3qm8gLImByOvCBVMZAACRSdAEuSQLknkKQUx0dn/Knv53Lfv/fvXyH3LLnPjFu7RK8BXl04A3JPkvixqxfrJ6r2XjgHeXJt3/lzGDjhO9w26Xu9Dhg+/299v5J6k9LScCjiglJQE+2Gs9xn75n6C+6c8pNexzw9Z7Luj/RLfgFE1jzme3RcSgrEsD5A3aNfXvCP7qPc5+We/caS2Xqt9MHK+bqeX7etw7i1S+GsDOR7L7GTpwOkkKyXftyyBvf9/RtGLpqh23ti1kRdXpjLuEgeWSfI9kB4mBRjIAESyIcAFet8wDCaBOyNwHcbV+KXreswa/9OvL9ifrGK/8vWtVh27ECx1snKSIAEbJ0A5SMB2yEgT129t+JfrDx2EJ8qY/zMkJ1WhfNwdsHUPVvx544NVtMdIVLux3JfNvdlws6NmL1/l/nwsm1B2V1WkBEkQAKFIkDFulC4mLmkCPw8aCgYLjIoKOObqtTGxIH35oSf+t6Jx5u3w8NN2+DzHgNz4i3zFHX/ues64/0b+xRrnUWVpTDlfu57F5KTkwuKlPlIgATskQBltksCA2o2KPQ95Y1OPXB/4+vwUtsb8y37k7oXPtWyg03es36+wj3Jz829wOug17v0xqOtO+Xkf7rdDXi58005x9bWU5I+uEkrSF5r6bYU98MtQ+xyTlNoEqBizTlQ5gQSz4WhYcUqDJcYRJ46XaAxSYuPR41KlRmuwiAiPLxAPJmJBEiABEqSAOvOTSAzKblc3r/yuyelnjvPddCldZCsCcMu8N6d+4zhkT0QoGJtD6NEGUmABPIlkJqairi4uMvS5Rtno6OjIdvLEhlBAiRAAiRgjQDjSIAESIAEikiAinURwbFY8RM4e/Ysjh49qiueN28ejh8/jgkTJiAmJkbHOcpHZmYmIiKsf1OpxEt6YfoqnKSclJk7dy727t2LdevWyWG5CC4uLti2bVvO3JFOizK9cuVKREVFwWAwSBQDCZAACZCAjRHIysqCGEdFLFkDREZGWjWUSnruYPtHci++cOFCjqD79u2D5XFOgsVOfGQ4zh7cg8izpxB29CBO7tlmkeq4u2cP7kXE6ePaEH50+0YkREc6bmfZM4cmQMXaoYfXfjonitDMmTMxa9YsiGIZHx+PxMRErYCmp6fbT0cKIKnJZML+/fsvU35FGZZ4SS9ANTqLvD+8bNkybNy4UR/Hxsbqd4plqyPKwYfBYEC3bt1w6tQprVzLXFqplOoaNWqgbt265YAAu0gCJEAC9kng5MmTmDp1KtLS0rBr1y59DQ8LC7PPzuSRumnTpjh27JhWpnfv3g1PT09UrFgRV/qLjwpH2LFDyEhLVWuhDGSkp10pu8OkVW3YDKlJidi2YDoq1a4PL/9Ah+kbO1K+CFCxLl/jbbO9PX/+PIKCglC5cmWcO3fOZuUsLsFuvPFGiKVelGmpU7ZyLPFyXNBw4sQJNGzYECkpKRBjREHLOVo+g+E/5VqecqBS7WgjzP6QAAk4IgExiMr12lGUacsxMhgM6NChA0JCQrRSXatWLctkq/uhR/YjJTEBsRdCraaXVKQt1CvKddt+g6lU28JgUIYiE6BiXWR0LFicBA4dOqSt1WLV3bBhQ3FWbbN1iRItyvRnn32mlWw5Lqyw4uE+cOAARME2P0Zf2DocJb/BcFG5vueee0BPtaOMKvtBAiTgqATk6TR5wkgUTvFcO2I/DYaL96WC3pPa9L0D1w9+EA06dEHVBk1Rt3UnR8RS1D6xHAnYPAEq1jY/ROVDwNDQUIwePRqvv/465D2rjIyMctFxUaafffZZyLawHRalXMIjjzyCe++9F2KcKGwdjpbfYDDA2dnZ0brF/pAACZCAwxGQ157kNR5RrOUe2K9fP7Rv3x4NGjRwuL5erUNGo1Hfuw4dPAiGiwyyszJhn3+UujwToGJdnkffhvp+9913w9vbW4fhw4fj/vvvR7NmzSD7FSpUsCFJi18UV1fXIlUqN+LBgwdDFifyCP1dd92F++67D+3atYMsUIpUKQuRAAmQAAmQQCkQkC+X3LljB8pbyMrOuoxu7RZtkBF+Gs4pcQyXGJhSEy/jxIhiJMCqSoQAFesSwcpKSaDkCciXvcjPTDHE6W+RzY9DyY8EWyABEiABEigsgTZt26LVddeVu1Cz5uXvWnt5eaFZl16o3bIdwyUGzbv2LuyUYn4HJGBvXaJibW8j5oDyBgQE6i8sky8tYziHgMCCfRumvLPl4uwMhiszqFqtmgOeNewSCZAACZAACZAACZCADRDIEYGKdQ4K7pQVgeDgYFSpUoXhEoOr/RyHeZzc3Nzh5s5wNQbyyLyZGbckQAIkQAIkQAIkQAIkUBIEbFuxLokes04SIAESIAESIAESIAESIAESIAESKEYCVKyLASarKDoBg8GA9PR0yM9uMGRqDvKN6AaDoehQWZIESIAESIAESIAESIAESKBUCVCxLlXcZdqYTTYuj+nKzyPJN1szmPQ3fAsPg4GKtU1OWApFAiRAAiRAAiRAAiRAAlYIGK3EMYoEypAAmyYBEiABEiABEiABEiABEiAB+yJAxdq+xovS2goBykECJEACJFAsBA6sX4F/Phqlw6ZZk5GZkYGzB/fqY4mf/93H2DBzIrwp4+0AABAASURBVBZ8PxbZ2dm6zXXTxmPbgumwLLty0o84tW8HZnz6OkKP7Nf51vz1i447vnMzZn32FjLSUnWY/vFrOj5veUmXgkmx0fjrneGIPHNSDi+TJzk+TseLHL++9BCSVH6JsJR7ya9fIi7igm5PZJO+SJA2LfMt/+NbpCYnIj4yHNM+Golx9/TA1n+nSXUMJEACJEACdkSAirUdDRZFJYHCEmB+6wTSkpOw5NcvEBV6Ri+c5371HsJPHs21SF8//Q8s/e0r7FuzRFeyc8kcrPvnD2RlZuhjWVjLgn/xL5/rRbFESt5/lIIgi2YJsi9BFtWy4Jd9c5Cy0aFnIVuJk0X/+eOHpRotx+Y5f+n9lMQErJ36GyaMfhrzvv4A0u7xXVsw5e0XdNyxHZt0Pn6QgL0SCD16AMkJceh0+31YPeVnHN68BrEXQhF2/BC63f8UutzzGCrVro/DW9YgITpSnQOx2LNiAQKq1IC5bK/HX0K7/ndq5VSU80U//Q/pqSk4eygECVERukzY0YPIzMzQIfz0cR2ft7zJ2UVjzEhPR9ixg1ouicgrj6unp65zz8qFOHc4BIeUzJb5brj7EaQmJUCU7rjI8/qcrtWyLUTO2te1z+nf9Xc+iIMbV0JkXvbHN1IFHv9yIqo3aaX3+UECJEACJGA/BKhY289YUVIScFQCpd6vzIx07Fu9WC9u53z5LlITExFQtaZepIefOoYGHW5EtUYt4O7ji0U/joN4v1ZM+AGBKo/R5KTllUV7iFK6t877G2FHDkA8TuuV4r1j8WxdryzET+zegtqt2qN64xbwDqyg9yUuPTUZdVp1UN63LOxfuwyB1WoiOzMTE994FokxUZDF/jHlYZM6J4x+SnvmmnbphQo16iA67Cz+fn8EKtaqh+t63wr5ngItED9IwAEIGJ2c4ezmpnuSEh+Lk3u2I+rcaVSu2wii9IrB6sKJI4DBgOA6DSB/ojjLeZWgzh2DwYC6rTshNjxMK7OSfrWQt3x++S3lMRpNOLN/N1w9PHGjUqLFqGY2ujkp5dy/clX0eOg5ODk748yBfbpKMZydDtmJTKW064icDwPcPL31+b1v1SIc3LQaAVWq56RyhwRIgARIwD4IULG2j3GilCRAAiVAYNPsKVqR7ffMSJicnHK14KoWui1u6q+U32wsVl5pn6CKasHeMVceWei7+/jh4MZVyuN9DKlJSkG3siB2dnWDf3A1NOvWG14BFRCslIRGnbvDycUVJrXwrqOUb4mXRbrJyRnmv1NKqRBF/973vkHrPrehw6B71ALcC2IYOB2yC1XqN0Gtlu3M2bklAbslcGb/LvypjEj12nTWBqi8HXH39tXGqAMbVkCMTjWbtYbE5c0nxz4VgtH+lruxfvqfSEmMl6gSCfvWLtUGuKoNm2njWnTYuVztGE0mdY67IDsrM1e8+SDq7CltTHNxc9dGMvHY3zbiPSwb/7WOF+OdOS+3JEACJEACtk+AirXtjxElJAESKAEC2dnZuHDiMGRRa/ZCSzPi6Tq0aQ2ilZfMOyAIHW+7FyFqAX39nQ9BFGTJYw4GgwHNuvbG4a3rsEV5ruu16QRPvwBzMpLiYnFEpckjqDmReXZSEuLx24hHsGnOFNw24l24eXnn5JCFtcFohIu7Z06ceLIe/ewPSNq4oT2xe8X8nDS9ww8SsEMCtVt1wMNjf9WPe184fkT3QIxNYoyq0fQ6fSzGqMPKm7tr6VzIvo5UH/6Vq0GMYJVq1VNHF/+37DFAG6AOb16rI+Qcl1dAMlJT9ePi8mSIKOCSaK28xOcNlvJI+eM7t+jz9p+PRkJeKzm5Zxss/84d3o/E2GgEVa+lo2u3aAt58sRDGeMkoqKS9+FxvyEuMhxHt2+EyNZCyT307S8hT7zIayCSj4EESIAESMA+CBjtQ0xKSQIkQALFS8BgMOCmB59Ti9oL2rMlira0UEstfge/9nHOwl08Y/IYqniHJT1vkHch05KTsUcpuPXb35grWRbOtypluf3AIbniLQ9EkX5ELa7rt70eKyZ8r5SBjJxkeYc0Iy1NKfZLkKW8XrKYT4yNgZd/IB79/A80vfFmhKxZmpPfnnYoKwnkJVCxVl1Urt8Eu5f/q5PEKPV6t0b45M6uiI+KQHCdBpAnSeRJDzkndSb1IV/0NaJDdfw0bKgyOKWqGMDD1x9d730S2dlZEKVazmsxlI29uzu+fKg/6lzXAZXrNdZ5LcunJSfpOPmQ976/eLAfPrrjBiRfMpKZ5Tmybb06DwPwyl/L8NqMdej5yPOQ72GQx7zNck9563n0e2YUAqvVkuogBjSRU94j1xHqQ14RaXpjT/26hzwZ896Advhl+APKg32bqj9Q5eB/EiABEiABeyFAxdpeRopykgAJFDsBv0pV0PfpkVqhPbxlra7fvMj+4dkhkHecdeQVPkTJbdSpG6o0aKq/YMkyq3mBLQtz+XZgyzTLfXmkvMfDw3Bm/x6loC/ISaqkFIkeSvmf++X7eLVTLXz31GCEHgnB/+7thbd6tVDevbX6EfGcAtwpbgKsrxQIdL//aQx58zOtAN/77tf6C76aKKPRuE2nIWHktFUQpVge/X7+tzl47ueZOU92SFnJI+GJryejZc8Bui4Ru6mq48OVB7WRTAxY4h1+Z9EuvLd0H24b8R5MTk7IW97F3UOKwieoIl6bvla3L9s2/QfrfWlH5BGPuHzJmOulp0mknkf+9zua39QvJ9/oWRvQ5IaecPPwwlPf/pUT3+WexyH9kzgpL19oJv0eMOx1vPnvVi1f16GPw2AwaFn4QQIkQAIkYB8EqFjbxzhRShIggWIkIAv0F/+Yj2qNmmuv73tL96KB8jbL4lgWzhLMi17JI3lloW0pghxLvKT3ffpVPPb5n/DyD9ILaFk0S5B6JMjCXPLLIlrqlXakLokz1xGkvFqjpq9Bq5tv0Yt9UTQMBgM6D34AH6zYrxflr/y1HPIOqnnx/fbCnVpuqYuhPBNg30mABEiABEiABMqaABXrsh4Btk8CJEACJEAC5YEA+0gCJEACJEACDkyAirUDDy67RgIkQAIkQAIkUDgCzE0CJEACJEACRSFAxboo1FiGBEiABEiABEiABMqOAFsmARIgARKwMQJUrG1sQCgOCZAACZAACZAACTgGAfaCBEiABMoPASrW5Wes2VMSIAESIAESIAESIIG8BHhMAiRAAsVAgIp1MUBkFSRAAiRAAiRAAiRAAiRQkgRYNwmQgG0ToGJt2+PjsNLtWzYXJzatYFAMQlbOR8jqRTip9ssDkwMr5iEhIcFh5zY7RgIkQAIkQALlmAC7TgLllgAV63I79GXb8ap16sO/Xiucj85AWHR6uQznY7NQuWUn+Pn7w9PVBcEtOkHiHJXH+Zh0GPxroEGHbji2Y2PZTkC2blME9q1ciNPb1+L0NoYrMTi4agHi4+NsauwoDAmQAAnYJwFKTQLFT4CKdfEzZY0FIWAwYOeyhejQ52Z07NOrXIYOvXpg55r1ipYB2epz44LFkDhH5dGhdy+4uxqQpfoacfwQQndvKedhM3YtmY2Q5fMQtqd8s3AzARUbt8GZ8CScCktgsMIg1SUA9Tt0xfFtcs0A/0iABEiABMoDAfbRrghQsbar4XIgYZUmmZXN6WcyOuUMqpunZ86+o+6kJifprgVUrYmoVCOOnTyvwoVyF46fjoBfg5Zwd3FBo/Y3INunkmJQPlkcOxUOqPNg08Il6KSMbNf37wOGyxkEVfDTRqnsbHXx1GcRIPvp6enIyMhgIAPOAc6BcjMH5Lp36TLIjY0QoBgXCVCzuciBnyRAAqVIQFSDgABPXH/LABX6l7vQuX9f7Flz8XH4LAXjzL4dikH5ZHH9gH5IT0uBq4fjG5au5RTLyEi/rHhWVhacnZ2xefZkrJ78E0MZM9j+z3c4vWURQxkyOLl5PuLCDjPkwyA29BBS4y7YdcjOSIXJZLrsesgIEigAgRLPQsW6xBGzARIgAWsEDDBYiy43cU5urjl9TUtJzdkvlzvKuFAu+12MnZ7/7UdgKFsG2VmZOLxiGkMZMshIikfEid0M+TCQS05CxGnYc5A+MJCArRIoHsXaVntHuUiABEiABEigHBCo1/Z6tOjeT3n+vVCpdn1c1/tWVG/SMqfnFWrUwYDn30Dfp0fqrRznJF7acfXwQr9nRuLuMZ/pGKmnaZdeuk4dUYAPqVfakXJ5s18pLW9eez0OqNUYEnwr10alRm3h5OJmr12xW7ldPHzgXaEGZGs0OcErqBo8A6oUuT8B1RrDO6h6kcvbWkHh4uoVAIPRBCcXd7h5B8LZrfieGHL3qaCY/8fL5OSi2gjQbbl6+uW0Jftu3gEqLVCniTwil8TbGjPKQwIFJWAsaEZHyMc+kAAJkAAJkIAjEujx0HO4550v0fmO+9H13icx9J2v0Om2+3K66luxMpp364vaLdvrrRznJF7aada1N1r2uAWn9u3QMa1uHoSBL76VS0G//8Pvcdsr7+t0ax9Sr7RTrVGLy5KvlHZZZjuNqNP5FtS9YRCa3fI4KtS/DhlpKXbaE/sVW5Tq4AYdEFSrhVbwguu3R4VaLXN1qELtVqjS+IZccfkdOLl6wOTshsqNOqNi3db5ZbObeM+AqvCtXBcefhXh4V9Z7deDu2+lXPL7Vq4P74q1csUV9MDZ3RuuXv452d39KsGnUh09Fm4+QfCuVBuunv6Q+kUJ9wmuezFNKfu+wSqfMorkFOYOCdgZAaOdyVsexGUfSYAESIAESKDQBJLiYlCndUcE12mI5PhYXf6Jrydj9KwNuG3Ee/rY8kM8yMP/nI8x87bgzX+3otPt98HTPxCNO3fPyWZycsJdr4/F6JnrIUp1jaat0KDdDXjqu6l4bcY6vDJ1hUpbp+t4d/FutO0/GFKm/S134b2le/HC+Hl45a/lqo5PcYvymOdU7MA73pVqIjMjHQcWTUCbe17Bjc+OQ4cHx6DzEx+i67DP0X34N+j48Fvo9Nh7aDbgMdzw1Mfo+vwXOq3jI++g5e3P4qaXv0fXF75U5Uc4MKmS61pmeipc3Lzh6ReMLDUW0lLVpl1Qp90tqN1uALwCqypPaQCqt+iB+p0Ho+Z1vVGzVS/UaT9QhypKia7b8TbUbN1H5/UMrKLzi1IqeSrUuQ61WveFX+V6UrXdhezMDDi7+8DJ1R1Zal+8xQE1miGodisEKiOEi7sXXDx84V+tESrWb6fjpc8SAmpKvpaoUKc1KtZrC1GMJU7SJDi5uOXiIYp2emoSTCo+KyMNRqMTXDx9kZ2VhQw1TiKLpElcVlZmrrI8IAF7I0DF2t5GzGbkpSAkQAIkQAK2ROD8sUOoXLcRXNw9kBQbDS+lJLt7X1zAOrm6XiZq1YbN4OkbgPnffoykuFi1yE1D7IVQrP7r15y8WZlZiI8Mh5uXN6LDziLi9ImLHu3sbLUwzoSzqxsMBiMObliJ+KgIePkFKqUyA5tiwyLvAAAQAElEQVTn/o24iAtw8/TOqau87GSkJSulxRNVW3WFs5uHfH07TM4X+Ucc24PUxDikJyfqR3F9q9aFKIFyLO9nuyheLsrjlxIfjYgju+DqHVBesBVrP4VpdnYW3JWHNC0lQbN2VYqiwWiCQf0TRS8tKQ5pyXFIT0lE1Jn9kDGS97NF+XPzDkRqQjRObl+ILKWYZyjFMD05AUkxYUiODYeH8vDKO/VJMeeLVe7SqkzmqJOrh+aSrRRreWRe+m8wilqQrfucnhyv5maaCqlIS4qFKL3xEadhNDnDYDAiNTFGs3N29YTESZrkMZqccrrhpuavKNomJ2fII+GSkK0UalelWGekJUHazspM1+eIs5r3mXzCQxAx2DEBOYPsWHyKTgJXIcBkEiABEignBOIizquFbjLCjh7Uyq2zmzt8K1S62PvsixvLz7MH9yIxNgr9nh0FDx9fRJ45aZms952cnbVSnZGWBu+ACmoxnYB67W5AhRp1Ly7K1SJZZ7T4kDIdb7sXHr7+iDp3Gj5BFdH4+h4WORx7NynyPFKVYlyj3c1w8wnUnc1G7gFIiY9CWkIMjE4uCD+6G87unqjf/U6kJcYjTSk0uhA/ik5AGX5Ecc5SHlBRikUJThXlUCmRwlcUb/HIuiivrTQiSrTEBdVqocckRSnV8jizeKyNTs6SBaIAevhWVAaoFDi7eiAlQY2hnY6VPFGRrc5dzUbNTfFaS/+zMzOVIp2irh9pcPHwgcnZRfc9XRknjEaTftdcOIjRQviIcp6eEq/ZeAdVh+SRunQh9eHi4avSMhF99qC6NiXCSSnholAbTc7KuBSvciidWrWfoYxRSnPX7epIfpCAnRIw2qncFJsEHIoAO0MCJEAC10Lgx+fuwV/vvoRP7uqGiW88g0+H3ASJe7d/W3x0+/U54bun7tD7R7auQ/ipY/j8gX54b0A7SL5pH76qy0mayLLop3F4d0BbFddDpbfBlLdfwPiRj+v8793STtcjdX9wayf8/cErKt9N+GX4A3jvlvZ4p+91Ovz8wn0Y07MZ3unXWrXVV5eReqV+RwxbJ4/F1smfYPOfH2DNtyOw8svnsea7V7DhlzFY/9No7Pv3N72NOnkAzh7eiA87gSMrp2PVVy9i1dfDsfG3t7Brxrc6jzmvI3IqyT5FntyLkzsXI/TgBpzYNh9hhzbhxPYFOLtvNY5vnYcze1ci9MB6HNs8G6d3L9NpomxLmWOb56j4OTi3fy2ObpypPdYSd/7wFhW3Ttch3lpRLhOjw0qyGyVWd7TyzseFHUXkiV2IDT2itrvV9jCiTu1FhIqLOXsIMecOIeL4TkSfOaDTk5WXPvzYDkiIUnyzleFCjBHhR7ch7vxxSJykSYg6HaLLSAckTdrJVJ5oaVeCtHnhyFbl/T+PhMgzuqzESdsX5dotRRlIwC4JGO1SagpNAiRQFgTYJgmQAAmQQDEQkEduI4/vw4HFk4qhNlZRmgTE+x1xco9WCkuzXVtqS5RqeVTclmSiLCRgCwSoWNvCKFAGEiCBYiTAqkiABEjAtgmc270Wh5b9BXkk3LYlpXSWBMSzHa48uXEXTlhGl7v9hIjTSI4LL3f9ZodJ4GoEqFhfjRDTSYAESKAkCLBOEiABEiABEiABEiABhyFAxdphhpIdIQESIIHiJ8AaSYAESIAESIAESIAErk6AivXVGTEHCZAACZCAbROgdCRAAiRAAiRAAiRQpgSoWJcpfjZOAiRAAiRQfgiwpyRAAiRAAiRAAo5KgIq1o44s+0UCJEACJEACRSHAMiRAAiRAAiRAAoUmQMW60MhYgARIgARIgARIoKwJsH0SIAESIAESsCUCVKxtaTQoCwmQAAmQAAmQgCMRYF9IgARIgATKCQEq1uVkoB21mzt37sSkSZMwdepUhIWF5XQzKSkpZ192Zs+ejRMnTiAtLQ0LFizA/Pnzce7cOUmym5CVlYVFixYhISEBK1asyNXfvMdX6lR2dja2bNmCP/74A5GRkZdllXby8rssEyNIgARIgAQciAC7QgIkQAIkcK0EqFhfK0GWL1MCDRo0gCiKDRs2RHh4OGbOnIkNGzbgu+++w65duzB37lxs3rwZKSkpyMjIQGZmps5XsWJFrFy5Env37tWKtpQ5efIkVq1ahR07dug4OZ43b55Wwvft24ejR49i06ZNiIiIyEkvzc5LPw8dOoTU1FQcOXIE+/fvx99//637KH2TsGTJEh0nfZM869at0/LOmDFD91Xk3bZtm97v37+/TpN8a9euxZo1a7SBYvHixfjggw80B1G+pc3ly5djypQpWLZsGWbNmqWVeqlTDBvCSMosXboUEqSN0gjbt2/H999/j19++UXLI20KIzEKyFaOJUyePBnHjx+XXW1I+OuvvyD9FQOCjrzCh8ybs2fPakOGGGUkXCF7mSfJHBAewkWMMGaBRG4J5mPhIVzkWDjIvJbjCxcuSFROsMyXE2ljO8nJyfq8t2YkKqyoMm8OHDigjU5iiLMsHx0djd9++01fSyzjZV/SZO4L/5XquiLHEi9MhaHsM5AACRQDAVZBAiRAAjZMgIq1DQ8ORbs6AQ8PDzg7O+uMohA3atRIK1GiOAcFBUGUBlkoi0KtM6kPUUxFga5atapWmGThK97urVu3IjQ0VCtdEhcSEoL4+Hg4OTnh1KlTkMWyeLlFKRMlW9JVdWXy38XFRSvYogiIXAcPHoQomjExMVqeM2fOaKVZ+iFKrxgZZCtKyOnTpyEGCeEjZcVQcOzYMe3F9vX1RfXq1XUQpbxTp07aACH1V65cGZJP6vjnn3+04UKUCVG8haW07+/vr9svjY8mTZro8b3uuutw/vx5TJgwQRsHxowZo40C8hTD+vXrkZiYiPT0dIjcEydOhOSX8ZOnFsSoIP0UTlJ+586dEEOBGBHEmPLxxx9DjBVSXpTVH374QR+L0hUbG1sa3SxUGyaTSfdP5n2bNm0wbdo0bQwRQ9P48eO1YUiUPVFChYtULkq1nCOSX5jNUoYTGVdhIXMmLi5OG2LEkCJMxJgjxirhJUyljrIMMoa7d++GjLUYgORclSc4Fi5cqOPEGCQGNhln6bsYD2RMRX6Z1+Z8ci4dPnxYG4e6d++OOXPm6LkgZSXfLMVFzhc5t8Q4I3HCQtqW65DIIfNqz5492vAm8ghjmZvCUoIYaaQ9eWKkLJmxbRIggZIlwNpJgATKJwEq1uVz3B2u166urjAYDFqx8vHx0UqULHhlIZy3s5K3X79++tFwT09PVKtWDU2bNoUseuvWrQspL3GieBqNRoiyIoqsKN7iFffz84OXl5dWPvPWXZLHIocYDERJkn7JYl7iREZpV2QSxUcUXJFXFApRoitUqABReEVxcnd3R9u2bbVy+NVXX2nDgeQTZaFWrVraCy51ibItBovp06drw4W04+bmBikv8aKAS52tWrXS6d7e3qhfvz6kfSlfGkHkkX5KW6tXr0br1q21/LVUPypVqqSfTpAxMxtVxPssrMyGAxlv6aco1fJ4vXgbN27cqI0HkkfixWAg+/L0guyblXJRPIWJtG1LwWAwQMZCuMgTCGIMEWORzI3mzZtrJqLoybwwyy1GpXr16qFKlSo6XZRD4Sfl27Vrp5/0EIVbFEYxXonnOyoqCqJwi9HJXE9ZbWW+y/kqiq2M6UrlMRYDmMwJmdtiAJO+iXzSdxm7mJgYyHVAnt4w55M+ibFE+i5jLemiaMs5JwaGDh066GuBGCskXgxscj2QeS95RQZR6M1tmeeeKNcijwRze1JW5GEgARIggTIkwKZJgASKmYCxmOtjdSRQ6gTuvvtuNG7cGPfffz+eeOIJDBgwAE8++ST69u2Lhx56CA888ACGDh0KUR5EMZRjyf/ggw/ikUcewcCBA7UH9/nnn4coEhIvcbIvdffo0QMSnnrqKV1/t27ddL3NmjUrk76KR/bFF19Ely5dMHjwYNx333147rnncNNNN+Htt9/WinONGjXw+uuv47XXXsPNN98Myd+1a1ctryiKkk/6K2mSb/To0bj99tsxfPhwbWR44403NEMp//DDD+t+d+zYUbclbQprqbNnz54YNmwYpL3bbrtNs9aNlOKHKNgGg0F7GAMCArTCJ0qNKFEGgyFHEjGISN+/+OIL7cUVI4ooXqJkivJlfoTcYDDopxRECReFSRRNqUQUVvFSiiIlHl+ZSxJvq6FmzZr61QYxmggXMTSJYieeWUuZ5akEeYLj66+/1kYmUcolvyjQ//77r1a2xcgkr1uIkUZ4BwcH61cwhJllXaW9LzKKMizzWMYqMDAQ8gSFnN9i+JFzWPojaeIxlr6LQUoMQKKQy745n4yvPAUhvD799FM9B8TwJkYkySevmUh/hYEoz3I9kbrN80CMc/JEh/CxnHvStrQl/MXAIe21bNmytFGxPRIgARKwUwIUmwTsh4DRfkSlpCRAAgUhIAqyeNcKktfe8zz++OPaECCGBTEC3HnnndqgMGjQIG0kEKVfDCLy6LvBYMCtt94KMSI89thjqF27ts4r5cSA8uyzz+Lpp5/WhgIxIshTDWKEEWONtNO7d29tvBHPo6TbosdaxlP6KvKKB1+MJqNGjdJGEzE2CY+XXnoJYgSRPJJflGRhIkGMJpJHPLYvv/wyxIjzwgsvQMKQIUMgDCRPq1attDFHlE6po6yCKLZiIBLDzjPPPAMZs/fff18/vfDKK6+gT58+2kAkRjAZX+n79ddfDzGOSR9F8Tbnk7pEkRbjkjB79NFHtUFJXi+RfWEpjGTuyLEYqswMpf8yn8aOHQv57gKpQzjK3LvhhhsghiqpU4xf0p5spQwDCZAACZCAgxBgN0hAETCqwP8kQAIOREA8rQbDf55aB+pasXVFlCDxWBe2QlG+RHmXpwUKW5b5bYOAeJxFsRbFV5Rr25CKUpAACZAACZBAyRNgCyVLgIp1yfJl7SRAAg5EwGAwQB71NRhouHCgYWVXSIAESIAESIAEbIeA3UpCxdpuh46C50dA3qPcu2oRJox+GuunT0BmRgaiQs9g9mdv45+PRmHznL/0+6F585w9uBdzv3oPcREXf3JI6tk4a5LOn19b9hAv/ZC+Tn7rechWjuMjw/HvNx9i7pfvQvaT4+OwcuIPkG3kmZNYNflnpKck20P3KCMJkAAJkAAJkAAJkAAJlDKBy5ujYn05E8bYOYHM9DT4B1fFXWPG4ei29Ti2fQOSYqORlpKEXo+/hObd+8FantgLodgybxr2rFygCSRER2LL3L9xcu92fWyvH6eU/LuX/4vbRryHfasX4cTuLVjww1jUb38jGl/fAwt//BSpSQk4sGGlUrIvqLRPULtlOzi7udtrlyk3CeRLQAxLYmCyNLyZM+c1wGVlZmDz3KkYP/JxbJo1WRvpxPhEI5SZGLckQAIkQAIkQAJmAjapWJuF45YEikLAycUVVRs2g5OzK2Tfxd0D6akpkEVy2NEDMDqZzytPGQAAEABJREFUIPF580hbzbv3xam9O5CanKiU8g2o2bwNnF3dJMlugygCRqMJbl4+8AkKRvjJY0hRHmp3dexfuToSY6KQlpyEjLRUzP/uY7ToMQA1mray2/6K4OKFl6cPpr73EsJPHZMoHN+1BX9/8ErOUwwyxkt/+wrTP34tJ8+B9SsgQZQvUaRO7tmmyzrKx9UYyBxY988f+gkPMUat+PM7iIHJUfov/bBmVJN4CdJnSwOcxDW98Wbc/cY47N+wAuePHdTXEhqhhAwDCZAACZAACZCAJQEq1pY0CrfP3DZMQJSmGWNHo1qjZqjRrDUCqlRH6z6348i2DZimlCtRIPLmke4EVa2plM+KWrk+qjzdddt0kmi7DrVatEVKYjzGDbkJh7eshbu3L1r3vR1/vPakZpGdlQWjyaQV6wSlZPtVrGLX/RXhM9JTcePdj+K63rcpj/w4ZUw4ilWTfkSfJ1+BPJmwZ8V8rJr4ox7rG4Y8ioU/fIqUhHiEKsOLhD0rF+j9ao1bSnUOEaLOncbVGCTGxeg5Eh9xHot/+RyB1WvByz/QIfpv7kR+RjVJz2uAM5qc4OTqCnlNxGgwwqdCJcmmzxVHMULpDvGDBEiABEiABEjgmgkYr7kGVmDjBMqfeLI4Fi9k/XY34galXBkMBvhWCEb9djegw6B7kJWRCfHi5s2jSam8zbr2xoLvx8LN0ws+QRcX0jrNTj/cvLzx0Nhf8NKkJQiu00D1qSKkj2/M3ojeT7wMr4AgiLIhHu1ejw3H/G8/QnTYGdjzn39wNfhVqgKjyQRXD0/9BALUn6uHByrVro/QIwcQGx6mjQw+gRWQmZGOxNholQM4oTzbu5fN00q4yclJxznCR0pCnO7GlRiIx1YMLasm/QS/4Kpo3q2vLuNoH9aMatJHawa4mPOhOLR5LdJSk7W3WvKJYS7BQYxQ0h8GEiABEiABEiCBaydAxfraGbKG4iBQjHWEnzyqH+Oe/91H+PiOG3B48xod/hz1JCaMfgr1O9yo3yU+qrzXlnnMIlSq3QCijIryaTAYzNF2u02IjoA8Ev3zC/dBPG7Vm7TElnl/Y+Ibz2LeNx8q48MjSgG9qEAG12mIznc+iJmfjkGK8uDabaeV4Ee2rsPyP77FzY++gMr1msC3YmX8795e+p1ZF3d3dLztPv3o+y/DH9RKtZOzsyoFxFwIVV7aIId7x7ySGtuCMMjKzET0+bP6KQ+DwaCZONKHNcObuX95DXAZaWmoVKse+j0zUhmlGiL08H6d1ZGMULpD/CABEiABEiABErhmAlSsrxkhK7A1AlUaNMWYeVsweuZ6vDZjHeRLuiQMeetzDPt1DjophcpaniY33ozu9z+tleonvpqk36+u1qg5bn353Zwu2uOOl38Q7h7zGZ769i/thZXHW9sNuAv3vf8thv0yC5XrNoJPUEWdLtsW3fvhkf/9rjnYY39FZjGmrJn6m+6jeK/F8yxf3ibzQb6YLbBqTVRv3AIjp63CPW9/AZ/Aisqz7SVF0arnLZD8a/76BfKutY50gA/p09UYuHh4waQMDL0ffxkbpk/AqX07HaDnubtgzfC29Pev9bv3Mm8sDXDySsGE0U9jwuvPQL6fwfLVAEcyQuUmxCMSIAESIAESIIGiEKBiXRRqLGOXBORLzES5sEvhCyd0uc+9c+lcnNq7HV8+1B+TxjyHhKgIzPrsLfwx8nHIu8aNb+iBI9vW48/XntLpHW4d+p8hQXlpb350OI7t2JTzDfGOAFS+oO6qDDwvGhfk9YC+T4/EvK/fh72/FpB37KwZ1Xo+PAyd77hfG+EsDXBilLr/w+9x/wff4bEvJmgDlBifxEglW0cwQuXlw2MSIAESIAESIIGiEaBiXTRuLEUCJHDNBEqugjtHj8VbC3boJxbufe8b/R75rS+9o981Fw+1q7sn6rXpjAc++gEv/D4PDdrfqIWRJxYkyKsA4rUXxUknOMCHGJauxkC4PPTJz5AnNeSb4Z/54R+Ix98Bul/gLggnGuAKjIsZSYAESIAESIAELhGgYn0JBDckQAIkYJUAI0mABEiABEiABEiABEjgKgSoWF8FEJNJgARIwB4IUEYSIAESIAESIAESIIGyI0DFuuzYs2USIAESKG8E2F8SIAESIAESIAEScEgCVKwdcljZKRIgARIggaITYEkSIAESIAESIAESKBwBKtaF48XcJEACJEACJGAbBCgFCZAACZAACZCAzRCgYm0zQ0FBSIAESIAESMDxCLBHJEACJEACJFAeCFCxLg+jzD6SAAmQAAmQAAlciQDTSIAESIAESOCaCFCxviZ8LEwCJEACJEACJEACpUWA7ZAACZAACdgqASrWtjoylIsESIAESIAESIAE7JEAZSYBEiCBckiAinU5HHR2mQRIgARIgARIgATKOwH2nwRIgASKkwAV6+KkybpIgARIgARIgARIgARIoPgIsCYSIAE7IUDF2k4GimKSAAmQAAmQAAmQAAmQgG0SoFQkQAJUrDkHSIAESIAESIAESIAESIAEHJ8Ae0gCJUiAinUJwmXVJEACJEACJEACJEACJEACJFAYAsxrnwSoWNvnuFFqEiABEiABEiABEiABEiABEigrAmw3DwEq1nmA8JAESIAESIAE7I3A4Nc+xsuTFqPXY8NRt3UnPPn1ZAx4/o2cbsj+U99NxU0PPqvTJO9Dn/ys8z/743TUa3s9Br74JiQupxB3Ck2gSd+H0Omx91D3xlsRULMR2tzzChr0uDunnlZ3DEPHR95G9dY3wTKvxLcY9BQ8AoLR+u6XdPmcQtwpFAHvoOqo3uImVKjdEoE1mqLmdb1Ro1Uv+FWup+sJqtVCpfeAT8Wa8PCtiGrNuuXklXIefpXUcStUaXy9zu9oH94VaiCgehO4+QTBXfU1oEYz+FVpkNNNn0p14F+tMVw8fODhX1nn9fAL1nl8FUOTixv8qjaEZ2BV8I8E7INA6UlpLL2m2BIJ5CWQnTeiXB9nw/FPx+ysrHI9xuz8FQgYrpDGpKsS8K0QjLBjh3B46zp0uv1+ZKSnoXHnm3Bd71tRu1V71G/bGVkZGahQow42zJiIyLOnkJqcBL9KVVCj6XVo1qUX6re7AQFVa1y1LWbIn4Crtz8Sw88i6kQIql3XHVmZGQiq2xKVm3bUhVy9/RBz+hBizx2Fq0VeUagDajVBlWad4R1cUyk9ATo/PwpPIDk+EonRYXD3qYDEqFDEXTgBubykpyTqyuQ4Mz1Vp/tWrovsrEx4+leBu1Ky3bwD4RVQBR5K4XR289L5He1DOJj7bzI5QwFASkJUTjeTY84DBgOc3b3h5h2ALMVHlGxRqGXr7h0EZ1dPmJxcwT8SIIHcBK5pJZ+7Kh6RQOEIVK7XAAc2rsXBLRvKZQhZvxpV6tcDDNB/rW7sgK1LV2DLMscNaZnOOeaDTLXg1B0vtx+XBl71P4sGB7WYDVQk+D8/ApFnz+SXpOPPHNiDoOq10WXIY/D080dSXCwylXJtNJogCnVGejp8K1ZWa+gspKUmI6ByNexaNk+XjQo9jfoduiA9NQVpSReVD53Aj0ITiAs7obzOlVCjfW/l8fNGhlLmstW1zmAwaiUl5vRhBNZpjirNr4dlXlHA0xLjULFhG6TERhS6XRb4j4Crpx+8A6upCAOyMtPh5hWAtOR4JEaHqjhAPNqSB2pMRDnMzEhHdnYWDOqfKJ0eyjubrZRJGRNdwME+REF2UkaDlPgIZYBLUYpzBsSw4OzmqXvq7lcRJicXGBWfbHVvkn0YDJpRlmLlqpTtzIxUnZcfJEACuQkYcx865BE7ZYMEws8cR/2GdVGvWXPUbdykXIYGLVoiONATsRHhSEhMQIJacNWqEYja1R03+LmmY8+qBajdXC0eUw3YsXptuQzbVq1F03bX6TPTaAAadupaLjnI+G9ftU5zaNKyKRJi1XkQE4/4aAZLBgmKSf3r2sOk5orRSXmYNLHcH9Ubt4Snrz+SE+IQdvQAGrS/EZK3qfJE93p8ONy9fODq7gGTszNqNmujFI0khKxZoitJiIqAyckJ4aeO6WN+FJ2Ab+XacHb3Ugp1EuIvnEFA7aYwGE2o0KA1Gvd7SHmja6lxcUF6ShIs80qLidHnYXJ2UYr1f95DiWcoHAE3L38YTCZdyGhygnieUxOj9SPNVZrcAK1U61QgNSlWe6cNBgMylRKemZ4Cg9Gozo/4Szkca+Pk4g7xOEuvhIscOzm7K6U5Ex7+wfCr2kDNQVdJVhxMKhhVUFulZEuk5qP2xWgnxwwkQAK5CRhzH/Ko7AiUr5YrX3cDDh3YjwP79pbrcHD/flRv3x21VEjxDESiq6/Dh6DmHXFi+3p4ZMYi2MdULkMVXxMiD2xFUkoqDmxejczwE+WSg4x/ZV8jMpQXZM2Un3Bkw2Ic2bgERzcxWDIQJruXz8XudStQ+7qLjxTnvWMs/f0rTH7reWye85fyRP+LP0Y9gX8+GonVU37Gkl+/xN8fvIKJY57Tj4Ef3LgS8775ELVatMXmuVPx77cf4a93hus0c7ykMbTVjArKQcbk2Lo52DPnR5zdtQrnD2zGrulfI2TB7zi5eSGOq7Qjq/7BntnfI/L4XljmPbB4Ak5uWqDLntyySJVfDb9q9RgKyUDGICnmPM4f3oLw4zu0Uijb5LgIJMdeQPSZA4g+exBhhzYi7vwxJEScRuiBdTh/ZCuiz+xHxIndKm0TYsOOqv1dcPcJcqiQkZaMWNVv6bswSU2M0cfx4aeQFHMB8uh8QuRZSP/lkXqJl/2EyDPKUHQSidFhOi0pJgzJceFwdvcu9SBjzEACtkqAirWtjoytylVMcnl5eaFx245o1uH6ch2EgbCQUK1aNdSsWdPhQ9Vq1dGqz+2o3KpTuQ5VWnVGq963oslNA8s1B5kHzXrdhi4PPKvnhcwNhtutsmh5U3/ItSLvZbjzHQ/guZ9nMpQxgw5Dh6P9A28wlCGDhj3v1V9MVr1FD26tMAis3kR77gPseGt+ZD3vdZDHJGALBKhY28IoUIZiJ8AKSYAESMDRCZhMJqSmpiIlJYWBDDgHOAfKzRxIT0939Ms7+2enBKhY2+nAUWyHIMBOkAAJkMA1EXB1dYWbmxsDGXAOcA6Umzkg171runCyMAmUEAEq1iUEltWSgOMQYE9IgARIgARIgARIgARIgASuRICK9ZXoMI0ESMB+CFBSEiABEiABEiABEiABEigjAlSsywg8myUBEiifBNhrEiABEiABEiABEiABxyNAxdrxxtQuehQfHopTq+cxODCDgk7E02sXch7Y3jywyTGJOXciZ1plpqch4cxRhnLEIDs7O2f8ef/g/ZNzoHzPgcSYqJzrAXdIwFYIULG2lZEoh3K4JkYh0JDO4IAMkJVVqBkdYEjlPHDAeRBYjH1yT4rONafSYiJgPLkHxpMM5YVBakx4zhwwpCbzmlGM51dxnqusi+uakp4DLnnuBzkXBrDNFKAAABAASURBVO6QQBkToGJdxgNQ3ps3GA1gcCwGMBRtVnMeGHguXOF6ULRZZSOlKEaJEChP14zk9HSkZWba5DXiRFg4JOQ3HnJPOBsZjdSMjGuWPwvZOHkhArLNrz1zvOSRvElpadh26FiB249OSIQEcz0F2e49cRrhsXEF6p/wiE1KKtJ4Fqadgshtr3lK5ILCSkmgGAhQsS4GiKyCBEiABEiABOydAOW3PQIZmVn44M8ZGDjyE9z62lhs2Hsol5Cp6Rn4a9l6nIvI/URHrkzXcBBy4gx6vvge+o74ELeNHofj5y5cVtuqnSGQkDfhwMmzmLl6M9IyMjFtxQacVAp43jxXOrZsu9dL72Pt7gNISErB1GXrkJSSmquopEmwjDTnDY+Jw49zliIhOcUyOdd+fFIy/liwCrLdvP8Ilm7dkyv9agd/L9+A/aq/V8snTO544zMMeetLPZ5z1m69WpFc6QVtJ1chHpAACZQaASrWpYaaDRWEQFJqGiRIXrmBS5D9oobMrCxtSZdtUeuQclFxCZAg+1cLYVExSFQ38D3HTuFCdOzVsut0kU8s/rLVEQX4EDYSCpBVZ5EFWIyyxFu+p6gTrvIRl5iM7YeOozCyXaVKu0wuzHherYOyeJPxsJZPxlSCOe1a+cvCXMa9sOMn+WXcpX2zLNzaFwGZYzL2DnbO29cgXKO0+46fhihjU995EfPGjkKzOjXw5q9/o/8rH+HbGYuw9cBRfPH3vxj5/USER8fhm+kLMfSdr/C3UvSS1f30c5V255jPce+7X+HoufP4WqVL2f/9NQ+hyos86ofJeOnrPzFj5Sadlqy8ux9NmIljKq9Z9BZ1a2Lauy+hYfXKOKW8xSLPox99j2Gf/4bzUf/d4zbuO4zbX/8f7nv3a+w9dho/zl6KsZPn4PbRn0LS5Lo35pep+l46a80WzFi1Wcsp8orccq0yt2neStvTPxiBj5+6Fz8p5TgqPgHRcYmIiU/EW4rDk5/+hF1HTuLLafMx+qcpSiHeDXOfDp8J1XkzlGKfoBTy0T9OwVPjftYyT1uxUSn7G3H4dCjeGz8dIs+3MxZCWH39zwIYDAadT/JLn5Zs2a3llrpf/Go8nvnfL4iIjTeLqbeTFq/V5Zdv34v3/5iujRCbQ47gG1WvZJBr6h8LV+HR/t2x8H+jMf/T19C/c2vdjrAUpsJWZBr1wyQ8MfYnPdZxSnYZNzNXqUu4W5aR/rz242TIeEs6AwmQQNkQoGJdNtzZqhUC09WN/cH3v8Wz6oYlC3qxgEuwkrXAUXIztWbdvlIFcuO/6YV3tZV+1PeTIHVsCjkMsWJblpMboFjjLeNkf+7abTgWekEvGK5mwRYLu4QkZX2ftHgNImJy36ilvvyCsJGQX7o5XhYrX/w9H31e/gD3qgXX4+pmHZuQZE6+6vZMeCQmLloDWaRfNbMdZJiwaDW6PPeWHl/xBAmfgoj9t1qoXm08pR4ZTwmynzeIgiML2mc/+xXPff4rTp6PyJtFe34sxzUvf7MXp/dLajzf/Uovyi6rREVIW1OXr0dv5emRcR/y1hfayKSSCvRfxlvGXdovUIFykEkW0oNGjVXn0ocQD9pmtWguzW6Pn78yZ+5+PHFWvsYumdM850tzZKy1VTxxMcoY6ubqAnc3V5iMRni4uWDEkFsw7rkHtFJdo1IQOjdriNfuv03dd85Dzte3HxkMUe52HD6h719jHroDzZVCHqq82uI1nvb+y9roK8ZCOb6v941o16SeVlB3HT6J88ogXNHPN6cDu4+exK1KORbFsGW9Whi/YCUeVsphq/q1sGDjjpx8LevXxC8jn0TbRnW1bLd2aYeebZtD2qsaFAA3FxekKyV3rzIWbNx3CO6qX2t27YfIe0wp8odOn8upK++O9NPVxVmXj1TK9bnIGGUYiMGrQweiRd0a6N+pNR7p1x2t6teGuU/VFRvJm5WdDRdnJ4y8dyBqBVfAmt37tfFbDODpmZmIVkp6t+uaoqXqz8Q3h+HO7p10+g+zl6Bfx+vw+fMP4p+VGyFjIcaIp2/tpfriDDF6WMrZt2MrvHhXP8xbtw1+Xp451/K6VYJ1NrmmpqZloHaVivjfX3Mx4NWPNb/xC1bgpjbNcOdNnfTTByJTlDIeiLxhqp/rlLzS1rjn7tfyS2V5y0hfnJ2c8MQtPSSZgQRIoIwIGMuoXTZLApcRkJvtze2a4+eRT6F1g9o6feWOfRALstzUZLEoVluztT0lLV1b7N8d/4/Os3b3AW19HqMs4mJllq1428S6fUFZ8vNammXRIRbhQWqh/K2y/OsGL3289fBgZVF+HdnqeOHmnUhITkW8shpLG/e/9zW+n7U4xxovlmIJZmtxXFISRFFWRWG2YEu5w5cs41HK+y0WcvE0mK3sQ5TSc+zseTiZjFohF5mkPrnhS5/f+Hmq7uNG5RGQes3BzOdvpfRJmuRNzuNxkBtyyIkzmPXhK/hXWch/fOVxeHu46XbMngJrfMRwIBZyWaCnZaRD+ItXQcpIe5HKWi9MxdshfTPLZOvbzMwsvQD79bWncUiNyfZDx/DKtxPw6ncTcfDUOcjcMXsopM/CVDiIB0b6JmMtQfos4yiLLVGWzWXMYypjY/aoyNMIUjYlPR3HldHl7ps644cRj6NGxUA9DoPUHDSPt+STkJe/xJlDC+VBmjDmOcji9+T5cMhcl3klXhezseec8kYt2LADv49+Ro/7X8rjVVMtNKVe8YwMu+Rtkv5Zzi8xJEl9TylPUKiqQ9q0VmakMjoJB0kvT6FigC9k8X17lw6Q88qa50jGQcZDxl+8ZsJamAtHYfam8rSZr2uSTwx4spXF9iZlxMtbpyXfR5Ty8MXzDyE8Jg7r9hy06mW0ds57KMXM2vlr6X0T+WSuO9o5b8nP3va9Pdz1/SRZGV9FsT0RGoHhX43XTxGJkmrZH7knhivj7MmwCNzX60ZUDvTDCXW9+W7mIu0ZlfKiYLoqJVOUsIyMLHh5uEGU1moVAlC/WrCaTwvQsEYVeKl4XPqT6803wx+BXFPOKkNrQnIKjpwJ0+W6tmpyKRfw/czF+HnuUlyI+c+LnZOodoxGA7q0bIwpS9dpBbmCnw/ikpLVfTsMt1zfFtUqBKpc1v+fUkbIVHXPl3uk5KijlNNhg/toj+7CTbskKieI7NInk/G/Ja6TyQQvd3d4urtBPPnmzFlZ2cjKzjIf5tpmKKVb8rs5O0Pp5shU9w7hF+jrrevJlVkd+Hh6aGNBlsrcrXVTLFZebvGmt6hXQ6UCroq7lBd2LyvjSOuGdbQxPUGtL2TMTEYj7ujWQef1UnL6KuVctplKRldnZ3i5uSkDi4tOt1amTuWKVuXSBfhBAiRQKgT+u+qUSnNshATyJ/Bg365YrxaKg8f8Tz/6JjlbKOv4iHsGQJSUVTtDtCVarN8XlEV915ETkMeuxRIvVuIZqzYhMTUNsih986HBShFOxv5TZyAW68ysLGXdjoalpVmUjmdu64UOTeqju7oJSnuWwUkpuY1rVoUoGmINliBy3NyuBR7s2w1ma/yd3Ttq67YsVMRaHKO8wbLAkbrMFmyzbNHKMi43Xdl6qIVu/0tW9j/eeA5G1d4RpVyLp2H868+ikr8flm3boz0LbRrWVgulG/Dvhu1SbU4QPh88MUTfwH29PKx6HETxq6SUAWF2t1LgxVsqSqKlp+DI2bDL+ExVyvpdyoL+iPJMSIM7Dh/P5Q2JVAYCs2egTtVKksVuwpKtu/Hp5DmQhZy78qLIgvGZ23vrBZ+lh2Kn6rMoKZaeApkHEsSrIOO47eBxzU6UrY5N6+d4TioH+qv4ix6VmkqhhfqTth7q1w2/zV+Bxz7+ARv2HtaeJcvxVtn0/7z8deSlD/EgPfjBtzitFrk+Hh7K6JGpn6jYqLxAdapcHItYNQ8DfLz1I42i1D3w/jc4rMY5r7dJ5oXl/NqpzitZeI595j5lgHFXC+CMyzxUUkYW4QNvaHtJovKzuRAVi3ve/hIbFGt5jDOv56iuOhfkOiaGQjnX/1m5KZc3SuaOeLNGXLquJSqFSa5Rktd87chbpyVdmTvDv/5DecxcUDnAr8DnvJzvlt5MOX/FcPK0hfct75xzpHPekqE97bdQRrQmtapBDHeDRo3V9zR5NFjmWIZS/ERR83R3hTy+HazmQ5a618l9Qt4RTs/I0Pc/uYf9s2IjaipvrVyz+7z8ob4/Nq1dPQeFwWDADS0a4cyFKO0Bz0m4tFNdGQHlXrtaeZg7KQ+5KI0zVm9GRGzcpRyA0WBUXtwzOBEaruP8vb2wOeQIpql7iY5QHy3q1cQxdZ+rp5T4JrWrIUDlmb9xB+YqL29WHgXXZDRCvOp3vD4O8nTRc7f3gSivqhptoJQnOGQ/wMcTlYP8IY9Zi6FU4vIGOe8e/fh7yH2/feN6qFW5An6fv1IbJTOVwizecAMMGDtpNuSclPLibf/wzxm4TxnThY2ft6dEWw1OJhM+nzoPL3/zJ9qp+utVDYa/yl9NcZNxkUImoxEPqXXO+AWr9FMvK7bv03mkHTGSzVu/XRssJK9lqKL6JmN555ufYd+x0zrpamV0Jn6QAAmUOgEq1qWOnA3mR0Bu3OJd69aqqX4fS/IFqBuTWOxdnJz1Y48uyuLrqoIosekZmZJF32jlkbIsZSXOVjdm2fdyd1PWYWeIRV5nUh9S1tLSXFVZ6Mcq5crb0x1mZURly/kv3sr9J8/mstwPv6u/8h6k4YUvf0dKanpOXtmxZi2WRYDIY5ZN8snCRxR92c8bJN7V2VnJ7gQvtVgSBUfyBPh4wdpN3cfDDR5ursqano0Kyoouys7X03N7HGQRHxoZgwr+PhBPvChcCWoxb+kpECUwL58MtWjzdHdTcrgpT7oJ4i0It/CGeKp2rXkGRF5bD52aNsC7j96Fdx+7CyZl0BAjRkV/Xz3HpM9mD4XMMVfn3J4Cc9+ylBchS803GTNh5+7irBVRc3qD6pWR16OSrebodfVrYeo7w/WC6ti5MDXWzirkHm+pIy9/iTMHWWxP/2AEerZprs6VQxjQuQ1+mbdcLZZTUPeSYu2rDC3hynOUpdr8RCnJIq8ssBOseJss55e5P15ubtr7kqn6aa1MfdU/V3UummUqL9uKykj1/cuP6XPiqFIQEvJ4m+opxTopNRXTlULdWSkg8vRKXm+U5XXNzC1LKUSZKshx3jolzhzEYz1TjX1sYhLSlOJUXykoBTnnRVnIe/7KvLW8Juadc450zpv52dvWSV2fXn/gdqz65m39jvUAZYyd9t5wfPvSo5CnUCqp69Z7j92NCWOGaU+z3EPliYa3H7lTG/Ya1aiKl4YMwJnwKDg7mTDpzeex5PM38OULDylFOwg/v/okgtS9Q7jIfbNF3RqQc1uOJTRRSv1nwx7QntBR992qjdP33nwDJr/1POQ8ECVSjIUSxMD9pzISS5ocS12LPnsdDyplUuqQuqqp+67EiUEWrjUdAAAQAElEQVTHw9VFP2YtfZF0uVdJm+YgnnORdcG40Zj+/sto36SellVkFuX4f889oPsjxvHe7VtixVdvoVe7ljl9kn5J3gbqWiWs5B31+eNe05y6XddUM5354Qh8rbzxFZX3/KdXn4AYFJ9VRlaRv6vyxi/78k3N64E+XVBB5ZH6pF5hLulmWd96eLCMj5ZB+AhrH7W26NOhJUxGozkbGilj/YwPXsbC/43G2u/exaAb26GrakfGVMbkti7tIZyEh7QjW3mC7zt1zVmgOMz++FWdP28ZkVdCTkPcIQESKBMC/53tZdI8GyWB/wiIB7HviI+0l7Zd47r/JVzak5ujpbW9Vb1aOkUs2WYrsauzM8TDeOeYz9RCIlK/y6QzWfmIjIvXC1Px8u08fCInh5OyPL/z+z+4ZeTHajHhin5qIWNO/PXfFfqbP+WGJwtSbY1XngBzuuVW6rG0YFcJDMDpCxF49OMf1DZSZzVb2cX7IBFiXJDtQOWZWLkjBD2U4iTH+YXZa7fiIeW5lMW1v1K+xaqe1+MgXolmyjNx2+hxyiAwXikERogRIMDCU5CtFMS8bfRo0wzvKg7v/D5NPwIn/GXxb/aGZCuFLW8ZezmWBaQokyZj7kugeAEsPRQt69XUHltLT0FeT4dwMc9L+YZX85iKN8fSoyJs5FHwV76dqOeWPH7fuXkjiYa18c7LX2dUHybjf14c8R51VF7yRjWqaONKszrVcwxBVZTHfMD1bfDIh9/hvne/Vkp3MqTP+XmbVNX6fyO1EJfH3O997yucjYhSnlFnXK2MLliOPsTIJU+uyCPfN7Vuph/JnnfJ2yTGtIaXGLaoV0O/Y7puz0GY0/Ni8lAGKmd1zRGv2J6jp3SyzENrZcQIJB5rmY++nh6oWamCVS+jtXO+sVrQX+38zTvnZG5frYwWmB82SeB6dX2RJ6piEhLxydP3ompQwBXl9PFwx/OD+8JDKbxXzMjEqxIQo+xtN7ZXxoD6V81b+hnYIgmQQEkRMJZUxayXBApLQKzhYsWd+8lIyMJQrK8SmlyymMuXjlha28VbKm2IpVgs1WIlluMWdWti5kevaEu2LCbFwiwLRNmKQiyWZrGyyztbL6hFhFi7dxw+LkV1kPqWKyu1WIfffGiwXmSIHBJk0SFW5Y+eHIq2jepALO+ycJE0CVKB1C/WZKlHLORm2SoF+GLaey9B+icWa+mX2couj9SKfKJYS/1Lvxij3+OsEuQPc31Sp+xLGxKkPalL8go7k9Govcst8ngcnJTHQzwJIodY/8WzERzoh8+ff1B7PcQiLh57aT9IeS6kDWmr2yWLvsgsFn3hb+kNqVYxMMczIPLYSxBuEszyyjgIA1lMSr8tPRSi9OT1FJi5mD0dwkXmpcwFGUfzmN7RtQMsPSrSnjwKLm3J3Jr45jDUqVJRe45kDOVYxltkk2Bux8xf5JM6GiolWsZR6hDPkHhAXJ2dERzgpz0ZkkeCwWDA3Td1hvRHziuZiyKrnCdSzuxtMo93V+U1kf1KARfn6eyPXsU/ar4Kn/zKSDvlKQSp88N8ngzp0RkfPzVUv0Zi6W0SHsPu6IP5yjNWVSkywtUyXcZWgnCVuRCoDGIyxxZ/9oa+Nkh+CZZlpE4J9/fugtXfvIMFynP1wRNDtBFFjEQFOefl0dv8zl8Zd2kz75yT+ZJfGZGHwbYJyLW/TcM6EOOPzN2rSStfqmXprb5afqbnT8DNxRniYTdft/PPyZR8CTCBBOyQABVrOxw0ivwfgbtu6gRRns0x1SoE4r7eN+pHa81x1rZysxNlND0zU3t8nhjY01o2u4ujx8HuhqxYBJbHveVd+AbVqxRLfazEfgjwnLefsaKkJEACjkeAPSIBSwJUrC1pcN/uCDSvUwPybqxZcB9Pd8j7SCbj1ad2sPLwiSW/oPnNbdjylh4HWx6dkpNN5r14psRDVXKtsGZbJMBz3hZHhTKRAAmQgE0RoDClRODq2kcpCcJmSIAESIAESIAESIAESIAESIAEyiMB++8zFWv7H0P2gARIgARIgARIgARIgARIgARIoKQJXKF+KtZXgMOkkiWQaXJCTGISg4MxiE1KLvTEiUtO5TxwsHlQ3Od2utGUa14ZnJyR5RfMUE4YZPtXhsHJNdcciE5OBwMZcA6UvzmQ6eSW61rAAxKwFQK2pFjbChPKUQoEvCtURpVeQxkclEGNbgMLPIuq39CH88BB50Fxn+N+VWrlzCs3/wrwatqRoZww8GzSAa7evjnjX/3mO1G1JwMZcA6U1zng6ReQcz3gDgnYCgGjrQhiP3JQUhIgARIgARIgARIgARIgARIgARL4jwAV6/9YONYee0MCJEACJEACJEACJEACJEACJFAqBKhYlwpmNpIfAcaTAAmQAAmQAAmQAAmQAAmQgL0ToGJt7yNI+UuDANsgARIgARIgARIgARIgARIggXwJULHOFw0TSMDeCFBeEiABEiABEiABEiABEiCBsiBAxbosqLNNEijPBNh3EiABEiABEiABEiABEnAwAlSsHWxA7aU76/75A8vGf83goAziIi4UaCrGhofZ7Bzg/LSd83PjrMm55lNachLnjYNeO/I779JTU3LmwOEtazn+5Wz885sXjLed63RpjYWsH3MuBtwhARsjQMXaxgakvIize9m/6PHQMAYHZbBr6dwCTWXJx3lwTedBuTiHti2Ynms+7Vm5sFz0m+fGf+fG3lWLcubA+ul/AtmAb4VgBjLgHChnc2Dpb1/mXAu4QwK2RoCKta2NCOUhARIgAYcjwA6RQPESaNqlF9r2v5OBDDgHytkccPXwKt6LCWsjgWIkQMW6GGGyKhIgARIgATsmQNFJgARIgARIgARIoIgEqFgXERyLkQAJkAAJkEBZEGCbJGCvBDLOnUJWchLS0tIwY8YMfP/99zhy5EiBujN58mQcP378srxhCXE4FROl46WuKVOmIDk5Gbt378aiRf+9QiBlpQ6dkR8kQAIkUAIEqFiXAFRWSQIkQAIkQALlnAC7TwK5CCSumIfIz15D9JdvIDMzE6dPn0avXr1QoUIFrWTv3bsXy5cvhyjGy5Ytw6xZs3D48GFMmDABkpaYmIiEhIScvFL5mdho3DXlJ9w37TdsPXsSERERWL16NQ4ePIh169bh2LFjWLVqFaZNm6bLSh1Slyj1onxLHQwkQAIkUFwEjMVVEeshARIgARIgARIgAfsiQGlLi0B2SrJuKiPyApCVpb3K4lGeM2cOdu3ahcWLF2uFuHLlylohFsX30KFDyMjIwIYNG3TZTZs25eSV9JSMdB0vH0npabJBgwYNtHLt4eEBCenp6Thx4gQuXLigPeVTp07Fnj17dD26AD9IgARIoJgIULEuJpCsxvEIHFi/Av98NApnD+7F8V1bsHLSjwg7fgg7Fs1C6JH9CFm71PE6zR6RAAmQAAnYHgEHkMir753wHfIU/J8ZAxiN8PT0xN1334169erB398fbdq0gZOTE9zc3ODu7g5nZ2ecPHkSSUlJyM7OhvwFBgbm5JU89QIr4qNet+KdHregS636kgWVKlWCKNN16tTRSvnOnTthMpl0mmyDgoLQsGFD1KpVS8fxgwRIgASKiwAV6+IiyXocjkDkuVOo17Yz3L19sWn2FHj6BmD7wpnYt2YJVk78EZXrNXK4PrNDJEACJEACJFBUAlcr59b2RrjUbqgV52HDhkEU5U6dOuHFF19E165d8fjjj6Njx4647777MHjwYDzzzDN49tln8cQTT+i02267LSevua3ra9ZD9zoN9aGUHTp0KF5++WXceOONePTRRzFixAi89NJL6NGjB5566im88MILGDJkCIKDg3UZfpAACZBAcRGgYl1cJFlPkQmINVq+yETeuSpyJSVQsFbz1ji5dwcOb1mDgCrVsWnOFGSkpSL81HF4+PjBJ4g35RLAzipJgARIgARIoCQJsG4SIAESKBECVKxLBCsrLSiB0NBQhITs0+9PLV26FIsWLdSPcBW0fEnmO75rK6LOnoS7UqJd3D3g4uqGWs3bolaLNkqproi1f/9eks2zbhIgARIgARIggXJLgB0nARKwNwJUrO1txBxQ3oiISK1My7tPJpMTUlJSbKKXN9z1MB4e9xtadO+Hbvc+iSe+nowWN/XDbSPeQ/cHnkHXoY/bhJwUggRIgARIgARIgATKhAAbJQESyCFAxToHBXfKgoB8+2efPn3Qs2fPnODt7V0WoiA7NQUxv35apJC0nl9kViaDxkZJgARIgARIgARI4CoEmEwCpUGAinVpUGYbdkMgdf9OFCXYTQcpKAmQAAmQAAmQAAmQgC0SoEx2ToCKtZ0PIMUnARIgARIgARIofQLZaWlIP3WEgQw4Bwo5B0r/bGWLxUuAteVHgIp1fmQYTwIkQAIkQAIkQAJXIBD11VtgIAPOgYLPgZjxXyAzPR1rp/6G5X98i9jwMEz7aCSO7tiINVN/1XHpKclXOOuYRAIFJFAG2ahYlwF0NkkCJFC+CWRkZeFcfCy2nzuF5UcP4O+9W/HVhuV4ddEMbDwSgsiv30LM+M8RN2M8EpfOQsqeLcg8f05/DwCys8s3PPaeBIqJQFxcHL744gt8883XmDdvHk6ePKFrjoqKwvbt2zFz5gzExMQgIiICISEhOo0fJEAC107A5OyMeu1uUBVlwzsgSIeM1FRs/Xc6ajZvA2c3d5XG/yRgfwSKoljbXy8pMQmQgEMQSE1OxM4lc5EUF4u9qxZpy3aSUlA3zZqsj88c2IMD61fgyLb1OLlnm+7z8V1bEHH6OGIvhKqycxB+6hiW/Pol4iPDdbq5zuT4OEjelZN+RHx0ONZPn4AYpczuX78c508cgWyzi6jUpmZm4FhUBP49uBcvzZ+GWyZ8i/v+/hUv/vs33l4+D99sWIl/9m7HRiVbSmYmMs+eRKpStpPXL0HCwmmI/eMLRIx7FeHvPqtD/L9/IePcSWRnpOs+8IMESKDwBDZv3oTevXvjueeGISEhHgsXLtSK9pIlS7Bjx3YcO3YcP/30E3bu3Ildu3Zi7NixmDJlMiZOnIhx48bhQlQk9t18OwMZXHUOeN/xCA5XraeD1+0PY1+FGjhdvyX2VqiGnb6V4HbLfZA85SF43nwbkmKjMfvzt5GVlY0sdc8zn731212PXUvnIEWdj+Y4bknAngg4sGJtT8NAWUmABApCIPRQCPatXoQ0pWDXbtlO3ZSzsGnmJMQpJfnwlrU4vnMTdi2bh63//oNKtRvom/PBjSvhFVABq//6BYc3r8W6aeMRVL0WVkz4XjdprjNaKdGbZk+Bp28AVk38EfIomjyqFq/qrlSrHsJPHtUKdqZaBEjQha/ycSExHpOUTIMn/4hHZ/6JT1YvxFalNCempUK81taKZ2VmWYuGeKqzU1OQpQwJSSvmIvKz0Qh/+xnEz/gNGaGndLr1gowlARKwRsDHxxfLli3Fpk2bEBoaqpTrBHWaIe7cGAAAEABJREFUZcNoNKJq1WqoV68eqlWrhvDwC8pzHYvWrVujQoWKOHBgP5KSkuDp54e3Tx1nIIMrzoHPL4TBo1MP1Oo7GKaa9RATGIxUH38Ya9bH7n17UK//XfDt2lfnkXzlIvj648mvJ6Pnw8Pg5OKKPk++goYdu2LAsNdx+6sfws2rbH4dxtp1gnEkUBgCVKwLQ6sk8rJOEiCBAhOopZTpwGo1YTQ54XTILsSEnUVA5WpwcnGBh1oki0f59P5dqFy3EVw9vRB17hS8Ayti/7plKt0PTm6uEM+0l38gDEaDbtdcp4e3DwKqVMemOVPgFVgBzbv31Yq7eL73rFiAoGq1EKk837KgliBt6QryfGQpr/a+C+fwprK63zP1F/y4ZQ1iU5KRmZWVJ6f1Q4PholzWU3PHZqckIWn9Mq1kR337LlKPhCgFOyt3Jh6RAAlYJdC+fXs8p7zVHTp0wPDhL+Hll0eo7XDceeed6NOnDwYNGoShQ4finnuG4umnn9Y/CdmqVSu0UkE83U5OTuAfCRSWQGZGOuRR6MS4aNBDW1h6zE8Ctk2AirVtj4/NSEdBSMCWCCTFxWDlxB+QmZEGk1KqD21ajXOH98PLLwCteg5ExJkTCFm7FJ5KgY4LP4/GN/RA4843wWRyhn9wFSz+5XOlkNfA0t+/Rkpigu5atlJ8Xdw94OLqpvL2wKl9OyFecSdnF5UnHvIFK74VK8Pb2xvOzs5ISUnR5Sw/ditF/6nZk/CsUs5XHj+EdOXdtkwvsX2lzKefOISYHz5A+PsvXFKws0usOVZMAuWVQFBQEAYPvhOijAuD928eBAYyuNIceOXGXjJVUK1Rc3S6/X7UaHodej02HDfe9QgG0EOr2fCDBByFABVrRxlJ9kMIMJQDAvLIWHCdBnjqu6m4e8xnaNa1D578Zgoe/vRXtO57B3o+8jzuGPkhmt54M3yCKqFS7fpIjI5ClQZNMfDFN9HnqVfx7I/Tcf2dD+rH0NyUZ1vq9Fee7273Poknvp6MSrXqodXNt2iv9W2vvI8WPfrr98Aq12usCbu5uelHRtPT0/VxZFICPlq1EC/+OxUHwsMgXmudUAYfWbFRWsGO/uVTZEaeLwMJ2CQJlA8Cbk7O6FKrPgMZXHUOlI8zgr0kARKgYs05QAKlToANlhYBg8GA1n1uQ2DVGtfUpKu7p1LEH4LJ4tFPV1dXwGjErP27cP+037Hg0N5835u+UuNOqg5ZoHu5uMLHzR0mkxFGDy8YVZsG5T03qMU7ivCXdnAXIj8dicSV8wDljS9CFSxCAiRAAiRAAiRAAiRQQAJUrAsIitlIoNwRYIevSCAlMxOvL52FL9YtRUJa6hXzWia6Ozsj0MMT3es0xGvK2/7NLffg+0FD8ctt9+OPOx5EB+X9CRjxMQJf+RSBr36KgGHvwOeep+DeritMvgEwuHkAymCAAvzJt4YnzJuCqF/GIkt51QtQhFlIgARIgARIgARIgASKQICKdRGgsUjxE5BHagv6TcvF3zprtGcCZSG7fNv3fdN+xcZTx1GQx75dlae7pl8g3ulxCybe+SimD31K7/dt0AxNKlZG3YAKqOLjpxRuL7gqz7X2WPv4akXaqWpNuLe5ET53P4GgN75CoFK6/R54Ae5tuygl271A3U8/tAcRHw1H2vFDBcrPTCRAAiRAAiRAAiRAAoUjQMW6cLyYu5gJREZGYseOHdiwYQOWLl2KRYsWQpTsYm6G1ZFAsRE4HHEej874E5FJiVet08PZBV1rN8AX/e7CH4Mf0l7qCp5eMBbQ43xZA6qcSSnors3bwWfIkwh6+SN49hikHx2/LG+eiOzkJMT89BFS92zJk8JDEiABEiABEiABEiCBayVAxfpaCbL8NRHw9PREXFwssrKyYDKZVHCy+m3L19QIC5NAMREIuRCKF+dP0z+fdaUqXUxOaFetFn689V6813MgmlaqUnRl+goNGf0rwKvvXQh8ZSw8u/ZTHmyPK+QGstPTEDvpWyRtWJZPPkaTAAkUlEB2WhoSls5iKAUGcs06un0Dpn00Eif3bof8KoSECyeOFHS4mI8ESIAESpyAscRbYAMkcAUC8u3KXbt2Q7du3dCzZ08d5OeMrlCESSRQJgRiU5LwysLpiE9NuWL7QR5eSpm+BZ/2uQPy+PcVMxdTotHbF1633Av/Z8fApVErXOkdbP3e9ewJSN6yCnb7R8FJwEYIJC6cBoaSZyDDHR12FmnJSTi2cxNO7N6qfwaxYq16ksRAAiRAAjZBgIq1TQwDhSABErBlAinp6bhv2u9XVKpNRiMGNm6JSXc9gk416paIh/pqjJwr14D/Iy/Dq99dkG8Uzy+/KNfxM8Yj/eyJ/LIwvhgIsArbJLBu3Tp88MH7WL58eYEEPHDgAPbs2YOQkJAC5WemkiFQu2V7BFapjtot2yGoem0kxUbj1L6dJdMYayUBEiCBIhCgYl0EaCxCAiRQfghkZmXhzWVzr/j4t/xc1oPXdcTLN9wMd2eXsoWjFHzP7gMRMOxtGD2985VFHguP/uEDZMZG5ZuHCeWCQLnqZExMDI4ePYLRo1+Hi4sLxo0bh6lTp+LPP//AmjVr8PHHH+HNN8fgf/8bh7FjP1H7b+Kff6ZpxfrIkcP4+eefMXfuHMycORMJKcmY0m9ouQruIz5BZM/B2FG9Ac53HYjDLa7HwaYdEDByHIJe+7zEgmuD5pCfTezz1Kuo1bwtBgx7Hbe/+iFqNG1VruYvO0sCJGDbBKhY2/b4UDoSIIEyJvDj5jXYePpYvlJ4qsX5sE7d8VDrzjDkm6v0E5yCq+uf65LHxPNrXb7QLPqbd5CtFIT88jCeBGyDQPFI4e7ujsjIKMyfPx/nzp1DZmYG5Ls+ZP/s2bNo3bo1brjhBgQEBCA5OQW33joIPj4+SEtLRXx8AozKcBUUVEEp50eR7eSEGUf3l6uQ6e6JPVvWQgwUaQYDtiydhyY9b4FzhcowBVYs0VA8M4C1kAAJkEDJEaBiXXJsWTMJkICdE1h78gj+2bct3154OLvgg5sH4ZZGLfLNU5YJ4rGWLzYz+QflK0ZmdATiF07LN708JKSfOgKGkmWQlZxoE1PJ1dUVw4cPR//+/XHXXXdh5MhRGDBgAEaNeg1DhgxBr169dXj44Ufw1ltvKUW7DZ5//gU89NDDuPfee/Hoo4+iU6dOGDFihPZ4X9YpB49wdnNHcN1GyM7ORroyNjTs2AWb5vyFzIwMB+85u0cCJEACVydAxfrqjJiDBEigHBJITEvDF+uWIiMry2rv5bepn+3YDa2r1LSabiuR8pvY/k+/ccXHwlM2Lke6MiLYisylLUfU128j6qu3GEqQQWmPaWm1t+ihF2CPoagym4wmdB36OO55+wt0uv1+9HtmFPo/+xpMyntfWszZDgmQAAnYKgEq1rY6MpSLBEigTAlM3LkRFxITrMogv0N9R9PWNuupziu0KaAC/B58Id8vNJMvM4ud+DVkm7csj0mABKwTkO9WcHd2RnkL1mmUSCwrJQESIAG7IkDF2q6Gi8KSAAmUBoFjURGYvm9Hvk21VV7qJ9rdkG+6LSY412kMr35DAKP1y748Ep6ydY0tik6ZSIAESMCGCVA0EiABErhIwPoK62IaP0mABGyAQOyFUOxcMgfhp45hya9fQn7Lc/Ocv9T2DDbPnYp0fvFUsY6SvDv4zcYVSMlIt1qvv7sH3up5C4wG+7t8enTqAZdaDa32SyITFv6N7LRU2WUgARIgARJwJALsCwmQQIkTsL+VYYkjYQMkYDsE5AthVv/1Cw5vWYt108YjqHotrJz4A45u34hlv38DNy9vyJfJ2I7E9i/JufhY7A47a7UjJqMRwzrfBG8XV6vpNh+p5Pce/AgMyjhgTdashHik7N1qLYlxJHDNBFKTE5WRcC6S4+MgxsHZn72NiDMnsWnWZOxdtQhnDuzB4l8+h+Q7tmMTQtYsueY2WQEJkIB9EaC0JGDPBKhY2/PoUXaHJ7B7+b/w8PGDk1LkkpXS4+UfCIPRoBeeUedOoZqNfhu1PQ/MksMhSMu0/g23DYMqoUft/D2+9tBvp4pV4HXTwHxFTZgzEcin//kWKsOERYsW4fvvv8eWLVsKJMX27dv1Ty0VKDMzFSuB0EMh2Ld6EdJTU3Dh5FE069YbMefPIS4yHGI8PL5zE9b89StOh+zCjkWzdJ5iFYCVkQAJkEDxEGAtJGCVABVrq1gYSQK2QaDJjT3RWHlITU7O8K9UWXtzKtSoAzdPb3S+4wH8+82HWsm2DWntX4r0zExMzcdj62Jywmtd+8JgMNh9R9079cz3W8KzEuORfua43fTx5MmTaN++PRo1aoSFCxdi/fr1OHz4MP7++2/MnDlTK9GiTE+dOlWnpaamIjExMSevPPpvN521c0FrtWyHwGo1kZWViaY33oxNs6fg5J6tcHJxUQZEX/0TTg07dsXWedP00zjyRI4tdzk7LQ3R373HUFIMvn8foUcPYMbY0Ti0aTVWTvoR66dPwJGt62x5WlA2ErAhAhSltAlQsS5t4mzPKoH09HRkKqXGamI5jnR190SVBk0x8MU30eepV/Hsj9Nx/eCHMOTNz5S3pw/u/+A7SJ5yjKhYu777/FnIz2xZq7R5cFXU9AuwlmR3cQY3d3jcdIt1ubOzkbLdfhaucu1Yvnw5Vq1ahdWrV2PZsmUQZVuuJxEREfDw8MC6dev09WXr1q2Q/OfPn8/JGxUVZZ0DY0uMQKZSSI/u2ISkuBhUql1fK03nDu+Hlzq/Ktasqz3a1Zu0LFD7a9aswXvvvYewsDCr+WVO7Nu3V82JE/jgg/dhfrJB5sDIka9iwoQJVssVNDLt2AEwlAwDGYOk2GikJCZg/7rliDh1HKf27UDtVh0kiYEESMBRCDhQP6hYO9Bg2mNX0tQCa/z48Vi5ciWWLl2KRYsW6oWvPfaFMts/gam7t1jthFF5qe9p0dZqmr1GurftAoObh1Xxk7etRXZ6mtU0W4t0Ud7OQYMGoWHDhvD390e7du3g7u4OZ/kZJLV1c3PTHmpRpAyGi08bSBlzXm9vb1vrkkPL0+fJV7TXuufDw/DY53+iWdc+ePKbKXj401/Ruu8d6PX4S7j/w+/R4qb+6HjrvVdlsWvXTgQHB2PevLn44osv1HYexo0bpw0nEydOxJo1q1V6ZRw5chTnzp2Dl5eXrlOMLwkJCfDx8cbYsZ/g9ddfx7fffotffvkZH3/8Ed544w189NFHmDNnDr788gv8++88SH1jx45Vx19ixIgRiIyMhCmwEkMJMZCBqlCjLqo2aIaGnbrBUxlexPjCd++FDAMJkEBpEyhIe8aCZGIeEigpAseOHYN4EwwGA0wmkwpOSElJQXn+e2HeVNz062eFDiMXzSjP2K6578kZ6dgVdsZqPT6u7mgRXM1qmr1GGj294VqnkVXxs1OSkRl62mqarUU+/vjjaNCgAerXr49XXnkFfbe5usQAABAASURBVPr0wfXXX4/BgwfjvvvuQ8eOHTFq1CgMHz4cw4YNQ5cuXfDEE0/k5BUl29b6RHkKRiArK0srykOHDtXGE3msPzlZzd3MDEjagQP7kZmZpY0s8jpAQEAAzpy5OK9Pnz6FKlWqICkpGcnJKbj77rsQGxuD5s1bIDU1Db163YxmzZqp9CTtDffw8ITUJ68RJCcn4ZZbboFXhSC8WK9ZuQmze90B08MvYZ2bL5IG3o+91RvokHXPMwh67bNiD/5PvwGfoIroeu8TaKQU675Pv4oBz7+B5t37FmyCMBcJkAAJlDIBYym3Z6U5RpVnAo0aNcKnn45Dz549c4I3PUjIUAvGwobyPI+Ko+9nYqKQnJ5utaq+DZrCzcnZapo9R7p17gkooxas/KXu32klllEkYDsEjEYjHnroYXh6euKFF17UxpM777wTI0eOQrdu3fD++x/gzTffVF5pH21Iee+993Hzzb10B+64Y7DyUr+Be+65B2+99RZatGiJ0aNfR4cOHfRxly5dtfI8ZMgQ5bn+WCnczdGqVSv069cPo0a9hq5du+p6TqnrRnkJ0uGQtcsQrYxuMeGhOLF7K1IS41GxVj1JYiABEiCBck/AWO4JFBQA85EACTg0gV1X+Imt9tVqO2TfnWvWhzGfx8FT92x2yD6zUyRQFAJBQUEYPPhOrXhblm9WqSrKS5B+B9dpADcvHyTHxSGoem3IO9Cn9tEIJ2wYSIAESICKtYPNAXaHBEigaASWHz1gtaCHswtq+QdYTbP3SKO7B4y+1vuWEXkB2akp9t5Fyk8CJUZAnmL5buA9KC/h0TbXo27rThjy5mfoMHAIBgx7Hbe/+iFqNG1VYoxZMQmQAAnYEwEq1vY0Wo4jK3tCAjZFQB67Px4TaVUmTxdXBHhc/MIjqxnsPNK1eTurPZAvL8uMOm81zdEivW65F14D72MoQQaONmfYHxIgARIgARLIS4CKdV4iPCaBHALcKS8EktJSkZaRYbW7rSpXw8XvkraabPeRznUbAfm8Z50ZcQHl4c+zS18wlCwDo7tneZhK7CMJkAAJkEA5JkDFuhwPPrvuIATYjWsmIN8Inp6VabWeZhWrWI13lEgn/wow5PPFbBnhYY7STfaDBEiABEiABEiABEqUABXrEsXLykmABMwEbHmblJ5mVTzxVFfw9Laa5iiRJi/VP5OT1e5khJ6yGs9IEiABEiABEiABEiCB3ASoWOfmwSMSIIFySCAxLdXc61xbk9GIAA+PXHEOd+DsCoPqp7V+ZZw/Yy2acSRAAopAdkY6ymNQXed/EiABEiABKwSoWFuBwigSIIHyRSAun2+/NhqM8HZ1LxEYaWlp+PHHH7FkyRKkp6dj6tSpl+3HxsZix44dOHToEPbt22chRzHuGpRfPh/FOjsfg0Mxts6qSMB+CWRl48Koh8pViJ/2C1IS4jH/u49xcOMqrJz0I9ZPn4AjW9fZ7zhSchIgARIoJgJUrIsJJKshARKwXwIJV1AgPZ2dS6RjTk5OeOSRRxAaGorly5cjICAAkZGRWLhwYc5+WFgYNmzYgFWrVqFhw4YlIseVKs1WCv+V0q+axgwkYMcEDh8+jOefH4bx43+HGMLsuCvFKvqJ3VsReng/osPOIOLUcZzatwO1W3Uo1jZYGQmQAAnYIwEq1vY4apSZBEigWAl4OLtYrS8b2UhKt/5t4VYLFCLSYDBg9uzZqFGjBlq3bo21a9di9+7dqF+/fs5+dnY29u/fj1q1akEU8UJUX+Cs2VlZ+eY1lJBRId8GyyiBzZKANQL16tVDu3btkZGRge+++w7z5/+rnyz59ddfMHPmTCSkJCOxY3ebDh6de6I4g8HVDX7BVXVIjImCp18AvFQIWbME/CMBEiCB8k7AWN4BsP8kQAIk4KMWi9YoiGIbm5JoLema486ePauVZoPBgNTUVFx33XWoXbs2/Pz8cu337NkTUVFRCAkJueY2rVaQqQwH+SjXBhdXq0UYWSYE2GgpE5BXMdzcXJGYmAi5FgQFVcC5c+fQrFlzHD16FNlOTngoOsZmw+hMwPv2h5HWoQc2xyUgrFo97Ml2wi51ynve+oBOk/TChuA6DXDHyA/R46Fh6Pv0qxjw/Bto3r1vKY8OmyMBEiAB2yNAxdr2xqRcSZSlFvTJycn6HdPMTLUKKFe9Z2dthYBnPgpkhpqfMSkpJSJmtWrVMGbMGHTt2hWyf+utt+Lxxx9HcHAwLPcHDRqEu+++G02aNCkRObJSU5Cdz0+NmSpULpE2WakjE3CcvomR684778ILL7yIp59+WivTd911Fzp06IARI0bAxcXF5jubqbztIWuXwOTkjHR1rm+aPQWNOnWD0WiyedkpIAmQAAnYGwEq1vY2Yg4mryjT8g6pPAa7dOlSLFq0UCvZDtZNdsfGCYhibchHxgsJcfmkOEZ0dpLyyKvFt7XeONeoZy2acSRg/wQK2QM3Nzfcc889qFq1aq6SD7XuhOIMD7fpDHO4Ur1588ixZX457l2/CVKTEuAdUBGxF8KQmZ6Ghh27YNOcvyAKd66O8IAESIAESOCaCVCxvmaErOBaCXh5ecFkMl0KTkgpIQ/htcrJ8o5LwN3kDOd8fss5JDzMcTuuepadFKd/MkjtXvbfuUqNy+IYQQIkcJGAm/ICP9LmehRneLh1Z5iD1JtfyJtHji3zyrEEDx8/tLr5Fgx66W00v6k/+j0zCv2ffQ0mJ6eLneAnCZAACZBAsREwFltNrIgEikDA2dkZ7du3R5cuXSDvkkrw9vYuQk0sQgJFJ+Dh4gIXZdyxVsPWMyeQbS3BQeJSjx6w3hODAabAiuAfCZAACVyFAJNJgARIgAQUASrWCgL/kwAJlG8CzkqpruztZxVCYnoaYuRxaaupdh6ZnY2UTSutdkK+uMzo7W81jZEkQAIkYH8EKDEJkAAJlCwBKtYly5e1kwAJ2AkBeR/RmqhJaak4ERtlLcnu47LiY5GVnGC1H07B1WFwdraaxkgSIAESIIESIsBqSYAE7JYAFWu7HToKTgIkUJwEWlbO/aVE5rrlMfDNp4+bDx1qm3Y0BNkpyVb75N7meqvxjCQBEiABEiABEiABEricABXry5kwhgRIoBwSqObjD08X6z+fM/fAbsgj4Q6FJTsbSasX5tsl51oN8k1jAgmQAJCdlobUkO3lKkSHncHsz9/BqX07sHLiDzpcOHGE04EEbJUA5SKBUiVAxbpUcbMxEiABWyXg6eKKIA8vq+LFye+/OpjXOjM6HBkXzlrtr9HdE6agYKtpjCQBEviPQMxv/0N5CRnnzyJk7TJEh55GTHgoTuzeipTEeFSsVe8/INwjARIoAgEWcRQCVKwdZSTZDxIggWsm8FjbG/Ot49dt65ClvLz5ZrCzhOQNy5CtDAbWxHbveBPky8uspTli3HNz/0J5CvH5jLsjjm1h+xQVFYUPP/wAy5cvx8yZMxATE1PYKhw6f3CdBnDz8kFyXByCqtdGUmy08l7vdOg+s3MkQAKXCHBzVQJUrK+KiBlIgATKC4EO1WvBx9XNanfPxcVg/4Uwq2n2FpkREYakjcuti200wa1dV+tpDhq7J+wMdpej4KDDWCzdcnJygouLKxo0aIATJ07ihx9+wDfffI0vvvgCc+bMwSuvvILvv/9OKd0zkZCSjPV977b54PPACwip1gBxXfpjT3AtHdJ6DYbvgy8WKshTLHVbd8KQNz9Dh4FDMGDY67j91Q9Ro2mrYmHPSkiABEigOAiUZR1UrMuSPtsmARKwKQJuTs64p2V7qzJlZmXhg1XzkZ6ZaTXdniITF/6N7OQkqyI7KS+UU4Vgq2mMJAFHJxAdHQV3dzccOHAAderUQZUqVZCamors7GwkJiaiYcOGaNmyFY4ePYpspYR/fuwQbDlE+gYiytUDKa7uMNWshzMXziPD2w/Ve90Gt+btCh0cffzZPxIgARK4FgKFUKyvpRmWJQESIAH7INCnfhO45/MzU2diozEjZId9dCQfKdOPHUBqSP6Pbnr3HgwYDOAfCZRHAjVr1sKzzz6Hnj17YtCgQXjggQfw8ssjMHz4cNxzzz147LHH0LlzZ4wYMUJ5tq1/2SFs7C8zIx0mdU1LiI7g49s2NjYUhwRIwLEIOJ5i7Vjjw96QAAmUMoFADy/cVLtRvq2O374BZ+Ps871L+Wmt2EnfIjst1Wr/nCpWgUu9plbTGEkCJHA5gW9vuQe2HDpUq4UaTa9Dr8eGo0W3fnx8+/IhZAwJkAAJFBsBKtbFhrJwFTH3RQJZWVlITk5Geno6Mh3gEduLveKnvRN4uG1nyLeEW+tHolJKRy6agRTlBbKWbstxCQv/RmZslHURlZfaa+B9gJG3BeuAHCs2NTkRO5fMRXJ8HI7v2oKVk35ESlICQo/sx5Gt63D24F4s/uVzSL5jOzZh85y/HAtAMfRGXh1pHlwVth6KoausggRIgARIoAAEuIIqAKRynKXEu56RkYGQkH1YtWoVli5dikWLFmolu8QbZgMkcAUCFT298Uz7LvnmOBUThQ9WLkB2vjlsLyF580okb1yRr2BOFSrDpUGzfNPtKWHRokVYuXKlNtbJF04dOXIkR/zt27dj/vz5OcfldSf0UAj2rV6E+KhwbF8wA+5ePlg39XcVtwTnjx9G7IVQrPnrV5wO2YUdi2bh9P7d5RUV+00CJEACJEACBSJAxbpAmJippAgkJCTAYDDAy8sLJpNJBSekpKQUsjlmJ4HiJ9CvUXM0UcpmfjWvPXkEP2xelV+yTcWn7NyI+DkTkZ2Pl93g6gbfh16EwWiyKbmLKszhw4f1zyXJF0xt27YNp0+fxtSpU7F+/Xr9RVTyJVQLFy7Ux/KlVEVtx57L1WrZDoHVaiI9NRXpaanw9PWHi7s7GnXuDqPp4jxo2LErts6bBjcvb3j6+dtzdyk7CZAACZAACZQ4AWOJt8AGSOAKBAICAtC6dRt07NhRf1mMfGGMt7f3FUrYcRJFtysCJoMRI268GfK4pzXB5VvC/9m7HSuOH7SWbDNx6ScOI376b8hOSc5XJu9bH4RTxar5pttbgqurK4KDg7F48WLUrl1be67lVZOtW7dCXjs5f/48Vq9ejWXLliEqKp9H4+2t00WU18PbByYnJ6ya8jOC6zTMVUvFmnWV4p2C6k1a5ornAQmQAAmQAAmQwOUEqFhfzoQxJFCuCbDz/xGoF1gR97bq8F9Enj356a33V8zH/EN786TYxmHa4b2I+fVTZCUn5iuQe5sb4N7uxnzT7TWhfv36kCdiqlevjgsXLkCUaYPBoLvj4uICf39/tGvXDuXZkNfnyVfgX7ka7hw9Fs/+OB3129+Iao2ao9Pt96PJjTej1+Mv4f4Pv0eLm/pD8mp4/CABEiABEiABErBKgIq1VSyMJAESsHECpSbe/Uqx7pbHk2fZuCjXn65ZjE/XLIJ4sS3Tymw/OxtJ65cgZvznV1SqTRUqw/shZMOPAAAQAElEQVSOh5WYFxVOteMQ/x9//HHcfPPNGDVqFHr06IGhQ4fqn0saNmwYunTpgieeeAKvvPIK+vTpYzc/meQQA+NgnchOS0P8rD/LJGSnpmDr/H8w639vImTNEqyfPgFr//4dWVmZDkaZ3SEBEiAB+yFAxdp+xoqSkgAJlAEBo/JyjuneD3UCgvJtXRTquQf24KnZk5EeZ/locb5FSi4hJRnyk1rxsydAFt/5NWRw94D/k6/B4OKWXxbGkwAJXIVA0tpFKIsgYvkGVdKKdKZS8DfNnoJGnbrBaDRJEgMJkAAJkEAZEDCWQZtskgRIgATsioCzWqx+P+heBHl65Su3s8mEh+s2RMyXbyJp3RJkZ2bkm7ekEjJOH0P4Jy8jZecG4Ao/XydfVhbw9Bsw+QVeFIWfJFAOCcybNw9ffPFFod6zj4iIQEhISJnTykhLRWJsDDKUUp2RkYaGHbtg05y/kJmRUeayUQASIAESKK8EqFiX15Fnv0mABApFwN3JGb/d/gACPDytlutTrzEaLvgbWbHRiJ85HpGfjUbasQNAdrbV/MUZmXn+LGL/+BxR376LrPjYK1ZtcHNXnurRcKpS84r5bDGxpGQSg0kFZTQpL6GkONpbva6uLqhZsyb27duHcePGYcqUyfpnHydOnICffvoJ48f/ju+//x4jRozQCrjkWbFiBQ4fPohffvkF5yMj8H3vO4s1uLzwPjZXqYvoQQ8hpHlnHGnXA3F3PIaKH/yaKzi5uKLVzbfgrtc/xXW9b0O/Z0ah/7OvQb6Izt7GgfKSAAmQgKMQoGLtKCPJfpAACZQ4AT83D0wd8jgaBFXK1Zb87vWDkReQEX4uJ16U3egfP0T0t+8oBXu/8mBn5qQVx454xFOP7UfMH18g8ssxSNmzFfn9nJa5PaO7JwJf+gjONeqao7hVBKYPfQrFGGy+Lm9XPv6fmpqqH5s+deokxAudmZmBtLR0LFmyGP7+ASouXP9iRXx8HHr16oVKlSpBvhAvMTEBKSlp6NSpI/wqVMDyE0eKLSQob7NftVqo0rgVlIaMyHOncfrgXtRpdyPkKZO8QU1d/icBEiABErAhAkYbkoWikAAJkIDNE3A1OeGnW+/DQ607aVndnZ3xVqMWwKbl+jjXR2Ym0k4cRvT3HyDinWeQ8O9fyDh1FNlpqbmyFfRAvt077fghJK2Yi4j3X0Dsjx8jdc+WAtVn9PZDwCufwBRQoaDNMZ9DEyjfnXN1ddVfbPfCCy/itttuw8iRo/Dggw/ik0/Gon///hg9+nW0aNECr746UivW99xzDwYNGoSHHnoYd999N5o2baYBys/xFVeQCo/t2Ij1//whu/D0C4CXCvLlZDqCHyRAAiRAAjZNwGjT0lE4EiABErBBAvKFZo+0uR5jbuqP+5q1Q/DsP67sLc7ORlZSAhKVQhz5zdsIf+85RCkvc8LSWUg/cQgZEaHISohDdkqSzpcZHYGM0NNIP7wPiWsWIW7K94j44AVEfvQSYpQXPF4p6FnxMRCv9VXxGAxw79AdQaP+B5OP/1WzMwMJ2BQBGxZGFOrFD7+A4grj+g5GXWWwG/brbDTq3B19n34VA55/A82797VhChSNBEiABEjATICKtZkEtyRAAiRQSAI3122Me2rXhykouOAls7KQnZyE9NPHkLhwGqK+eQeRn7yCiPefR/g7z+pt5NhXtOId9fMnSJj9J5K3rYUo26KcX+1xb0tB5Ju/fe97Dj6DH9WPklqmcZ8ESKD4CLAmEiABEiABEjASAQmQAAmQQNEJOAVWQMAzY+BzxyOQLwYrUk3Koy0Kc3Z6mn6sW28z0oEi/iatwckZbs3bIfDFD+DWsiOgvNbgHwmQQHknwP6TAAmQAAmUIAEq1iUIl1WTAAmUEwImE9w79UDQqM/g0X0ADC6uZdNxJYdzlZrwf2o0fB94AabAimUjB1slARIggSITYEESIAESsE8CVKztc9wcTur09HRkZhbvtyY7HCR2yOYJGL184N3/HgS99jm8br4d8ih2aQgtirxL3cbwe/hl+L/4HpxrNQC91OAfCZAACZQcAdZMAiRAAnkIULHOA4SHpUtAfvJkw4YN2Lhxo/790EWLFkKU7NKVgq2RQPESMHr7wrP3HQga/QX8Hn0VLi3aQ34qpzhbMTi7QL7p2/uWoQgc8Qn8n34Dro1awmA0FWczrIsESIAESMCOCVB0EiCB0iNAxbr0WLMlKwTkJ0/8/PwgW5PJBJPJCSkpKVZyMooE7I+A0d0Tro1bwv+BF1DhzW8R8Nxb8Lz5Vpj8gyDvYxvUfC9Qr4wmrZiLR9ytXRf4PzICgSPHIWjM13Du3Av8Ca0CUWQmEihWAtlpaYj8ZESph5jxnyPq3GnM+uwt7F+/HCsn/Yj10yfgyNZ1xdo/VkYCpUiATZGAQxAwOkQv2Am7JtC4cWO0b98ePXv21MHb29uu+0PhScAaAfFYyyPaXr3vRNDrX6LCG18j4MX34f/Mm/B7+CX4Dn1Gf3u3z52P6a334Ech+/5PjkaQUqJFMQ966zv43v0kXJpcB5NfILJVQ/LUh9rwPwmQwBUIhIWFYcyYNzB27FgkJCTk5Dx58gRWrFiRc2y5c6U0c76M8FCUdpC2Pf38kZWZAWdXN0ScOo5T+3agdqsOksRAAiRQYgRYMQlcmQAV6yvzYSoJkAAJlAgB8Vg7Va4OlzoN4dq0DdxaXw/3jjfBvUN3vfW4tO9SvylMgRW1x9pgMOSSxWg0QoL5+wlSkxOxc8lcRIeexfzvPsY/H43CvjVLsWnWZOxdtQhnDuzBgfUrcGTbepzcs03XdXzXFhzdvgGzP3sbm+f8hfBTx7Dk1y8RHxmu06VO8Ygd2LASKUkJuv6kuFiErFmi6wk7ehAHN67WnrPsbFH1dTF+kIBNEQgODkbbtu0ghtx33nkH3377LSZPnozDh49gy5Yt+Oabr/H555/r7fjxv+OLL77QaWfOnMa4ceOwevVqTJw4EZ9++il++eUXTJo0CZGRkfr7DJxrNSjVrYCNuRAGD29fxJw/B0+/AHipIOekpDGQAAmUcwLsfpkRMJZZy2yYBEiABEjgmgk4OTkhKSlJfzdB6KEQ7Fu9CAaTEV3ueQy+FSsj8vQxJMRE4ui2DTi1dzt2LZuHrf/+g0q1GyAlIV4pxSthcnaBq6cn6rbuhOV/fItKdepj3bTftWzHd2xGVkY65DHTM/t26vrjIy8g/PQJHNq0GjuXzkGtlm0QfvIoLqigC/GDBGyMQEZGhj5P0tLS0LBhQ8iTUb6+vtp73bp1a3Xsg2bNmqJWrVqIjY2FGIlCQ88hMTEJmcoznJWVhQMH9iM5OVm/ulSpUkV4VQjC/T6BxRpcn3gNJ+q1wPpsJ4S17IwDlesgpGIN+D3zhn6VRF4n8XtoOCrVqoc+T72Ktv0Go+/Tr2LA82+gefe+4B8JkAAJ2AsBR5STirUjjir7RAIkUG4IiGJtMpkgC/9aLdshsFpN5cU2IU0pAEmx0WjRYwBCjxzAyb3bkKkU5NP7d6Fy3UZKkfZC1LlT8Fbe8MAqNeATFIxlf3yD6k1aYf20P5AUF6MZunp6IfzUcaQmJqB6s+t0/e7KU9b+lrtV2QpIVt7rlRO+h3+lqkqJP67L8IMEbI2AnCf33HMP7rjjDjz22GN44IEH0L9/f9x66636FaQHH3wQN9/cCwMG3IIXXngRw4cPx/33P4CnnnoKI0eOUkp3M7Rq1QqihEvfunbtJhvEp6YUa5BK67e7ASYnZ6SnpWDT7Clo1KmbPqcljYEESIAESKBUCRSqMSrWhcLFzCRAAiRgWwSMRiM8PDy0F81SstCjBxBcp4FWuN29fCAear+KVdCq50BEnDmBkLVL4ekfiLjw84gKPY1jOzbqR0tNTiYYlRe8caebsPT3rxFzIRQJURFITohDdmZWThNxymvt6u4JD19/HRd9/ix8KgTrfX6QgKMRCAoKwuDBdyrFe4BSuO+Hs7Oz7mKXWvVRnCEjLRVzv3oPKZfOt4Ydu2DTnL+UUSxDt8cPEiABEiAB2yVgLDPR2DAJkAAJkECxE+jz5CvwCaqIpjfejA63DkVA5Wq4Y9RHuHvM/9D8pn7o+cjzuGPkhzrdJ6gSKtWuDy//INz3/rf6cdIOg4biia8mofGNPdHz4WG47uaBePTzP3S6m5c3zPVXqlUP7QcOQe8nXka3+5/WHrbK9RoXe39YIQnYKgE35VV+/+ZBKM7gq86xoe98hdteeR+teg1Cv2dGof+zr6nzy8lWMVAuEiABEiCBSwSoWF8Ckd+G8SRAAiTgqAQMBgNa97kNgVVrXFMXxXN9/Z0PcfF/TRRZmARIgARIgARIwJ4JULG259H7T3bukQAJkAAJkAAJkAAJkAAJkAAJlBEBKtZlBL58NstekwAJkAAJkAAJkAAJkAAJkIDjEaBi7Xhjyh5dKwGWJwESIAESIAESIAESIAESIIFCEKBiXQhYzEoCtkSAspAACZAACZQdgey0NGRGR5Z6KLses2USIAESIIErEaBifSU6TCMBErhWAixPAiRAAg5LIOKD51GaIfKzUUhPScbaqb9h8S+f49DGlVg/fQLW/v07srIyHZYzO0YCJEAC9kCAirU9jFI5kDE9PR2ZmVwUlIOhttEuUiwSIAESAM6fP4+RI1/FhAkTLsNx8uQJrFix4rL40o5wdnOHi7sHDAYD0pXXfNPsKWjUqRuMRlNpi8L2SIAESIAELAhQsbaAwd2yIZCUlISNGzdi6dKlWLRoIUTJLhtJAJNvQJFCcctbwdMbhQ3FLQPrs0ECFIkESKBECZw8eRIJCQnw8fHGd999h6+//go//fQjvvjiCxw8eEgp1svx999TMXPmTCQoz/HZrv1RlHCu24B8y3nefDu8et0B2eYNHjf0QXJ8HLKzspAYG42szAw07NgFm+b8hcyMjBJlw8pJgARIgASuTICK9ZX5MLUUCJhMJri6ukK2JpMTUlJSUBZ/Blc3BI35ukjBo3PPYhP5ywF3Y/rQJwsdPul9e7HJwIpI4FoIsCwJ2CuB06dPoUqVKkhKSlYhCdnZ2UhMTNTbqKgo+PsHoEKFijh69CiynZzwYti5IoUXQs9aLTfP0xcZrTph+f69OOsbhK0REdidkISwwGB49b5DB3dvH3S4dShufekdNO/eD/2eGYX+z74Gk5LHXrlTbhIgARJwBAJGR+gE+2DfBESpbt++PXr27KmDt7d3mXVo7949GD58OL755mukpqZeVY5Vq1Zh/Pjfr5qvqBkmTpyoPCMzkKE8ET/99BNEPnNdJd22uR1uScBBCbBbJHAZgTvuGIzXX38D99xzD0aMGIHnn39B3RNeUmE4hgwZorfdu3fXaS4uLpeVL44I34qVUaVBM4hXOuLUcZzatwO1W3UojqpZBwmQAAmQQAkSoGJdgnBZtf0ROHv2LCpWrIChQ+/Fjh07tIK9desWfP75wH/ilgAAEABJREFU5/juu28hSvTmzZuVsjtTPxoYGxuDuLg4bNq0SedNSkoq1k5v2rQRP/zwA/bt24cZM6bj4MGD+N///of58+cjOTkJ0dHRmDDhT30snpVibZyVFYhAxqkjyDi8F5kRYdoYI0YZMc5YGkGuVlFISAjGjv3EarbY1GRsPXcSu5SHSzJIvWPHjtVetA0b1kOMLxJvDleqy5yHW3siQFltmcDw63uiOEPz4Ko4tmMj1v/zh+62p18AvFQIWbNEH/ODBEiABEjAdgkYbVc0SkYCZUNg6dKlmDp1Kt58cwwWLlyEJUuW6Pe+T506BR8fH0ybNhVpaWnYvn0bzp07pxWcMWPe0HnXrFldrEJ7enqiSZMm+OWXn9GhQ0ftuc7MzMC8eXO1Enfs2HGV9qt+B/DChQvF2jYruzqB7KREJG1ZjcgfP0JqyE49Pnv27MVjjz2K+vUb5BhcxADy22+/4tNPP8WsWbO0sUTe45T3NL/44gvEx8dDHjMVw4wo5puUocbc+o5zpzF60Uz8vXczTsdGQ4w/8t6nGH6mTftHG4CkfrPBReam1CWPqo4bNw6cF2aS3JYogXJYuZuTM25r0qrYQ93WnTDs19lo1Lk7+j79KgY8/waad+9bDgmzyyRAAiRgXwSoWNvXeFHaUiAwaNAgPPDAA6hduw66deuG6tWrw83NFb6+vhBFNy0tHQsWzIezszPkT7bmvI0bN5GoYg3t2rVHREQkmjZtihMnTuLw4cP622ClEW9vT9SsWQN33HEH/Pz8JIqhFAlkGw0wIBvw8gGcXXTLsbGxytjxC/bv3w9Lg8uWLVtRt24dHDlyRL+feeDA/hwDjRhtpPD48ePx77//akOJvNcpcc4mEyqp+t2dXVVbBolC7969MXnyJG3oCQoK1PWYDS7yHQXy6sCYMWOwdu0aTJ8+XZfhBwmQAEAGJEACJEACJFBSBIwlVTHrJQF7JNC7dx/9Tp0o0D/++KN+j+6+++7Xca+9NlopNH3w5ZdfYfz4P/Drr7/hqaeeVnlegTlvjRo1UJx/H3/8CYYOHYopU6bgrrvuwsiRI/Hzz7/g22+/w6BBt+LDDz/Gn39OwP33P6C/AK4422ZdVydgdPOA+/W9EfDwS3Br0U4XCAwMwKhRrymPdf0c40zDho1gVEq4zCtRhE0mIxITk3IZaKRwnTp1UK1adQwYMEAbcSSuc/U6GN2tL+5q3hbVfC8aTxo0aIDk5GS0bt1asmDPnj25DC5GoxH16tXTxpiuXbvqPPwgARKwGwIUlARIgARIwA4JULG2w0GjyCRAArZDwCm4Gpxr1ofR01srw2L0qFSpkt43G1waNmyojSFiuHnooYchBhNReM0GmjvvvFPH9enTRxlOfsZtt/33De8GgwGNK1RGg8CKutNSx6uvjsTvv4/HwIEDIQYf+eI/s8GlY8eOGDv2U7z77rv44IMP9asEuiA/SIAESKBYCbAyEiABEiABSwJUrC1pcJ8ESIAESIAESIAESMBxCLAnJEACJFBKBKhYlxJoNkMCJEACJEACJEACJEAC1ggwjgRIwP4JULG2/zG02x58+8TtYHBMBv7BVQs0L/1UPs4Bx5wDxTmuru6eueaTX6XKvHaUs+unX8XKOXNA5sPEMc/iq0duYSADzoHSnQNlzjszPT3nWsAdErA1AlSsbW1Eyok8T3//N579aQaDgzJo1q1PgWZyi+79OAccdA4U5/n92Bd/5ppP8nNExVk/67L9a3HtVu1z5sCQtz7Hsz9Ox+NfTmQgA86BcjYHRv2zOudakP8OU0igbAhQsS4b7myVBEiABEiABEigiATcvX3BQAacA+VvDpgu/dRpES8dtlWM0jgcASrWDjek7BAJkAAJkAAJkAAJkAAJkAAJXDsB1lBwAlSsC86KOUmABEiABEiABEiABEiABEiABGyLgE1IQ8XaJoaBQpAACZAACZAACZAACZAACZAACdgrgasr1vbaM8pNAiRgFwQyo8+DgQw4B4o+ByxPdHIsOkeyIzvOAfuaA5bXPu6TgC0QcBjF2hZgUoaCE0iNiURK1AUGB2VQ8JkAZCXEIDVkAwMZcA4UYQ6kHdqa63TLzsokxyJw5DWI12DOAfuaA2nHdue69vGABGyBABXr0h0FtnaJQOaR7cjav57BQRkkhp26NNLckAAJkAAJkAAJkAAJkIDjE6Bi7fhjXIQesggJkAAJkAAJkAAJXE4gJS0dWw8chWwvT80dk5mVhe2HjiMuMTl3Qp6jsKgYJCan5Im9/FDqOxEWjsSU1ALLILVI3dKG7DOQAAmQQEkRoGJdUmRZb4kTOH7uApZs2a1v2nKzvVqDh0+H4vtZi6+YLTs7G+kZmVbzSNrOwyewfPtexCQkXpZnxqpNWhZzgrQlbcpxVFwCvvpnAVLTM+Qw3yALlfV7DlqtP99ClxJk4bBqZ4iWLyI2/lIsNyRAAiRAArZIIFJdp28bPQ69X/oA/UZ8hH3HT5eomGt3H4AEcyMHT51D1+fexqgfJkPuoReiYzHotbF4+n+/IDktzZxNb+Xe9dey9TgXEY0EpQD/OGep3urEK3xIuYmL1uBMeKTOJfemQaPGos/LH6LHC+9i6vL1kHvr3LXbcCz0gs5j/hBZJZiPZZuQlIKpy9YhPCYOV5NB2v7rksxS97QVG3U/pR4GEiABEigJAlSsS4Iq6ywVAqJEitV64cadmLl6M5KUBfvImTBtGT91PgIb9h5CUmqavmnLAuLI2fM6TW628UnJyMjMQoK6SctNXSzgISfOYIdSnF/48nfIgkcUVVFyZSsdOqQUc1kE1AquoMvKQkQs8VJO9sUiH6/qlfzbDh7D+ahYpGdmQspmKYVdrOXblJVfFhaST+SQIDJKHgm7jpzAJ5NmY9bqLXKo5d+q6gqNjNZtSh1b9h+5zFMQm5CEkT9MQrLqb9WgAJy+EKnzSz9EblHYN+47DOlnlvIgiKzm/osMcYlJEKOByKYb5kehCciCUww9YkyR8MeCVYWuw1xggZrTB06eNR9ecXv8koHJPN9lLk5fuUkvgM0FZY7nNRjJWMtCc9/xM7iSrOayMk8nL1kLmbvmeq+0LSiDOOXJkvNM6r9SfZZpco6tohHJEgn37ZBAtpI5yM8bk956Hj3bNceW/Ufxz8qNEMXzGaXcyv1szC9TIYbZWWu2QBRUUYJf/Go8JHw8cRbuHPO5Vsjlev7N9IUY+s5X+Hv5Bhw6fU4pzJPwxNif8Oavf+NsRBS+nDYfo3+agk0hh1XL0Epm3aqVtJJ6KiwC2w4eRxV1/3B3cUFWVrauR+qTekW2L/7+FyO/n4iY+ER97xz94xSInHItkevVfe9+DQlyH01Q91aR/alPf4Lcv3SDlz4qBvhi4pvD8PvoZzBn7VacCA1HXFKS9liL7Pe/9zWmrdiQS96vVd9Gfj8JMxWH6LhEZCgDuLQhMjw17md9v5XrmQS59rw3fjo27DsEkfnBD77FKFU2LT1drQcAqav/Kx/hf3/N07KZmZr7cklMbkiABEig0ASoWBcaGQvYGgGj0QCT0agV0tnqJr3zyAl8PvVf7D12Gh9NmInNarHy9fQF2H30hH58bKO62Y6dPEcvPL6duUgtJo7h+5mLcVItLMIiYxCrlMxwZQ3/dsYidbNPVpb7dMifn5cnRGEff0lh+mXucqxT3uXx81di8ebdkgWivHw4YRa2HjiGw2dCdZz5Q+oW2d5Si5xlW/dAyk1RisrK7ft0FlFgpL5HB9yEPcdO6YXL90q+08pI8J5aJOw/eUYtEuarBVI0fpi1RJcxf8iiqUpgAGoqpf9vtajKUsrzIbWwevmbP3FOKeWirEt52Ypsb/82LVf/n/v8N+3JENlksWKul9uCEUhW3h15IiHQ1xsmkxFiUDmuvC/blFFElECpReaOWfmVRXBMQqKee5Ke9/i6BrXUAtdfzb00vfATo4cozKJ8WhpapN5VSsEUA5O095ryPIkRpUPT+vDz9oAYlCSIwcZsMBJZT6o5laKMMB1VvuzsLEhZs6yp6RlaeRaZZC7sOnISUvaC8mZd37wh3F1dIQtp8STFKoOOyBWnzhmRUeJFJgmWDCQ9RvVX8kqdUrfkkbB4yy58KOfppcV+rKpT+ih1ZWRmamOQGLCkrOSX9KIakaRdMcCJgUm4ZCuDl9TJQAJlRSAmPgnjpszBemUIblGvJvp1vA6/vva0Os9ccFp5eeUc2KyMqXLfqlEpSF8PnhjYE3KvaVKrGnq3b6EV8m0Hj2qv8NuPDL701FKCUsgTMfLegZB7j5w3/Tu1xiP9uqNDk/o53ZX7WuOaVbF6V4gON7VuptPkGrFm135IfcfOnYeHmws6N2uI1+6/TV1bPOHi7ISXhwyAm4uzMkgfxw+zl+CFO/vqIPe1LcqILIbesc/cB28Pd11n3o8gPx9U8vfT17kYdd7HK0+4KP1De92I27p0gKW8cv2pXy0Yvdq1QGR8AsRYLTJI/2qp+96a3fu1Yi7XU7n2RCvlv3mdGlrmL194CK/eOwjShnA8GRaOae+/DKlT7rWh6h759K29dF9K+qmBvAx4TAIk4FgEqFg71niWu96IpbtX+5YYeENbdeN3Rd+OrZRFOhst69XUcVnK6i6KctuGdXHL9W3h6eZ6GSNRShqrhYWUrVW5AiqpG30NdaPuqW7g05SSKpZ6KVQpwBd/vP4cqlUIwK/zlqmbdCJ6tGmG3h1aKWt5jGTRN3ujUvTv6NYBLerW1HHmj6qq3O1dO8DD1QWN1IJoz7GTStk/hZb1L+aLikuAKF7fKoVelJyjajEj8osFvm2jujAaDDh9IQJ7jp5SCnSQuVq9NRmN2ggg3upWqj7JIwmNVTvtG9eDLM6k/20a1EaMUoIkzTKIQj64e0ctW4qy6lum2da+bUrj4uQEPy8P5QGZC1m8iZRiWFmtFqY/zlkGUU4tjT0HlJHkxS/Hq4Xsfnw8aTbyHs/fsEMtVk/g72Xrtddm0uI1ylhzVBmAFsFsaIlWi0tpR4K/tydu7dIeJqNRGYjCIflX7QiBeJjVtEGkmltyHoQrg5HU+fU/CxCtFrI/zVmKNOX5EaV/nTISiSziPbY0PEWrBaqU3aaMRZ9OmYsDp87i7d/+xjHlKX/j579w5kIUnvv8N22Y+d9fc3O97mCud+zkudootGnfYbz/5wzIkxcitxgBdqv5LIrCSiWvnItioDihjBLijRPPl/Rlt1LuZ67eLEWUYSkKRTUiHVLGJjEuTVVcxylZpW1dKT9IoIwI+Hi44WGl7P75xnNoWrs63v39H8xctVlfR+SaP6BzG/wyb7kydqWo634FrdBW9PdFgI8XfNU1x8lk0pLLuRQeE6/O/wjcpxRTuc94ubupPJ6Qrc6Uz0fnZg0wQ7UpynrdqpV0LjG8xSUl4/DpMH3vlHuLTrj0IUqtGBI9VRtm+5QY3SSIESwjK1PL6uXmpo0El4rl2kSo62EWKRwAABAASURBVNH56Bi4Kw+5JLg4OWnFfasyho/55S99P5V4c6hfvbKu03wsffdyd4fIIEq8OV7um1nKYGg+ttxmKqOzyO6qDAPOqr2MjCxdp7kvlnm5TwIkQAKFJUDFurDEmN+mCIhnr7VSFk3G/6ZycIAflmzdjdE/TlYLlWqoUTEQCzbtVErPPKQpb5xYtw+cPIcP/5ypj3Py/zQFLk5O2ootXuS9ymvs7uaq8qTrPovX7IUvf4d4CDs2bYBqqt6xSin6Y8FKdFILE8nk7GTSyukr305QSvNJicoJYvUf+f0kBCkrfT21eKlWIRByg5f2JdORs2GqnoZY9NnreO6OPsobfkA/Ci5p4WoBIgsWT7VIEY9jXGKyROeEulWDIfXII3GTFq/V9ZoTZQHh5e6qeEzR3vuWdWsq2QMg3mnxMkq+kBNnIN5tWayJkiZxDAUnYDIalWdoEF66ewC+mb4Q8WpBKoaV3srok56RgRjlrbU09ogyK0aPO7t30p6nvMcZavEnrcuCta/yYMmCWxbOsmA0G1qClHdc8phDmjKIyKLRx9NDR1VS54G/txe+nbEYvirObDCSOm+5vg0qB/rpfPLRsEYViNEnXSnZ4u2ROHOoFOALKdv1uiaQuSFzr3rFIAxWxiNvT3elSKfrBf8AVacsdEUGc1lzvWLYkXNk0pK1Shb3nLbPXIiEKNtmY9L56Bj9xIg8HipGK/Euy9w8rfIFq/5IvSaj8ZqMSB5urkpRaKMNXzIuUicDCZQVAaPJCFHqPJTBVctgAMTbK0qnHDdS56Y8WdGsTnWlQP5nGDYYDNqQhkt/jWpURZa6bvy7YTuWbt2jDcyXknI2lYP88cfCVTmPgpsTGqg25PFsMeC6KQ+0xIuxNUBdP+Zv3IG567bBycmo25enwORRcMljDnKPaacMuMO++A0j1L2vn/KMt6hTUynlobj3va+0McycV3UPEcoAcN+7X+PpcT/jnp7XQwzakp6mrpXy9Jh4kCuo+2TVfOSVvBLEO/3ox99jgTJEigFZ6vl9/kqM+WUqMjMvKsye7q76yTVpU8oIJ/FYyzve8eo6LddWiWcgARIggeIg8J82Uhy1sQ4SKEUCD/Xrhq6tmuS0OPLeQWiiPLSymJ/05vP6cbqhN9+ARsobPfWdF/HrqKcw5qE7tBIw7b3h+h0vOTbn//CJe1CvWrCO79fpOjzQpyu+Gf4IBt3YTrchCvy3Lz0KqburavdeVff415+FeBqkDpGn+3VNtcVd3h2TfCKPFA5SSpAc/6Hyi5yigIjSI/WYjBdPQ3k876W7+0t2pbR0xMP9uyM5NRW3qvblkTVXFyf89OoTEDkf7NtV5zN/OKnF2Yt39cPkt57HX6qv0m9pW9oyGUXpu1WXlfKVAny1AjjtvZcw5e0X0EB5ASTvzyOf0rKbjBflMdfN7dUJxCrv76vfTcSvyrPUsEZleCrlzbJUcIBfLmOPLF7X7j6A4V+N13M277GL6aIXyrKOLKURJ6Ve/EKhcGVoSUxOzUl+R3m5Hnz/W8ij2rIYlYRo5dGOUkEW2wE+3jkGI0kzB/NWDCwjvvlTG6IaqvlgaXgS75jMv+Xb9urs/so7fuh0KF5S+f2Uwi5eM51g5cOy3rYN6ygZ4tCqfu0chUBejXh8YA9tTOrSsjF2HzkNUaalqjPhUaigFtcmo1F/p4A8Jirx12pEEq/4W7/+rZ8AkEW21MlAAmVBIEjdF35+9UnIVtoXBfXjp+7V1+rZH7+q72+uzs6Q64fcKySfOf+7j96FG1o0gtx3JFQK8NXvLH/x/EN4+5E7cZ0yOH827AFdt2zlGi+GvhVfvZXzKLjESVrQJTmG9Oisr0cSF6g84p8//yDknnfx2BvvPXY3JowZpu+TZjkkTmST+6HUvfB/o/WTXCKP3GNmf/Qq/lH3GmlL+ihGhJkfjoDk+/fT1yAeeYPBoOu+uW0LfY/+7uXH9D1KngaTOuXeaG7HLGsDdZ2Se928saMwf9xrkHtwN3X/XfXN25D6v1b3bm93N12vyHxHtw56X+SSe/GSz9+APCJeMzgIefsicjKQAAmQQFEIcAVdFGosQwLXSCBbKUliqb+5XYt8a3J3ccE7j96Nm9o0w3uPD0HeR/HyLVjIBFGUXrnnFrhf8lQUsjizKwKiXH767P2QBeHIe29Fszo1tAdbFpNi3JBFnyzm5N1JMXqoInpRLAvPB/p0kcNcx7JQlsWq5Vbeh062MLTEJiXpcpJn+ZdvYrZaiN91UycYDAbddo82zSGLb1lg1qlSMcdgJPmlblmgymJVDEZiYJFF6v29u1xmeJJ8E98cBqlb8strE2Kk+mHE4/q9xUr+vpB4eRJEth6XPG/Sd8t6XZ2dUbtyBbSoV0PLLR+Du3XURiTZf2XoQNzYoiGcnZz0Yvvo2TDUUJ7xP994Dh88MQR9O7SSbLgWI5LIJEaPd5RSIkYuWWTrSvlBAjZKQAxqjygja4PqVWxUQopFAiRAAiRgJmA073BLAiRQegQMBgN8PN21knClVl2dnSCKjVlZuVLeoqaZjEYli4dWyIpaB8sVjoAskp+9rXdOobzHOQkWO6VlaLFoslh33ZTC/caDd6BKoH++9Yo366Onhmpj0jvKqOTl4ZZv3qImCHfhXdTy+ZdjCgkUPwG5T7RpWOeq94rib5k1kgAJkAAJFJYAFevCEmN+EiABErhGAuJ1tVQa8x7nV31pGFrya/ta46WPoiQYDPKWZf61iRFJjEnS1/xzFT1FuIssRa/BzktSfBIgARIgARIggRIhQMW6RLCyUhIgARIgARIggaISYDkSIAESIAESsDcCVKztbcQoLwmQAAmQAAmQgC0QoAwkQAIkQAIkkEOAinUOCu6UJoFsA6deafIu7bYMHN/SRs72SIAESCAfAowmARIgARIoDQLUbkqDMtu4jIBr005wbnUTg4My8KhU7bIxv1KEweQEBjLgHCj8HLB2XpFj4TmSmQ0w432A98FCzAFr1z7GkUBZE6BiXdYjUE7bd3LzgLOnD4ODMijMtHau3hDuHQcwkAHnQFHmQIf+uU43p8Aq5FgUjizDeVPAOcD7lY3cr9vcnOvaxwMSsAUCVKxtYRQoAwmQAAmQAAmQAAmQAAkUDwHWQgIkUAYEqFiXAXQ2SQIkQAIkQAIkQAIkQALlmwB7TwKORYCKtWONJ3tDAiRAAiRAAiRAAiRAAiRQXARYDwkUkAAV6wKCYjYSIAESIAESIAESIAESIAESsEUClKnsCVCxLvsxoAQkQAIkQAIkQAIkQAIkQAIk4OgEHLp/VKwdenjZORIgARIgARIgARIgARIgARIggYITKFpOKtZF48ZSJEACJEACJEACJEACJEACJEACJKAJlLpirVvlBwmQAAmQAAmQAAmQAAmQAAmQAAk4CAEq1tYHkrElTGDfmiXYtmAGg4MyyM7KLPQMirtwAvYcju3fjqXzZzLYAYOQHeuxYtFshxgrOWcsT7aEhASEnzuDlX//gRVTxzOQAecA54DDzYFNC2dDrnWW1z7uk4AtEKBibQujUGQZ7Lfg6sk/o03f2xkclMHav8cXenKmJsYg7NAmuw3rls5FDZ80BjtgsGn1Qvgi2iHGavfu3bnOtdTEBEx9axjcXJzh4e7GQAacA5wDDjcHIo6GYOX4r8E/ErA1AlSsbW1EHFGeK/QpPT0CpRnS0i6Uanul2TdbaOsKQ12uktKMHkg3eparPrOztkHgwMZVaNXzFnS8dSg6DBzCQAacA5wDDjcH+j/7Gk7s2mwbF11KQQIWBKhYW8DgbukTSEk+gpjoZaUW4mJX59tWacrhmG2tKP0JZMMtZsFkw9JRtMISyM7Oxv4jp7BhewgiouOwdfchrNu6T4cLETE4eOyM3t8ZchSZmVlISEzG9r2HkZKappsyp+89dELH7Tl4XG+l7OnQcJ2nOD6ysrIAgwH8IwESIAESIAESKF0CVKxLlzdbI4FrJcDyJEACZUDg+OkwzFu+CVWDgyBKtpOTCYvXbENYeBRMJiNWbNgJdzcX1KlRGUajAWu27MV3E+ZiV8gxLa2kO5lM2LzjAH6ftgh7DpzAgpVb8Mf0xVoJ15n4QQIkQAIkQAIkYLcEqFjb7dA5luDJyWmY8tc6REYmXLVjsbFJ+H38SkycuAapqelXzW/rGaQPs2ZvKVJ/EhJS8Mkns7Fr14lCd1OUg6SkVISGRmPxkt1IS8vQodAVWS1QupFmb+BO5S1MSk7VnsK4hCStsBw5eS7HmygeRvE6njp3QXsXd+w7ioSkZJSU97B0KbC1kiTg4+2Jc+cjMWPBWjgpRbpVk7qoUjEQLRvXQaC/jz53RFHeuH0/0tIzcPDoaQwZ2B0bd+6HeJENMKh83ritzw04fS4cbZrXx8JVW/S7jw3rVCtJ0Vk3CZAACZAACZBAKRCgYl0KkNnE1QkcOnQO69YewNp1+5GRkYV//92OH39cgv37z2L2nC1YvTpEe4lECf3++8Xo0L4e+vZthWPHLuCPP1chJOQ0JkxYjSVLd+syhw6FYtWqEBw5EoZff12O8X+sRExMImzxb8eOE9gfcgYDB7bF8eMXYJZ9587jum9icJg1a7Pq4xktfrIyQpj7Kn08fDgUlSr56TRRsIXHv/9u0/0/eTICW7YexdJlezSfEyfC8afiNXnyWmzZchQPP/IdDitGacpA8dHHs/D5F/9ipmrr7NkorFy5T9dpDx/iDTR7C+XRW/EUjp+2GGfCIrBs7Q64ujjh0PEz2KCUHqPRiC27DiIpOQW7DxzDUpW+9yC9h/YwzmUpY5BSnseNfgLBFQLw97xVl4ni6uKMuwd0Ra8ubRB2IQpi5Jk4YylkboVHxebkT05JhZvybFetFIhGdWugbYsGysPNW3EOIO6QAAmQAAmQgJ0S4N3cTgfO0cReu+4gGjSojJ1KyVy//gCiohLg5u6CdWp/9uyt+Gf6JhWXiMTEVGRkZmlP9ciRk7Br9wmkpqRDlNPq1QNxXCnae/eewoXwWBw8eE57wDMyMlEhyAdbt118JNPW2LVtWxf16gXjjTF/4YRShM2yh4bGQmQPC4uBp5cbFi7aqUWfPWcrzH11cTGhabPqCA72U3wSMHfedjRtUg37Qs5e7H9UPE6dDEf6/9k7C8AojreNP3dxdyGEECC4u7sWr9IW2n+VOhXaUi91owYtpS2lQIHSosWtuLu7BI0Sd/3mGXr5gltyuUte2rndnZ2deee3e5d95h1R3uj9B87g4MGzik0S7OxsdENF3boV4eHurMV1WJUAtGpVDdFRiZgxYyNsVRpdoBV80Nu+cOUW0FtoMBhQpWIQ4hKTsf/ISW19aHAgalWtiEoVAmDyDh4/HYnjpyJQzt8bnVo1sAjvYXxiihL/+7HvcDhy8/K0h3Td1n2gZz0zK1t74DfuOKDTMC3jtv431jf8TKSuKz8O/Tfe15SP6ZhiL+Z8Ikxpz8cngeNAk6Z9AAAQAElEQVR7C59PSErVHn82UJjOc7wwPf/Mm+lNgbZtUeUzLc8xnck+k5hkWqYrXIcjJ87q8cq8jt5clp+cklYwbpn2XXodxy3T/sLlsUxzhX2HT+LDkZOwaedBNKgddlmxFMwfjpyM97+diB37j2FAnw4Y//VraFq/Og4q77Xp/MejJqNnh2ZwdXG6LA+JEAJCQAgIASEgBKyXgAhr6713pcZyimiGvv2agp4cvkBv2HgY/yovq7u7k/LGeqBz5zpwc3OEl5cLgoO9MXXqOtjYGmFjYwMXFwdUrx4Edqc+diwSPj5umD59Iw4fOQf+o6Cmx7ZcoCcPLS7s23ca+5Vn3mg0wF6J2cK2OzrYwcXZAU6qkcFgMID/KIBNdXV1/f+Xc6bJyMjCROW5p2c/OiYJ06ZtQHJKBtauOwg7WxterpgZQWFtq/idP5+McxFx4D93D2dsVd7tZs3CcFA1StSqGcxos4ZbLaywt5B5ODrYo1vbxnoMa05uLqMuCxXK+ek4d1dnBPh6oaS9hxS0I36Zpm1KU/eR4vP7cbPg7emG3cqzPn3BGnA87+adh2A0GPHTpLmguF6+fqdqMAjUnlR9sfqgB99WfTfmL9+MHXuPXjT+NyEpBdNUXuyuvGjVVnDyLKZ3Ul5Ujg+OOZ+AL8b8jfnLN4FierMSkiyXnn+VNXhsChTGVUPLq+fJlqcK7HN1dsIXP/2FY6rhgmlNvQPY+MG8aPO/63ZowRmthP7CFZuRpjy5jK9U4UJdLr1ux76j2KQaFYJUQwgbnHSBZvyoXa0iPnj5YXz73tNo3qCGLvmpgb0QpurPg5cevwsTv3ldp+nfrRXu6NCU0Rj8QE+0b14PpvOjPx6ivdQ8+bK6xpQXjyUIASEgBISAEBAC1kvAaL2mi+WlhYC3tyvefeduhFb0w7Bh/VCrdgX07dNEH7doXg2fffog+vVtCnt7WxgMBjzyvw744otB+HnMYNx7TwsMHNgW9Pp+9+0jOr5Tpzrg/oivHoaHhxNqKQ/ut9/8D7VVvpbIrH79inj/vXu0zYVtZ1d31m3w4C5o07oGXn6plza/cF1btqxWEO+kxPfHH92PIS/coRoXXPHO23dpduT1yccP4MMPB6BHjwY6ff/+zdC4cRWQyx09Guq4Pr0bq2t7IiIiAe3b1wLviy7QCj7SlSgzeQtT0zO0xXWrhyrRE6RnaNYRl3z4eLlrT/XqTXu09/6S09c6LJZzsXEJ8Pf11KKtab1qSExOBcVczbAQtG5cCyfPRumxu4zfvu8I/Lw9YKsaS6KVEGbX5LNR5wvsys3Nw8Hjp7XX3lsJ86ysHN3IQI9+hSA/zeRo+FlExcbrybYKn1dfMT1ueM+hcJyNjC3I80o7KzfuBgUyyzOdZyNH3RqV0LJRTexUYpjxhXsH8Jihab3q2LzrEA4ePaXuU3nVqGSHS+tS+DrWY+ueI3rCMNabeUgQAkJACAgBISAEhIClEBBhbSl3QuwoIODv5w4KxneU2A4J8S2Iv5WdsLByePKJzhddeubMeSXGR6JV63f0lscXJbDyg7CwQDz7TPdbqoWNjRE9ezbEgPta3dL1JXWRyRtIj2JwoC/oCXRTnuhhTw/AkEf7a7OaKy/j3Xe01fvc8pieRHodDQaDvoZxOkEJfBiNRt3Vm55kFm9jNCphnKJFf2ZWNtxcnGFnawsPNxcdnJ0cYWM06lmqnx7UG1VCyvEyHXgfgwJ89HkXZ0dQ7JrG/9KbXzU0CPQOe7q7wtPd5aLzzMDH0x3N6lfHktXbeKhDRlaWnoSLByyb296dm+PuO9ooUWzLw4LAifE4eRzzYWTh3gE8ZghTNtA7TnHNRhDGlVf3rnBdCl9Hb/qoD57TXvoVG3YxuQQhIASEgBAQAkJACFgMARHWFnMrxBATAYPBoDzNztpDbYq71a2trRGuro4XXR4c7KM82wPRrl0tveXxRQnkQAiUAIGK5QN0t+9hn43VY3mDAnyQlJKK976ZgB//mIse7ZtAfTW0CO7cuqGejI3e68PHz+DZd0Zh6pyVBVYbYECl4AA9rnzLrsMo7NHnOGjOZM2x0NwaDIaLzqelZ+p82jatA4pyGxsbBJfzQ3JKOjh+eJvyGjeuU1WnGTV+Nl7+cIweC64j1MeG7fvxxLBvkJCUiqYNqqsY4OLeATpK19VFNQ6kpmcg0N9bR15al8LX0TP+5c9/6zHhpnHy+iL5EAJCQAgIASEgBISABRAwWoANYoIQMDsBiunPP3sQ3Jq9cClQCFyBgI2NEc8M6oPvhz+L94YMAoU1tx8NfQSjP3oBVSuV112m6WHnmHB650OVeP7pkyEY99VQ3N+3Q0GuTBMWWh4D+3cCvcqFPfquLk46n0nfvaGXfOJFhc/Xq1kZvN5Nefy/fucpcLwwvdzvvPAgaMunrz+mu6zfrbz/zINjjmkr82GZnLDrty+H6h4AFM5M17xBDT3OmPmyHtwaDAawXNaDHnUvD1cUrsul17ExgTy+ffdp3X2d5Zkj0PPOxgIu08Yx5YUni6NnnhPgcXK2fYcvTDjHidiYlufYRZ4TrnEcOxs02JjBtDxmOk7SZpq8jePReY6B1/Bac9RPyij9BLKysxEecRLLdm3E72sW4qN5U/DitLF4eOJITFwyHZ/d1QLfDOqKn5+/HzM+H4aVk37CvtWLEHfuJPLz8ko/IKmhEBACQqCICIiwLiKQks2tEUhMTEV0TIrZQkxUEqIiEyUUC4OEW3sI5CohYMEEpvyzXFvn5GiPlLQM3YXeNMHayo27MGPhGoSU90daRhbSMzKxbO12/DBhjl7qjeuj//LnAqzZsqdgYjfOTu+pGhEWrNiMz0f/pdNxPy83T6dZsmab7sKv2h10uTf5IclvkAAbPtavX49p06YhPT0de/fuxcyZM/U+s8jJycGiRYvANNlKmHJ/5cqVSEtLw+LFixEZGYklS5YgM/NCD4/Y2Fhs3bpVpzflefr0aUydOhVxcXHMEizz+PHj2Llzpz42lck8N27cqONPnDiBQ4cO6cB9nfAmP2j7kdPHMXn9Ujw79Rf0+v0bPDxvGj7cvBa/H9yHpRHnsCMhAeGZWciytUVSTCzOHTmII1vWYcOsKZg36lP8/tqT+Ozu9nivex2MfXkQ9iyfh+S4GMg/ISAEhIAQuDoBEdZXZyNnzEAguEJn1K79uNmCo2MbHB7+nYRiYHD0o1FmeGKgX07pEaQXkd5E07JMpmWY2JV5086DBUtS0VPIc0xLA+ktNHkE6TU0eQjZdXn73iPIUC+b5+OT9IzWW3cfBs8z8DpeL6FsEQjy98Hv05aAk8MZldotPMEan5+eHZtj885DOHLiDDgTO0PdGqHYue8Ytu89iib/dZsntRNnIvH3/FVISEqBs6MDqlepAM7MTsHl6+2hJ41jeXVrVILRWJr/PJNGyQb2FKhdu7aeN2DTpk1Ys2YNXFxctJimZQcOHECCEp97leDesGEDKJwpihMTE7XonTVrFpydneHg4MDkWLduHby8vNTfsgt57tixQ+cVGBgIpmWi1NRUbNmyBRTc8fHxWLFiBdzc3LRAj4iIwO7du3U+ISEhCAoK0vtZWUr8/heYx7VCYkoS/ly/DAMmfI/HF83Ez/t2YW9yEjINNte67Krn8vNykZ6UjIPrV2HCm8/gk77NMeKBTur4X8Ut56rXyQkhIASEQFklIH+5y+qdt5J6x8TE4Pvvv9eeALbqz58/H0lJSdr6jIwM/PLLL1i6dCn4wjJ27FidTp8s5R8h7fui7Ye/o+4jr6H2wJfQ5MUvENZrEFq++SMaDH4Xrd/5Ge0/mYSa9z+vz4d2ubvUEDlxOhLzlm/Sk3bl5uYqUXNQi+GqoeXVNhtfjvkLmZnZegmtiOjz2gv4q/Ia0rOYlZ2DCTOW4I+Zy0ChvWLDTtATWTmkHDiRVuFlprbvOaJn3aYHkUtEsat2qYEoFblhAn27tsS7QwZi9uL1OKeep8ITrLG7Nhti2jargzMRscpjnaXzrRVWEZt3HURsXCIqVwzScfyoUbkCnnqwF/x9PHkIjmM/Fn4O15t9XSeWjyIlYGNjg8OHD2tvcpUqVUAvr6urKwwGgy6Hf1NslTeXYpuNHBTUKSkp4G8O//acP38eYWFhOi2Pk5OTUa5cuYI8q1evDsZ7eHgUNJIw/4YNG4Jlu7u7w9fXF2vXrtWNhV27dgXT8u8cPef29vY6b+ZLjznjWbaOLPSRn5+HI6eO4K2Zv+OuyWPw076diMnLL5Si6HZzlOc+8vgR5cF+BB/3aYZtC6YhV8UVXQmSkxAQAkLAugmIsLbu+1fqrXdyckLfvn3x119/gR6AZcuWKdF0oesdPQX9+vUDu9AtXLgQjo6OulsfPQulHYyjly/iDu1CxJaVcA0KRfr5SBjtHXB69VwYjDZY9/FTSFIvWwYY4ORbDs5+QaUGibubi54sa+bCtQV1Mi37RCHt7+uFoEAf6O61+RdeMKuGBoFrPu87fFK/5Ab6eelrswotQ2UwQHsMTctMGY0GNKhVBfQgcpIvHy93fY18lB0CbIj5YcI/ymO9GF7urvDxdEfhCdZ6dGiKiaqRZtT42YiIiYPBoB4ihcff1xNcH53dvtlwo6L0/+xl8fjrX2PVpt36mDOy9+jQBKlpF5aI05HyYRYCFMr8u5GrGucomI1Go/YcV6hQAbNnz9aeaHqtz5w5oz3TTE+xTQHOv0sdO3bE5MmTdddx/i2i0VFRUTDlSY+0t7e3zouCm3my+zjTMbBcXmdnZ4fGjRtrgc+/YRTfPE+buKVXnOKegUKdcaZwLvosXpzyE55aOAtrldDPVnUwnSvubVJsDP784BV82Lsxts7/CznZFxqVirtcyV8ICAEhYMkERFhb8t0R23RL/rhx49C7d2+0bt0aISEhYNc4eqf//fdf3cWOLzzR0dHgSwxfePL/E1OlGV/ktlXISU9FrQHP6Wq6BFRQ4rk8Ahu3h42DEyq07Q31lo/9U0chKzkBpemfr5c7Rrw1GIF+3vh73ipdtd7/LfvkYG+nREo6An29UDMsBIeOndbn3V1dtAf7r3kr0bhOVeWJtgX/Mb1pGSoe+yjhdOkyU4yXUDYJ2NvZ4vn/9dOTyb31/AMo5+990QRrXOLs+/ef0ZO6cVI1CmVOzFajSgW89tR94HPJids4EVvhid1My7wxrmPLBhjz6Yvg5G085vVlk7Z5a03v8HvvvYfnn38eNWvWxHPPPYcPPvhAi9z+/fuDnuV3330Xw4YNQ6NGjfDWW2/hzTffRGhoKF544QX992jo0KHg3xyDwYDmzZuDf4dMedKbPXDgQJ1njx49wDzZLbxatWro2bMn7JVH+q677sI777yj/66FqL9t3bt3x4MPPgheR2HOPJg/yVCA29jYaC94Tk42pqxZgEdm/YGdaenIMaOgpi2FQ2pCPKZ++Co+7d8c547sK3zq0n05FgJCQAiUegIiMYWfPQAAEABJREFUrEv9LbbuCrLr98mTJ3HkyJECTzVfSJ544gn9MmTyANSpUwd//PGHfulwc3Oz7krfgPU+tZooT3QgcpWXwGhrB1sHRzh6+yE7LUVf7RpUEclnjuv90vZBr/OHIydh086DaFD7QlfMUcpjyGWf7JX3h2NV3/l6POYs3QA7JYxM9W9UJwzZ2TmoVjnYFAVONvXhyMl6GSmOzeYJds91cXbU3TV5LEEICAEhcD0CVatW1eL6eulu9DxFdYsWLS5KTo92VFwkBo3/FmMO7keG8UID4UWJSuggKTYWox7vh40zJugG8RIyowiKlSyEgBAQArdOQIT1rbOTK81A4P7778fEiRNBIc1ucy+//DL8/Px0yeXLl8fw4cMxYsQItGvXDn/++Sc+//xz3SVcJyjFHycW/4Wdv3yEdR8NxobPnsP6T5/Fxs9fwK6xn2Dr98Nw4K8fcXTeRE1g97jPsP/PUXq/NHzUrlYRXKKJyzyZvIGTvnsDPA4u54tH7+2O7957Bt8PfxZ9u7SEyQtIDzaXj+LSUC8/fpf2EHK5p4nfvK7zu9IyU+RFDyLz4P6NBiPyYUDujSaXdEJACAiB6xLYdmgXnprzJ87lW+arW3ZmJqZ/+Q4mvP4YsjPTr1sfSXAbBORSISAELJKAZf46WyQqMao0ELCxtYVruYoSioGBs3/50vCIFEkdbPIyYJcnL5ZFAlMyEQJlnUB+PmZuXIbXVi1Cmo2dxdPYu3oZvh7YDenJFyYatXiDxcBiIyAZC4GyRsBY1ios9S3jBIy26PbjQgnFxKCMP10F1Tdoj3VewbHsCAEhIARuhUB+fh5GL5mOkXt2IMdgcytZlMg1safD8d2jdyAtqXTN8VEiMKXQ4iYg+QuBIiMgwrrIUEpGxUEgLi4OI0eO1MtocbkRjrk2LbfF8rgUCWdb5UQvnNBs69atjC71gcuQjRkzRi/VMnHiRL0kGddAnTFjBjgmfcmSJZgwYYJee5UzqnOMeqmHIhUUAkJACJQiAvl5efhx8d+Yeuok8nBhxnlrqt7506cw8tFeSE9KtCazxVYhYKEExCxrICDC2hruUhm2kTO3duvWDStXrgSXPim83FZ+fr6eFZwikjOEc2KXadOmaTFZ2pGxQaFly5Z6ZtqHH35Yz2DLuIoVK2Lv3r165vT77rsPBw8eBCfAoejOzMws7VikfkJACAiBUkNg6rpFmH76tFXXJ/bMKXz/WC9kpiZZdT3EeCEgBG6QQBlPJsK6jD8All791NRUUCzn5uaiQYMGelkS03JbXIYrIiICQUFBOHfuXJlabotLszg7O4Me6tjYWH0bORs6Pdnp6elacLMR4vDhw2A6MiNDnVA+hIAQEAJCwKIJbNi3Fb8e2GOVnupLwcaePolfXxqEPPV3/NJzciwEhIAQKAkCxVWmCOviIiv5FgmBM2fOIDHx4m5kpuW2Bg0aBM4azoJq165dppbbioqKAoOLiwuio6N1g0NeXh5SUlLArvLh4eHIzs5G9erVsXnzZgQEBGiBTVbWEM6fi8DBTZusKhjjIrF45lwJVsAgN+oMjm7bZlXP19W+D6nnY6zhKy023gSBs+r5/GDNUqsaU3296oXv3oG1U3+9XjI5LwSEgBCwagJFLKytmoUYb4EEatWqpZfTGjZsGGxsbFB4uS0uv8Wuz++88w46d+5cppbbKl++PNq0aYM77rgDZBQaGgp69O+991489thjumv4XXfdpT3XvXr1QqdOnSzw7l7dpN2r1qDv0G+sKgx8/ye88M0kCVbA4IlPx+G+t0ZZ1fN1te/Dyc1rrv5FkjNWRyA7JwuvzJlsFbN/3yzceaM/x7nDe2/2MkkvBISAELAaAmVTWFvN7RFDi5qA0SiPfFEzlfyEgBAoOQKuLs4lV7iUXOQEpq3/FxGwntm/bwZAXk4uxg19FNky38fNYJO0QkAIWBEBURkWfLPEtKInwO7SRZ+r5CgErkwgJ+okMrYvu/JJiRUCQkAIFCIQEx+D8Qd2FYopfbsJ0ZFYNOaz0lcxqZEQEAJCQBEQYa0gyP+3RaDYL46MjMS8efNw6XJbHEs8YsQIcJktWW7rexw6dAic/ZsTunGm9AkTJujx1mvXrtWzqhf7jZICLiKQFBOFmF/fRPzv7+Ds39/i9IHdOHd4HyKPHUL0yWOIO3caiTGRSEuMR2ZaKvLyci+6Xg6EgBAoQwTy8/HVktnIMNqW+kqvnf6H+g08UurrKRUUAkKg7BEQYV327rlV1TgnJwfjx4/Hpk2bLltui8tHcYkpjjNevXo1rr3cllVV+7rGst6XLrfl6uoKTvZ2/vz5guW2eMzZwpn2uplKgiIhwIaeZwYPxv4D+/F7nAc2BXfE0qh8JGUDC1asRZbBBlAv0ZnpqUiKjUZ0+FGc2rcDhzasxKGNq3Bi52acObhHxydERyA9OQm56ntQJMbdZiZZGRnIyc5CTlYmsjMzLoSMdGSlpyHxn58QPeIxpB7coo+zVDzT5WZnS6PBbXKXy0s/gT3H9mFrYlzpr6iqYW5WFhb+KF5rhUL+FwJCoJQREGFdym5oaavOokWLwLWsnZycUL9+fT37NZeOonjZtm0bmjVrhs8++wwnT54sHctt3eANvNJyW5zQzMfHR+fQrl07cLmto0eP6pnCp0+fDjZE6JPyUXwElGDet2c37rrrTkQnJAO+FbAuNgcb9x3GT7/8gvikJFSoVAX+oWEoV6UGKtSsh9D6TVG1aRvUbN0ZVRq3RGCV6nDz9oXBYEBKXCzOHdmPw5tXa+F9bPtGnN6/ExFHDyDmP693ekoSjh09giEvvICxv/6KNStX4MNXX8DmRbMxefIk7Ny5E3PnzEG2EroUwBT0ibFR2lOefD4GCVHncP7sKdCLHnX8MA5uXKnK2IXw3VvB8o5sXoOD61dg3+qlOLp1DY5t24DjOzbhxK4tOjDdyb3bkbxjOXJP7kfM1uXg8cnd23S6o1vXadv3rVmq8lmOw5tWq3zWgQ0ITHf20B7txY89fQLxkWeREh+LjNQUUJAX342SnIWABRFQvxujN/xbqmYBvx7d/etWqN+es9dLJueFgBAQAlZFQIS1Vd2usmcsZ7Pu0KHDRRU3LbfFpaQ2btyoPdUNGjQo88ttmSCx4eHEiRN6uS1/f3+cPn0atra2OpjS3O5Wrr8ygdTkRPTu3Qu/T/xDN/YcOXJEd8fPVl5bLnvGBg+DwXDli1WsrZ09nNw84OFfDn4VqyC4Rl1UadQCNVt1QliT1giqWgueAeXh4OKmUgOZaSnISElGVMQ5ODs5okXTJvhz0kQ4GPKxds1qzJwxA1+ohqewShVx5tBeLXhP79uJiMP7lZA+qoVsakKcFt30otvaO8BR5a3LD6mM8tVqI7ReE1Rt1ha123VFrTZdUb1Fe1Rr3g7VVNyaPYfxw+TpWLfvKD4Id8K3aIhl6V5QRmL9gWPwqlwT1Vt2ABsNarftCl5XqWFzVKjdQDcg+JQPgauXL+wcHJGXm6vFPkU+xfaRLWtxYP1yHN22Xnv0I44eRGpiPA4f2K8bEUaNGoU33ngDTz7yMH7/9WdMmTJFD4XgsBENRz6EgJUQOBlxCkfSM6zE2qIxk71wVkwaXTSZSS5CQAgIAQshYLQQO8QMIXBFAs7OzqhZsybeeustLQwLL7dVqVIlfPTRR3o5LgqWP//8E59//rkW2lfMrBRF0jt96XJbrF7z5s3RqFEj7d3nclstWrTQa30PGDAAXK6MacpQMGtVE6MjkZaaio2btyIuLg65SihyfoCEhAT97L722mv4+OOPdXf9WzHMxs5OiW53uPn4wbtcMCi8y4XVhFdgeVSuWh0VK1XGiO++h5OHN/afjgJcvHD02HH4BwYirEYtVPrPM06BXqNVRyWYmyJECdzy1etokeuvvOg+wRURWrcx3H394eLpDUdXN9g5OsFGNcxcyeaDBw/izjvvRJ8+ffDks88j39EVO3buwvfff4/o6Gj4+vpedJnRxhZ2Srw7OLmouniAopoinuWyfNpSsU4j1ZjQErSxuhLwwTXqqToGw97JWXmxsxAbGwNnRwd07dgBzzx0P4Lc7JETcwazZ83CV199hbp1615UphwIAUsnsHDf1gtDRCzd0CK2b+vcv3XjYBFnK9kJASEgBEqMgLHESpaChUAJEKDntgSKlSJLOQF6X2JPh8Pbzx9vv/02OIThpZdewsKFC/HXX3/h559/BtcYnzt3LoKDgy+hcfuHJ0+exMqVK/WwCU5eFxmfhBxbB7Rt2xblypXDyJEjb7+QS3Jgw0Hfvn3xyy+/YM+ePVi+fDn69eunGxRuxDt/SXZXPKQQd3Rx1Y0J9G67+wZcaESoXAVfffsdUjKycD4+ETVrVNNzMLi5OMFDhajwI3piOOlOfkWsEmlBBLKyszD32CELssh8pmQqL/2h9cvNV6CUJASEgBAoZgIirIsZsGRvWQQ4GZplWSTWWDuBjJxsnDquXoydnZGZn4809aJ8vZCcmQGGoqo7eypQwNNTzC7Rixcvxuuvv44ffvhBd5ceOnTo7Rd1SQ4ZGRngpIH0ztspbzrFfY0aNcD92/XOX1LURYcsh40IXl5eOHzqLOq36wKnirXQvkMHhIRWxtjfJ8De0RnsQcCx6RwLfv7MST2h2kUZyYEQsAAC0VFnUcfbF8552RZgjflN2DTnT/MXKiUKASEgBIqJgAjrYgIr2RYNgbNnz+rus9OmTbtsua18JWK2bNmC0aNHIzY2Vi+7tXXr1qIp2MJziYmJwZgxY8D6ssst+XAG8BkzZoDCg8tu0VvK2dR//PFHPf6U43wtvFpWaV5OViZenDQaj69agB7jR95Q6DXxB/y4aeVt1Xfj6RNg2Hr2JG40MH10SvJtlWu62MXFpcA737p1a/z000+66zfHPhend97UiDBixAjdDf3JwU+hcePGBY0Ir772Gtg9nt3ca7buDN8KocjKSAMFNida4zJn7GFgqodshUBJEnA9sB0v7d6I350d8VVYVfTw94dbbjaMyC9Js8xW9old25CdmW628qSg2yOQkRKnGimL5m/I7VkiVwsByyQgwtoy74tY9R8Brk/NF/gOyht14MABPdO1aXbr8PBw3eWWY4m5VnNZXG6rTp062L59O7p06YJjx46hVatWoJg+d+4cKleuDDc3N9x9992oVq2a9iT+h1U2RUggIfIsslxckWdjW4S5Xj+r7edO4fVFM/DKgmk3HJj++jlfPUWqakTYGXEae5WXbV/UOdxIYHqGq+d6/TN5qhGNgY1pNxKY1hTcvP3AsejVW7SHT3Ao0pMTcHDDCpw9tBfxqg7XL71YUkimQkATyD28B8aMTBh3bUXowul4bPNKjLUz4ttKYbg3KBgeeVmwzc/TaUvjR1ZGOiKPHSyNVSt1dTq8YRnmjxqOZWO/wPkzh8HfYjo3JkyYAC7zeaUKswcVJ1O90jmJEwKlkYAI63qE1JYAABAASURBVNJ4V0tRnQICAsDw7bffgiKSy0xx1uuxY8dizZo14HrOPLdv374yudzWzJkz9azTu3btAse8Ll26FBTV/IPH2ZHT0tJw+PBhhIaGlqKnwnKqkpeXi/iIM8hw97Aco4rZkiHz/sKzc/7EM3Om3FBg+mW3+eL848aV6DD2a7S/wcC0DAnpaRfRcPP2RfnqdVGjZUc9+3m28mQf37kZbBy5KKEc/EdANsVJIE95arNPHf//IvLyYMjMhPHAbpRbPAP3rluMsTlZGF0lDINDKyMAubDPz/v/9KVkb//afy+rCYdt5SkePLFjxw5w6chL93nMv3VsWOdEkRwCw3cD7q9YsUJPFMllJzmBJNOmpqZi/fr1YL6F82SPNw4vYRoG9gKjIDx16pReVWPq1KngkBe+Z/C9g+e3bdsG5sv5JGgDryvdIQ9Rx/Zjw+xZ2DFvISKP7gMZ7N27F7169YKrqytWrVoF9p7jexl5zpkzB4mJiViyZAmYrnTzkdoJgQsERFhf4CCfFkqAIpEtoh4eHnpmZZppb2+PJ554At26dQP/UKakpOiuoH/88Qc47pNeWqYrzSEqKgoMJi7sMs8xpxTQDRo0QNWqVbWY5uzhmepF7dLZmUszG3PWLSHyHJzdPZFna2/OYqWs2yTAWc59givCv2IY/EMqI+l8jPJir0RU+BFkKw/abWZ/y5fzxZQT33H2ePZE4Rh59tShWODxLWdc2i+00vplx0XBkJt7ResN+fkwZGUBJ47Aa+EMdPl3Dn5IjsOY0Ep4OSwMIertzSEv54rXWlvkLlU3Ngynp6frv+lJSUngfk5ODiiSKdAofgvvm+p45MgRLdx4DSdubNq0qW5kpxBfsGCBbnjm30mm53fIwcFBr1hgypNlcFJJfs+Yhg33PMfVNTw9PfHPP//oCSfZUM1eYRTbHGZVsWJF8Dz/9p4+fZqXlvJghKufP+q0bYvQJvXg5hukGx3YG47vFwaDARxuFh4erhtB2ODAeKPRiNq1a4MNGZB/QqAMEFA/zWWgllJFqyVQv3590CM9bNgwvVxU4eW2AgMDwfHDDD169EBZXG6LLcXsCj9w4EA0bNgQXHaM3ebD1IsXu4BzRuiuXbta7f23dMPjI8/Cq1ywpZsp9l2DgKvyYnM8dqX6TZCfl4+j2zfgtPIYpsafv8ZVRX+KouH48ePgi6jBYABf8J2cnMCGRQ6J4XHRlyo5mpPApWVlnT5xadRVjw052cC5M3BbMhstF8/CiMjTGFuhIt6uVh31nBzglKvOX/Vqyz6RGB0F9cjr4Uoc0uXu7q6HMdFqejurV6+uBbdpnw3o9BKzUZ2eUTYkU4hzrgV6qimSKdQpeGvVqqXyNjArLQSDgoK0EGeezIceaA43Y4M9RTavY14bNmzQHljmzRUPGMe/pbyejdWzZs3Sop1/Y+kA0AWU8o96ne9En5c/QL9XP0WF2s3QpEkTsJccV504dOgQdu7cqd/T+BtGbhTTvE9cjcVguHAPSjkiqZ4QgAhreQjKFAE7O7syVV+pbPERSImPBV8VnD29i68QydlsBBycXRFYuRpqtOgAFw8vnDm0F8d3blbe7Gjw32+//YYXX3xRC933338f69at05MC0mM2YcIEcEJBprvVQOHM3jbshcOXUnah9Pf3171w+DJ/q/nKdZZLIDfm3C0ZZ1CeXIP6/XFcPg/1F0zD20f2YrwSjJ9Uq4EO3p5wzc0CPd63lDlg9svycnOQk5Ghe6XZ2NgUlM+/1/369dOTIlKscXk/ekGZgN5nDoHiRIlsgKK3dP/+/XqSU2dnZy3w2KuNHmd6u3kNBTu/V6Y8GcfJECnIuU8hyO7NTEex7Ofnx2idFz3hFOL0jNMGCnEOtWIXcW9vb52utH/Y2DrAp3xVuHqVg8FgQIUKFTB8+HAMGTIEdevWxauvvopXXnkFdIjceeedeO655/D000+jRYsWGDRoUGnHI/UTApqACGuNQT7KCgH+8S0rdZV6Fi+BhOgIeAaWL95CJHezEzAYjfAOqoDqLdrDNzgUiVHnkJYYj/379upZyENDQ/Hggw/qWfm53BiXOOOYS75s346xnD/innvu0WXcd9996N69O/r06YPBgweDPVL4cno7+cu1lkcgX4nj27WKXcmNqSkwrl6CavP/wrPb12O8EoRfV6+BvgEBcM/Jgu1/Y5Vvt6ziuj5PNRRkpKdelr3BYNBr83Nyzo4dO4Jdr7nPXlmNGzcGVyPgECh+b+g9HTBgAN566y09FOrJJ59E27Ztwd5upu8m09CLza7hpnwowqtUqYLHH38cFM9t2rTB//73P73iAb9z/B6+/fbbYNdwlkVRzl5iTMN86OHmRKGXGS8RQkAIlEkCIqzL5G23vkrzjxcnJpk4caIev8Pu37frIbI+Cv9vMetuWm6L3eE4eUvhOM4MPn/+fD1DOFlxIhZpVPh/fre7l5OVpQRXJLwCg243K7neggm4+/qjQq0GsHVwxB1K6I7+4QesX7sGX3/9NR649x5tOccScgiGwcD+CzpKPoTADRHIVo1zN5TwRhMpAc3Jz/I3rESFeVMxaONyjPVww/c1a2FQ+WB45WTAPv/KY7pvtIjiSJeXl4/sjIsnGiyOcjh8jN25iypvesrZ+MWuzlfNs5SdyMvN1ZO/lbJqSXWEQJEREGFdZCglo+IksHXrVhw6dAg9e/bUY6k5ccivv/6qi9y4cSM45kkflJEPzrrZsmVLPWnbmTNnwAlDCsexe5u7uzvYEs+x1pxghN3qygieYq9mUmwUPAPKwWD8/26LxV6oFFBiBLJz87Bp6zYkJieDYy8P7tqOXauWANmZeO2118DJxvg9LDEDpWCrJJCfGFd8dudDT35m2L4R/nP+RJ/VizDWwQFjatTG85WrIEgJbEcLmfyM43BzOYYc8q+kCNxIuemRJxG1/C9Er56JzJRE8L5xDggOhbnaclvMl3NEjBs3Duyqz/TsUs/x7DzHwJVLeJ4Tw/H4SsGUB6+90nmJEwKWQkCEtaXcCbHjmgQ47pAe2Q8//FCvl8gxTRxzxclM+IPMiUTKkkeW3UbZhW3GjBngvo2Njd6a4jh76cmTJ8E/Xvyjxe6r1wQsJ2+KAIW1h3/gTV0jia2XACc3YndQ9pr5/MuvsODzoXi2STBGvf86OMaTswoHBwdbbwXF8pIhYDDfK5hRCde8/TvhpkR2+6Wz8ENmOn6pXgs1PTxh61Dyc4/kq8arkrkJUuqNEMjPz0HC3nUwrliKvPWrkXRwy0XLbdF7z5nTubwZJ2Gc+t8SZex6P3v2bFAY5+Xl6UnoPv/8czCO5Z44cQJcCYFOE45pX/Xfkl0cC184P6aPj4/XYp7XSRAClkrAfL/qlkpA7LIKAoGBgXrZDf54cwmpUaNGgeOaODlJ7969wXFPdmVoYjIutcXAF37TDeQxAxlxIiSKbDY20JtvGmNmSivbWyeQkZqMrPQ0uHr53nomcqXFE0jKSMdjMyfg2TlTLguvJ+fjczsfvLhzx2Xnvl23zOLrJgZaCAF7x5IxJCcXuSePwGneX6i6dgncvP1Lxo5CpRps5HW0EA6L2zWwEcjogBxXd8DNWTXGOOtZ1tkbju8XBoMBbNBnQz/Xsj5y5Ag4mzonj2MPOr6fcaI3TiTHd7h69erpOvKYM6vzHY8OAr6zhIeHg95rU35cNs2Uh77I4j/EwLJMQH7JyvLdt6K6c8kMdv3+4osvdNdLLq3FCX5YBc4USjHJ/bIS+IeJk6zccccdoIB+4IEHYIrjElw1a9YEJ1jhrJ1FOaYM8g/J52Pg7hsgJMoAgaPqXmfm5GBQg+boX6UWfI9H4L6aDdAtoCLsTifBuGk36mQacXfVusCGnWji6lMGqEgVi4qAjbNTUWV1y/nknT2NzncPvOXri+pCG2PJe82Lqi6lMx8jfFp0gUP3/nDq3AceNZtdtNwWhbDRaISnpye4mgFXMuASoHw3Y4/C1NTUAiwODg7YvXu3PuayZxTQfLfjjOymJbt40pTflfLgeQm3SUAuLxYCIqyLBatkaqkE+INuqbaJXdZBICk2Gu5+Iqyt424VjZUcS7hw+kysWLAQmRmZ+Ou3cdi2YSPWL1+JGRP/wAH1krh68VIkJyQUTYGSS5kgYHDzLPF6GvLyEOLuCTsHxxKzhQLK1sGhxMqXgm+MgL2zB3wbd4RXrdYw2tpetNwWBfILL7ygRfWjjz6qZ1nnHC+cbZ3DaN58801wkkfO4P7www+DW5bKuWDeeOMNPXs7540xLdnF5btM+RXOgyKb10koOwSsraYirK3tjom9t0WA3aJvKwO5uEwTyEhJRl5uDpzVi2iZBlHGKr93+w5En4tAueBgLJ+/EB6eXuALnl9gANzc3bF45j+o26RRGaMi1b1dAkZXj9vNomiu37cFAaFViiavW8jFYGMDO8eS997fgulyiRAQAkKABAqCCOsCFLJjLQTS0tLw888/Y+nSpXpyLs7SyxnDrcX+orCTHjR2pYqIiEB0dDQ4pomzEnMyM05axnMzZ84Exytxn+mKotyynkdyXAzcvP3KOoYyV//qdWqj38AHdL2bt2+LVp076H2OO6zVsD5yVWMLRbeOlA8hcIME7IJDbzBl8SbLi45Ex/4DireQa+RuY2sDeycXyD8hIASEgLUTsGxhbe10xf4iJZCbm4vt27frScw4rpoz9B48eFBPkHH27NkiLcvSM+N4JQppCmYy6dKli54tncuQbd68WU8qUqNGDXCZMqa71lIYll5XS7IvJS4W7r4lP9GPJTEpC7YY7ewQGFIBz7/3NnzLBSK0enUM+eA9vPXNl+hxz914Y8QX6P/wIITVrlUWcEgdi4iAbbmKRZTTbWaTl4fyTg5K3DreZka3drmdvSNs7Wxv7WK5ymwEciOPY/ecX7Dv37+Rl5GGo0ePYuzYsVizZo2e7buwIXwv4aRjjONkqnxfS0pKAh0jjGNIT0/HnDlzdOD7HeOuFJgP87vSOYkTApZGQIR1EdwRyaL4CXDphbfeegu2/43r+fvvv9GoUSPUrl0bHJdT/BZYVgmurq7w8fFBnnoh4h+rXbt2gbNwckmylJQU7cnnOY5dYzrLst46rclMS0VWRjqcPbysswJi9S0ROHI+Gu8s/eeGwherF99SGaaLuNTMv//+i9GjR+sGwx9++AEHDhzQL6/yYmmiVHq2tpwE0WgZr2F5OzahUu0GJQI3rHFLVa5BBfnfYgnk5GDd4qn48cRRTNmxGgfWzQFn9HZ0vNAYM378eHCoHZfOWr9+vd7newl7zjGewnnt2rX45JNPtHOEve74Hufl5YX27duD7y5//PEH9u7dqwU7z1G4s2ci86E4t1g2YpgQKETAMn7RCxkku8VGwKoz9vDwwLvvvqtfMtl6yRbSc+fOITk52arrdbvG29vb68YGeuy5T1FtMBh0F3B6qkNDQ2+3CLn+PwIp8efh5i1pq5uqAAAQAElEQVRLbP2HQzZFTCAyMhLHjx/XPU/4veUsuxzHvWXLFsTHx0NeLIsYuAVkZ+vigXwbGwuwBMiPj0ObHv1KxJa6He8okXKl0JsgkJuDrNxMnHD0RLSdC3JSEvTFFNZchYRCmbN6r169GmwcZK+6OnXq6N8tCmTO/M3ZwvnbxqW1KLb5/sZr+X7H37ccJd45tI+CnccU2wkJCeAkaLow+RACVkBAhLUV3KSyZeLVa0sv7YABA9CvXz9Mnz4dnD2SM0p26tQJDFe/snSead68OerVq6eX1Ro4cCDYPf7ee+/FI488omfc7NGjBwICAsB0/ANXOimYr1Yp8bFwlfHV5gNexkrii6Sbm5v29FBgc7kavohmZGSA+2UMR9morhLVdtXqWEZd8/Pgp4KDk5NZ7eHs0qH1m5q1TCnsFgg4OKJ+y754zZiFgZ5uqNmki85kx44dYM8a9iD08/MDPdBNmzYFBTeHolFUM46JGcc5YdiIyH2K6pEjR2LixImgKGc3cQp0U1pfX1/s27dPDwFknAQhYA0ERFhbw10SG4uMgJ2dXdHkJbmUKQK5qiU9JU481mXqppu5siEhIbpB7KGHHsLzzz+Pbt26oU+fPhg8eDDYcNaiRQszWyTFmYOAc+tu5ijmhsrI3bkRVRo1u6G0RZXIxd0NHv7liyo7yacYCfjVbIyuD7+ODg8Ng335MPA3iV27hw8fjlatWqFq1ap47bXXwEb9Nm3a4IMPPsA777yD0NBQcOksNvBz6S16rGlm586d8eGHH4LLb91555147rnn9O9dC/Vbx+W4mB/z/vzzz3VZvEaCELB0AkZLN1DsK90EOKnWpo0bYa5w6uRJs5Vlrjpdq5xrndu1c0fpfriKsHap8eeVt9oHBgsZD1mEVZOshIAQKEECDiFhgIVM3JWfnIR2XXur3znzjXdu3vdBGAzmK68Eb3XpKNrBGTCKg6J03EypRXEQMBZHppKnELhRApxYq7lqnZTQAuZmUL9Bwxu9TcWdzuLzT02Mg6uXjK+2+BslBgoBKyNgdHSGXU3L+C025OfDKyMN9k5KPJmBo42tLep26mmGkqQIISAEhIB5CIiwNg9nKUUICAErJpCiPdY+VlwDMV0ICAFLJeDcqguU2xaW8C9n+wbU72Ce7unuPn4IqmohY8wtAb7YIASEgNUTEGFt9bfQOitQv0tvLJ/wowQrZrBm4T9YOfX3K97Dht36WeeDeQWrM1JTAOXJcXByucJZC4wSk4SAELAqAo5VasHApbcswOr89DQ0a9kOBmPxz1be56V3VTnyGmoBt11MEAJCoIgIyC9aEYGUbG6OQKu7H0an/z0nwYoZhNRqgKZ97rviPXQtRctSpSbEwcXL5+YecEl9XQKSQAgIgf8IGIxw6/3AfwcluzGo4t3PR8PRuXhnB3f38UGd9j1UafK/EBACQqD0EBBhXXrupdXWJC8vFyd2bcH+NUuhvYOqJkmx0ThzcI/a+///szMzcHjzGh24z7S8Jnz3VuVQzP//hP/tcSbnI1vWYvfy+TpEhR/978z1N6f27QDD9VP+fwravHfV4ovq8f9nb35v28IZOKLqe60rWafY0yd0/U/v34W0pISLkufl5mDT7CmIiziDnKzMi86ZDkz8aTtFpCnetC1sB5fCWD7hB0QcO2g6Xeq3aRxf7SnCutTf6CtXUGKFgFkIONVsiHw3d7OUdb1CsnZvQdPuxdvrqN8rH8JoY3c9U+S8EBACQsCqCIiwtqrbVTqNTYqJQkLUOaya8iu2LZiO0wd2Y/K7z2Gr2i9cYwpXOwdHrPlzLM4e3odZX72DnJxsdd0vSD4fo5NSJGampVzYV6IyIyUZ66aNR3pSIuydnLRYp2DPVefSkxMRc+o4Ys+E6/SmDx5P/+wNbJg5SQtWCvjjOzYhJT4WOv/0VFCw0x7TNaf27cTUD1+GZ0CQ7tqWFBulRW7E0QNITYzX5TAPin0K3EyVR+FtSvx5JeR3gg0GzJMClnmmKRspYpk2PTkJvJ51YhqGdX+PQ7wSzRkpSZpDthLPFNdnD+1FfOQZJkFYk9bISk3Bnx+8jOS4WM366Lb1BWUd27oeW+b9Dd/gUJ2etrF+vCe04+SebXB0dQfry0aM6PBjZWYiL9af90Y81vrRkA+LJSCGWT0Bow3c+jwI0GWMkv1nyMpCo0bNYLQtnu7gnv4BqNuxZ8lWUkoXAkJACBQDAWMx5ClZCoGbIkAxGlqvMQwGA6o0boUKNeuhWvN2YFfjwhnlZGdh46xJCKhcDQ7Orqq12waVGzSHveP/d1k7e2gfVv/5mxbEFOEhtRvAw78c6nftg3V/j8eBdf9ixcTROLj2X/zx9rNayM/84i0tOFkWhdSmf/5E2/uf0HnER57G5Hee00J64ptP4/yZk6DoTlECdf4PnyA7Ix30Cq+fPkF3iabwZMOAg7MzmH7Xsrm6DIp77m+eO1V5zxdg+6JZF23/HP4itsz9S4n5P2gGKJQjjx3CucP7Mfe7D3Fs+0Ys+vkr7FmxAGv++k2noQBOVw0H3uUrIkk1LLC+Ger45+cfwLaFM7Hk128Qd+40loz9Fsd3bkZ+Xh5iTofjn2+Hg2lNIt7Zwwsnldc/8vhh3XAw5b0hiFbe/Zlfvo3zZ0+qBoJEZGVmYOoHLyl+y8FynVzdtA2l/SMtMR6OLm7g7LWlva5SPyFQ7ASkgGsScG7QGsbQqtdMY66TTlFn4Kj+jhV1ebZ2dvjf57+ov9+2RZ215CcEhIAQKHECIqxL/BaIAfQQT/t0GO545nUEKtGcn5+PxOgI+IVUBj2+M5Twpbc3IDQMnR55Aaf370Tkf12RKXBJ0Om/LnQU5V0ff1GLdMazC7Szuydys7O1WGzW9344uXkgNSkBHn6BaNp7AOyUMDcajUyOs8rTS4G7aMyXoKf29L5dcPcLQP3OvRGgXnjizp0CPbnnjuxHl0eH6GvpJc5QXnKK/dB6TVQ5R5CmvMs+wRXRYdDT2kvepNe98AwsD/47p7ztPkoMM4/AytWVeN6HDgOfgnf5EJ0f01AoewdVQLM+F+xz9/XX5dKLb2rpz0xNBe129fIGu4N7+AeCQpCNEjVbdYSLh7f2Zrt5+8JgY0Sd9t1RUTU0sEwKfYprllW+eh08/MWvStRPBDm7evmgToceMCgmKXHnwXS8D1WbtUXlhs1RrkoN2No78NJSH1IT4uDs6VXq6ykVFAJC4P8JlNQef3O9Bj6HfFu7kjKhoNzsPdvRpt/9BcdFtdP2/kdRoXajospO8hECQkAIWBQBo0VZI8aUSQJTP3hZi88Foz9X4vEs/v19FA5vXotDG1fBv2IY7h72qRa3v7/6mO7+Xb56XS3AI48fwt+fvKZFL8Uf4bF7+LHtG7irA9NQoHJdTgroqR++gtycbLh6eqsy1mDye88jrEkruKhjep63LZihW9PfnLkWFWrVR05ODsJ3bcFfHw+FZ2AQuJZxnopjd+uMtFRdhoOTC6o0aoEp772gvcHeQSFIiY2Gh28AHJS3k8J23siPcUJ5jWu37QZ2LV/623dKxG6Ei/IWx5w+gQU/fYGD61egVuvOOs8k1bBwfMfGAvtYh8zUFIQpj35ApQseDQcXFyWkEzBu6KNYNflnNO/3AFhfCl92Hw+qVhuxyuPMLT3r+9YsVR7v+WD3d3cff+2FTVXCcfywJzH3+w9Brv4Vq4CC/8/hL6GGEufZGWnwUg0CDJvnTFVe8K/hW6GStrEsfLAbv6uMry4Lt7rE6xgREYGxY8di3rx5+Pjjj7F9+3b88MMPOHDggI7ncYkbKQYUOwFbTz+43vMIVOswrvOvWE8b1N/JOjXr6r8TRVWQX0goejz9RlFlJ/kIASEgBCyOgNHiLBKDyhyB53+dhQ+X7MYzP02DZ0B5dHlsCN6YvlpvbezsNA+O/310xDg8/eNU9H3pPZQLq4kXf5+HIePmoFbbrjoNP+587WMlcltyV4eWdw5Cuwee1F7Xhz4ZjadGTcGAd78GveT9X/lAXT8XbQc8rtMabWzR75XhqNSgGeiRffCDkQhR4rrjw8/Cp3wI6I0uX70OXvjtH9z71pe6y7q+UH0wj2HTVuG5n2eg57NvgN7dbk++ot6NDOjz4nt4evRfeOzr30HP8z1vfq7TDRk3F07untqDzno989Pfutu6yk5f/+bMdQX2RZ04CldvH7ToP1DnyTQU9I9/O0Fze3bMdCWAg8H6Nupxp64zt4WPWf8GXfth0Mc/oveQd8D6unh64xHlrX7i24kXcaU9vNZUj9ptu4L1o83MF2XgH8ezpycl6EaXMlBdqWIJE/Dw8EBubi7s1G+ewWBAVlYWnJycsGXLFsTHx+vjEjZRijcTAdfG7WDXoLmZSrt6Mfanj8PRxfnqCW7ozIVEDupZfuqHqUqoX/ibfiFWPoWAEBACpYuAsXRVR2ojBG6MQLM+918kyK92lbfyPldv2RF3D/v8IsF+tfQ3G89u6v2VwGc38mtdy27x97/3LRwtaGyzj48PHBxKb5fwtMR4EdXXeijlXJESiI2NhYuLCzIyMlC1alUkJibC399fHwcFBRVpWZKZhRMwGOE14BkYK1yYULKkrM05uAsd6D2/TQPYQD7ww5G64fw2syq+yyVnISAEhEAREBBhXQQQJQvrI0CBeiMTUjENu3I7/TeGu6hryvxpy/XyZfn0ol8vnTnPu7q6wtbW1pxFmrUsdgN38fQ2a5lSWNklEBISgkGDBqFfv36477770L17d/Tp0weDBw/GwIED0aJFi7ILpwzW3KB+W32eeRfw8Cix2htyclGjShhs7G/dy2xja4O+L72Dmm27l1g9SlPBUhchIAQsm4DRss0T64SAEBACJUOAHmtnD5m4rGToS6lCQAgY7R3h8/LnyHd2LjEY9scPwu0WJ3CkqO495G20vuexgiFMJVYRKdicBKQsIVBmCYiwLrO3vmQrnhsfBQmll0F+ZnrJPmC3WXpOVhYy01LArvq3mZVcLgSEgBC4JQJ5eXnItXOA31vfI9/D85byuN2Lso8eQMf7/nfT2djY2+PuNz5F2wFP3vS1coEQMA8BKUUIFD0BEdZFz1RyvAECmfs3QELpZXADj4BFJ+Gs7+KttuhbJMYJgZsmsHHjRkybNg3p6engso5r165FZGSkzocrQCxatAjr16/X49qnT5+u9zMzM7F48WKdbsmSJeAxL+CY+G3btqFwnpxo7qeffsLRo0eZRJdx/Phx7Ny5U+8zb5aflpamr2P8iRMncOjQIR24ry9UHxTVtNNgMMDG0Rn+b34Hu/pNYe5/htxcVA2qALubWGLRwdkJA9//Fs36PGhuc6U8IVD6CEiNrIqACGurul1irBAQAuYgwG7gLjK+2hyopQwhYDYCjRo1QnZ2Ns6dO4cjR46AQjkpKUmXv2PHDnB///79iIqKQocOHcB9imAK31mzZsHZ2blgwsZ169bB29sbv/86WQAAEABJREFUhfPkdTVr1kRwcLDOMzU1Vc/qfvr0aVAo165dW283bdoELq+2e/duMB+Or+cEddznbPAU1CkpKXqGeHt7e52X0dYO3oOGwKFTb8DGRseZ68N4aDfcAwJvqDhP/wAM+W0u6nXpe0PpJZEQEAKlg4DU4gIB44WNfAqB0kcgKTUdK7bvw/LtexGbmFzsFTSVt2rnfiSmpF21vIysbKzfcwgJKalXTXPpidy8PGw/fAJLt+zGoVPnQG/LpWnkuOgI0GPtIuOriw6o5CQELIDArl27EB4eDgrelStX6tnXOQs7TatcuTLOnj0Leo0pbJcvX67T8RzTnD9/HmFhYTzUHu3k5GQEBATAlCeFc/Xq1XHs2DGsXr1ap+MEjw0bNlQ62EaHw4cPIy4uDs2aNUPXrl3BJdYo3GfOnAmTgGa+RqNRC3hTnM6MHwYjPHs+AI+n3oDBy4cxZgm5J4+h670PX7Mszvzd/oHH8eaM9QioXP2aaeWkEBACQqCECBR7scZiL0EKEAIlROBMzHms3nUARoMBn0+ajbTMTIRHxmiBmpWTo4UtBWtKWgayc3ILzjEuPSsLEefjsfNIOHicnJaOzOwclUeW3ubk5mHboeM4FRVbUDtTeemZWfj6r3lISc/Q6Zk2RZVhSrjraDi+mPwPZq/eoqPSVPqtKi+Wx7SRcQnYcuAoKMCZgCL653+WYuWOfahaoRyi4hORrsQ5hfnBk2fBulB07w8/c0Vb0y+pC/OUcHUCucqjxfHVTm4eV08kZ4SAELAqAvQE03NMo7lM4L333gsnJyfdSDl79mztQXZ0dES5cuW0Zzo+Pp5JdWC6jh07YvLkybobOa/nCS6JZsqTxwcOHEBMTAwoqJmnqZs5zzHtwoULkZubq8uiwGZ5TMvz9FBza/KKm8pg3KXBsXIt+A0bAadudyHf1vbS00V/rGyu5OMLe0eHy/I2GAzwCiyH53+ejj4vDQfHVl+WSCKEgBAQAmWEQNEI6zICS6ppfQTik1OwYe9hBHp7ak/v5CVrsPvoScxeswXf/b0Au9Q+RfCqXfthOjdr9Wb8/e96fD9tgY7bevAYvpwyBxv3Hdbx3P4+fwVORETjp9lLcOJcdAGYw6fPYd767agaHIhjZ6PwlbqOgnj8wpU6DUXyOuWtfrx3J+w5fgoU3D/NWozTSqB/NH4GDpw8o+06GxuPMbOX6mvSlYg+GxOPvq2b4B9l95no80hWQn/Id7/j6NlI/Dp3OZjn+AUrsWTz7stsNdVl4qJV+rzOVD6uSoDeamfxVl+Vj5wQAtZIgN7fu+66C2+99RboWfby8sI999yD+vXro3///qhTpw6eeeYZPP/882DX7KeeegovvvgimO6FF15A69atMXToUC3GDQYDmjdvjlOnTsGUZ9WqVdG3b1+88cYbaNWqlc4zMDAQ1apVQ8+ePbV3+r333tP50/PNMrik2oMPPqiXU6OQZzxF/I3wNdjaw73b3fB66RPY1mkIFLPAzt2zBQFVqhaYZjAY4O7rj4c/G403Z65HhdqNCs7JjhAQAkKgrBIwlqWKS13LHgEvN1cwuDg5gF216dU9rYRpkI8XmtUMw7QVG2BrY4SNwQjTOYrw/HzgjhYNUbtShQLPcWF655Q3m925vVxd4GBvV3CqXpWKePvhO7Wn3MfdFenKSz5v/Ta0rV9Tp4lLStFC/8eZi7XH+9i5KOTl5Ss7NqJJjSrau346OhZ7jp1CxUBffY16f1Ge6FzkKaN6Kpv2njiNLOU9rxjoh06N6ypxno7Ojeuge/MGiFLebn1RoQ91ma5Llyb1rni+UFLZVQS0sHYvmRl4VfHyvxAQAlZAgEKa4rqoTKWobtGixU1n5xAYDJ9HXoXnkA9g17Qt8u3sbzqPG7kgP+IsOvZ/EOzy7VO+Ap749ne8O28z6nbsDaON7Y1kIWmEgBAQAqWegAhry7vFYlEREnBUordPm8bYe/w0HO3tYWM0aqGcnJ6BemEVsf3QCTSsWglBvl4XnbvUhEbVKmlP8lwlknmOHmnmkZaZpUUu4xh2HzuJ4eOmoWr5QAQq8d5A5R2fnIoqQQE8rT3MLetUx+Jv3sbzd/dQnuaDurs4T8YkJMHJwQEujo5Iz8rSDQGMd1J2927VGK+N/kN3MU9NzwTFNs8xBPv74MvJ/2CC8oq3rFMNl9rKNN/+PR/jFqxAi9r/73FgvITLCVBYy/jqy7lIjBAQApZLwCEoFN4DnobP61/Aqf9DMIRUUiJbNfoaisBmGxvkq7+lFQKCMeyvlcpDvQ7VW3ZWf4dsiiBzyUIICAEhUHoIGEtPVaQm5iVg+aXVClUvAQP7obyvN3585XE0rxWGie88j08G3487mjdAsJ+3Frg9WzZE9ZCgi8490rMD2jeoBdP2znbNMOvTVzHj46E6/sGubfDr609h+GP3IrScn4bB8ia/NwQ/vzYYr6ty6Qn3cHFGKyWkXZ0ddZrmtarilQG99P49HVrg0V4dtVe7f9umiI5PVN5vW/zy+mB8OvgB/O+O9jodP9rUq4F/PnsdY159Et+/+Iiy3QcfPTEAzg72GKhsGf/2c9p+1uNSW3n9y/f1wvSPXkGNiuV5KOEqBPJyc5CelAgn8VhfhZBEFxcBzhI9duxYPVP16NGjwcmzfvjhB3DcLuO3b99eXEVLvqWIgJ2XP9zb9ID/kI/h/96P8Bj8Jhw69IBRCe089fci3055l1UDcz5bZxlMdacANxiRr0W0PQyB5WHXpDVcBj4Ln7e+RcBHY+HVvCO8y4eoK5hYbeR/ISAEhIAQuIiACOuLcMhBqSNQwhVqU686KM6vZga90R88PgCdGtfBR0/eDzYCXC3trcbf17mV8lRXu9XLy9R1FNXOHp7KEyMvjmXqxltAZTlDNCe24ljb0NBQPX6X4223bNkCxnHyLQswU0ywIgJGJxc4Vq0Dz94PwU8J7XKf/K4Fst8HP8H3nVFKMH8H7zdGwOfNb+D91nfwfe8H+H/4C/w/Hgu/oV/A+/5n4dqwNWw9fOQ30Yruu5gqBIRAyREQYV1y7Mt0yU5NuqMsBP92/eHZstc168rzFTrfA5/Wfa6Z7lZ5MV+WcavX38p11vpwsxu4s3irrfX2WbXdsbGxcHFxQU5ODo4fP46goCD4+/vrpZ24b9WVE+MthoDB1g5GJ1cllr1g6+ULO99ysPUJgJ2XH2zcPGB0cITRaCNC2mLumBgiBISANREQYW1Nd6sU2WpwcIIEq2NwU/fMGh/XtGTpBm6N96002BwSEoJBgwZh4MCBeubobt26oU+fPhg8eLCOu5WJrUoDF6mDEBACQkAICAFrISDC2lrulNgpBITADRK49WTisb51dnKlEBACQkAICAEhIATKMgER1mX57kvdhYAQKCCQnpwEe0cn2BTzerAFBcqOEBACQkAICAEhIASEQKkhIMK61NxK66xIfn4+/vzgJfw5/EUJpYTB8omjrfJhpLfayc3DKm0vTqMlbyEgBISAEBACQkAICIHrExBhfX1GkqIYCeTn5cJgMOKB4d9LKCUM0pMTi/GJKb6sabdMXFZ8fIs5Z8leCAgBISAEhIAQEAIlSkCEdYnil8ILE0hKXANzhsT4FWYtz5x1M3dZhw5u0bMXF76f1rafnpQAEdbWdteszV6xVwgIASEgBISAECitBERYl9Y7a4X1ysvLQmbmObOF3LxUs5VlznqVTFnZyMnOtsKn7oLJWRnpyMvLg72T84UI+RQCZZmA1F0ICAEhIASEgBC4aQIirG8amVxQ/ATisWTkWuxNv35Jyce34ZcvZuGXdcnXT2yFKc5vWInPVP0Y5h4pVIGsdCRnFTpGPGa8ughbGXX+EMZ/sQhTFh1HxEVpeFLClQhkJCfBwy/wSqckTggIAQslIGYJASEgBISAELAkAiKsLeluiC0XCBzYhhW7d2H8UiWWc5Ox6tdl+OXXlVh/Ph17Zy3CL6tUPFNGb8MHo3PQ7dkeuLuGLXBEiewpa7HkEK9RYnt+DJJVHAXp4TnbcFjt/6Dy+uHXQzjP660g+DRojj6ep5BUvws6OO9XjQjLMPd4DJYM/waPjDiEo9vX4oeRm7BXIcmMTYLW0ekxWJkVgo6JyzBydQ6S923CD7/uR8SOTZhxADg8ZyW2xpPRIszYl66Ol2HKFCXEt3NfcUIE5s6JAKJVef/lbQWobsvEtORE2Nrb31YecrEQsAQCnNU+JyvTEkwRGy4QkE8hIASKgYDBYCiGXCVLIXB7BERY3x4/uboYCOxdvA/oVAVJi/Zj//SJWFGtA6qf2Yfw9Ysw9J847B29EOtZ7rFTiK1XGVkr/sTgodsQEX0MK5NDUGkrr+mDRgcWYe6hY9gWDcTuOoZYdX63b2N0yFqHGYW9v8zLUoOTE3zcbOHgloO57+9F9Zcr4/DoQwio44m67avDNj0HrjEbMX03Lv63dymGTvZDn3bH8MPQrTi7byF+Vlp5w+K1WLnRFnZLJmLk7jjMHaOE9K59yGoRgsPzT13ghCRs23UOU95aiL2RW/HL3PiL8y6FR5y4TGYEL4U3tgxWqV7HO7B/7b+Y/fV7+Ofb4RKEwQ0+A/KsyPfFep6B3197DLU79iyDv/BSZUsnIMLa0u9QWbMv9zgW762Ou7vTU7sPezyCcHjy35hB4VjOD3Xt3VBnYH1UJ5dmLdBh9d/4RXlhHZztGAN7NzdUrVMF4dNnYuJhV4QGuePwhFmYe1ifRsTCpfhloyuqB184tp5PL9SrF4MZn6zEIT8/BHioeq3ahmWzziHF9Qq1qNMDPw/NxtSptqhYxw6+tTugW/NaaHlsEfY2rY+aIUFKsPujVb8q8IYt7O1tdCbuHhEY/4US23BCaFU3uFSqjt5NvfS50vyhhbW7R2muotTNwglER0dj3LhxWLhwIT7++GNs374dP/zwAw4cOICxY8fq4xutwsMjfkdoy86o2KyDBGFQup4BuZ9yP9Uz0GLQ82jS5/4b/UmUdELAbAREWJsNtRR0QwRsKmPo2B5o4uOFPp8+hgFVauHu+0Pg7VMd9Zq0wYhf+mBw3+rwYWY25fDI2OcwYthjmDK6Ocq1vg/jH1QisH4PjB91H0b+cidaNeqBKWr72R/3oZW6xqdDV4xU++2d1IGV/F/uwecwvDVQZ8hzGPnBY/hlWHUE9npIeZQb44kRD+L5YS+q8154cPyFOiK4Dca/Wx1u7RWDh6vgwRGDMfTJxmjl44a7R32MkXe6wb7lnfjl0y4Y3KUcWr37HB4Mro7h6po6Q15U+T+IKe/WQqthg/HZk13QraqVgLpFMymqHZxdYTTa3GIOcpkQuH0CfqrBLDQ0VE+iZzAYkJWVBScnJ2zZsgXx8fH6+EZKcXV1BUODVu3RoHUHCcJAnoESeAbku1e8vz016zfSv3M38psoaYSAOQmIsDYnbSnr5glUrYJu9RvjrZ+7oA5u81/TPhh1pxLet5mNXG4dBHDUsckAABAASURBVHJzc7F8+XKsX78eb7zxBgYPHozx48djypQp2L17N+bNm6crkpaUCGfxVmsW8lFyBPhMrlixQovpqlWrIjExEf7+/noZu6CgoJIzTEoWAkKgtBKQegkBIVDEBERYFzFQya6oCdjCzccJ//VUvr3M7Z3g5nRJFon7MbzvO2jVWoW+f2NV4iXn5dBqCURERGDOnDmIiYnBK6+8ggoVKiA/Px///PMPvvrqK9StW1fXjR5rJzcPvS8fQqCkCNSvXx8fffQROnXqhPvuuw/du3dHnz59dIPQwIED0aJFi5IyTcoVAkJACJQgASlaCFgPAaP1mCqWCoFiIOBRC8P/eBDdKtcDu4u3F31VDJBLJsvg4GB07twZRqMRqampiI2NRe3atXHw4EF4e3vD5AVMT0qAk3isS+YmSalCQAgIASEgBEoDAamDEFAERFgrCPJ/GSegxfV9EFFdep+DPXv2oE6dOrCxsUHbtm1Rrlw5jBw5ElyWKC8vDw5OLqW38lIzISAEhIAQEAJCQAgAEAjFS0CEdfHyldxvgsCGDaewdWua2cKuXbFmK8uc9SqJsmJj427iTpsvKbvSMvTt2xdPPvkkGjdurGda5pjroUOHIiMlWcZXm+92SElCQAgIASEgBISAELgeAas9L8Laam9d6TP8jp6Pwpwh/N+tSB/7lYQiYODvW94iHsifN6/G64tm3HD4cP7fGLVjIyKSZXC9RdxAMUIICAEhIASEgBAQAlZB4HIjRVhfzkRiLJTA1q1b8f333+vJqBISEjB//nxkZmZqa+Pi4nTXXqY5ceIEfvzxR51OnyxjHyHt+yKs98OoPfAlNHnxC9R64AW9TwxVeg5EtTsf526pDRtPn8CNhn0nj2Hr+ZhSy0IqJgSEgBAQAkJACAgBIWAeAhYprM1TdSnF2giEhoaiWrVqmD17tl5CaePGjeCSSqyHh4cHunXrBi5XM2nSJFSsWBG//vorT5WpYOvkgvKtusOvbjM4evsj+cwxeFWtB5+ajeBbqzECm7SHg4d3mWJyrcraZGYg19HhWknknBCwKgLZGelYNOYrCcJAngF5Bkr1M7Bx9mSr+m0WY8sGARHWt36f5UozE4iOjsaSJUv0EjQdOnTQMztzhucRI0YgMjIS06ZNQ1ZWFpKTk/U5o7HsPd4173sWGfExyIiLgcFog3JNOsBoa4f02EhU7HQXslOSkKNevM186yyyONusTOTa2SPfUPaeE4u8IWJUkRA4uGElejz9mgRhIM+APAOl+hnYtmBGkfxmSiZCoCgJyBtlUdK0yLxKh1Hs8v3zzz/ryhw6dEhv+VGjRg28+uqrSExM1MHW1lbP+Dxq1ChUrlyZScpUiNm7WYnqaOTlZCMl4iQostPPRyLp9FHYu3ki4cSBMsXjWpW1yVDeagfxVl+LkZwTAkJACAgBISAEhIAQuDECIqxvjJOkKm4C18nfQQkgjq/+9ttv0b59ezg7O+Pll1/WW15aq1Yt0HM9bNgwHf/nn3/ivvvu46kyFSK3rcKBv0dj12+f4qDabvzyRWz9/g0cmvELNnz2HA7P+g0Hpv5QpphcrbL0WOfYi7C+Gh+JFwJCoOQJcKnAzz77DMeOHbuiMevXrwf/3hU+OXfuXJw9e7Zw1BX32UjNZQcvPZmbm4vJkydftcxL01/tmDZ8/PHH+m9zUlLS1ZJdNT4tLQ0TJ07UgTaZEnI/NTXVdChbISAEhIDFEBBhbTG3QgwxNwEXDy84+Za7qSDpr8zL3PeuKMqzyVIeaxlfXRQoJY8iIMChLuPGjcO///6L0aNHY/ny5XppuAMHDmDs2LHYvn17EZQiWVgTgcOHD+OPP/7Aww8/jODgYKxdu1ZP4MlnZfXq1fo5YW8tPiszZsxATk6Ort7OnTsRHx+v902TeXK4FCf8ZM8vClZO9ElBHhsbi1OnTuGbb74pENLnzp3DokWLQIHOTHiez+Tu3bsxZswYbN68Gbye15w8eRImW3gdJw7dsmULL9M2pKen49FHH9XXHDlyBDNnztQTi/KZZh779+/HTz/9hKlTp4L58/mPiIhAfn6+fv79/Pz08C8O8aINS5cuxZw5czQT2vXXX3+BcdnZ2SAD2sQ8mTf3mYbHVypDGykfQkAICIEiJCDCughhSlbWRcCvaSfc8cu/pTGYvU4cx21Nd9+gPDLGvHzk2tpbk9liaykmQAHBCRqjoqLALQWBk5MTKFIokjh/RCmuvlTtCgQoMKtUqYLy5cvD3t4eFKnh4eHYsWMHFixYoOcSsbGxQcOGDUEBzeekcDZM/+WXX2pRS1HNZ4jilY00nJOEE35y+BSfsfPnz4OTgPL6devWoVKlSqAQPnPmjF5x44477uApnD59Wg+34vXsPUbPtskW2kYR6+vrq9Pyg/OgzJo1CwaDQU88evz4cS3YKaA50SiFeUZGBurUqYMpU6bo5512MI6rfbBuXl5eoHBmwwFFdIUKFdCgQQNdZwpy5rNw4UKwkYDfGTZImOzjeTYqML9Ly6B9EoSAEBACRUlAhHVR0pS8ip0Au73xD/ely22ZupzxjylfMNhqHhMTU+z2WGIBrDdfcPgCxZcNvqBzn7Zy/2pdCnnevKHkSrvQDVxEdcndASn5UgL8jnJVAw5zofgICgqCv78/KAi4f2l6OS79BOrXr49t27bhmWeewYYNG/SqF/TksuaNGzfGpk2btNi2s7MDBTbjGfjM0EPLlTNC/1tNo3bt2roXBNM6Ojrq6+i9pvjm85WXlwf+beW1fBbvuecehIWFaS82z9NTTeHKa9kIZDAYtPc6MDAQJltoA9NSmNMOU+Dfa855QnuaN2+uV+0oV64cunbtCg7zcnV1Rc2aNfUqHxTN/A5QILdo0QIvvvgivv76a92YwL/tBoMBLi4u4N84smB5PXv21HmuWrVKNzjwWoPh/+2jHVcqg/EShIAQEAJFSUCEdVHSlLyKlQDFM7uCsfWZApt/pDnWioWypZ5/bNu2bQu2XpfV5bb4orFs2TL90kFOfJnhODp21eMLFLsMkhWZleXAZbZueHx1WQYldTcbAYqojz76CP3798fzzz+vlw/s06cPBg8ejIEDB4Iiw2zGSEEWQcDT0xO//PKL7irdqlUrfPrpp/juu+/QvXt33HvvveCcI/369cOTTz6p5xah4KXhn3zyCdi43LFjR3Dekbfffls/P5zUk9c3adJEe6EnTJgAjt9u2bKl3rZr1w4UziynXr16Ok96pV955RV88cUX6NSpE959912d5vPPP9dLWj722GMFtlA0s6xBgwbRDO2FZvdsTjBKDzj3+Te6c+fOuut5r169dJ60nz016JFmefpi9cHvArt6Dx06VH8fWF/aQRH+22+/gauDsJ4DBgzQjVCcV4Uefi7LabKP3ehp99XKUMXI/0JACAiBIiMgwrrIUEpGxUmAs4JzPBhfADg+jH98vb29wW5mnLSMLdwBAQH6jzXHnPFcWVxui94NtuDTC2AwGDBv3jzt8eJLDcfn+fj4gK35xXmvrCFveqxzHRytwdQbtlESCgEhIASslQB7Z1A0cyz5rdSBnnN2bef7AP/eXSmP2y3jSnlKnBAQAkKgMAER1oVpyL7FEuD4sscffxwUjYWNNC23xYlNOE6MwpHj0dgyT29t4bRlYZ8t9Xx5MBgMYBdABr6oVK1aVY8/4+zpZYHD9epom5WFHAeZEfx6nIrhvGQpBISAELiMAMd68+/8ZSduMMJgMOhVQpjP1S7hudsp42r5SrwQEAJCwERAhLWJhGwtmoDBYAAnMLnzzjvRu3dvPcaq8HJb7EbJbmLs9sZ4erfZLcyiK1UMxrm7u+uxauw2SjF9991364ltKLgfeOABsJscx9oVQ9FWk6VNThbyjAbkG22sxmYx1NwErLs8jpeVkAdhIAzkGSi9z0C+df9Mi/WllIAI61J6Y6Va1ydQFruKX59K6U9hk5GJXHvpBl7673QZqOFVqsjfNglGCANhIM9A6X0GDFf5/ZNoIVCSBERYlyR9KbtECbAlu0QNkMJLhIBNFoW1dAMvEfhSaJkkIJUWAkJACAgBIVAWCIiwLgt3uZTUcdeuXfj+++/B5aS4fAfX5eSkZqbqcRZsTtbFJTk4UyjTmc6VpS3rHR4eDi6ZIsttXX7nOb46W8ZXXw5GYoRA2SYgtRcCQkAICAEhcFsERFjfFj652JwEODaYM39zrc1Ll9viMh3jx48Hl+CS5baWISIiAkePHgXXCmVDgyy39d+Tmp8P28wM5NrLGtb/EZGNEBACVkVAjBUCQkAICAFLJSDC2lLvjNh1GYHDhw9j5cqVoIju0KEDuKSWabmtWbNmwcPDA5zxkzOE8xzHVl2WSSmPMC23lZ2djXwlIk+ePKm3XH5EltsCbLOzkGPvABiMkH9CQAgIASFQTAQkWyEgBIRAGSQgb5dl8KZba5X37dt3memm5bZ69eoFim0up8H1LMv6clsExW7yKSkpyMrKAmcIj42NRVlfbssmMxO50g2cj4cEISAEhECZJyAAhIAQEAJFSUCEdVHSlLyKlcC9996LMWPGoHPnznq9Si6r5ezsrMvktmbNmnjrrbfwyiuvoKwvt9WuXTs8+OCDGDhwILp16wZZbks/JrDR3cCVx/rCoXwKAYshkJ6ejnHjxmHdunX4+OOPsX37dvzwww84cOAAxo4dq48txlgxRAgIAXMSkLKEgBCwEgIirK3kRomZRU+AYrzoc5UcLYFAJS9fXClU9vBCcLngy85Zgs1iQ9km4OTkBPa24VAXg8Gge5owbsuWLYiPj9fHZZuQ1F4ICAHLJiDWCQEhIMJanoEySyAtLa3M1r20V7xzlRr4X50mCItKwsAa9TG4aRtUj01FdVtP2Gzei4drN0bzfEeUPxGJAFe30o5D6mdFBNjgx6EbiYmJ8Pf3R0ZGBoKCgqyoBmKqEBACQuDKBPLzcpGREIuM+Bjk5WQD+fnISkkE43PSU5GZFKfjeI5pcrMyrpzR7cTKtUKgGAmIsC5GuJJ10RJYtWoV3n33XXBW8EuX28rNzcXixYsxceJEPRu2LLcVXuaX2zpy4ABWLV6CTCVMDu3Ziyk//4rw8JOYPOZXHNi9G0tm/4MDu3YX7UMquQmB2yDQs2dPNG3aFPfddx+6d++OPn36YPDgwXpIR4sWLW4jZ8u+9I+3n4UEYSDPQOl+BvatXorUqLPY+MUQHJz2E5LPhWP9Z89h+av3aLF9dN4fWDakL5JOH0XElhVY+ERHRG1fY9k/XsVonWRtnQSM1mm2WF0WCZw+fRrNmzcHZ7i+dLmtrVu34tChQ+CLKcdXV6xYEb/++muZw8SZwJctk+W2eOPrNm6ECqGhSE1OwcK/p6Nrs4ZwykxBq84dMV8du7i5wdPbm0klCAEhUIIEUhPisGvZXAnCQJ6BUvwM8CcmW3mnczPT4eDpCxf/8mj49Ptw8gngKR3cgishauebhnt8AAAQAElEQVQ6xO7fCtfyoTpOPiyagBh3CQER1pcAkUPLJdCwYUPs2rUL8+fPB2cA55JapuW2YmJiwPDhhx/i/PnzeikuWW4rH+ZabsvdwwNGGxuLfHicXJzxwgtPw8fZAY55uQgNC0NGegZqNahvkfaKUULAkgnw93Xq1KlYsmQJ1qxZgw0bNlxkLofYcLm/KVOmIDo6Wo8NZ28irlBwUcJLDlw8vSFBGJTVZ8BdPf+eXl5w8/LW3wMPtWVwVfEXtl4F8e4qHeOtjRW/8h6VaqDdRxORFnUG0UpAM65wCGzcHpFbV4IC3DUotPAp2RcCt0HAfJcazVeUlCQEbo/Atm3bQK+1l/qjYsrJtNxW5cqVERkZCU72U758echyW4A5l9vy8/OHgwUsY+VkZ4cnmrRGg3LB8HR0xmvvvI2qoZXhW7EKHn3yMfzv2acw9M038OP4cbjzrrv0+e5Va5kep1vessybDUFuHrdcHi90tbfXdb3Zcnnt7YSbLY/p/V1cb6dIeDg6Wk1dfZxdbquulnwxl+zjzOXsrs7eQ2y44+/x2rVrMXfuXLCh8/3338fKlSsRFRWF5cuXIyIiAhyqwwnYZsyYgTlz5oDjx5lm0qRJSEhIQKeqNXFv554ShEGZfAben7cFj77zKXr27Y/evXvjua/GoFPr5ujcrjUef/tjNK3oh3533Y13Z69Hu8Z10b5xPbyj9j9YvAvWFGq364qUsyew4+cPEH90L64knJ39g2Hv5gm/ui1g6+BkyT+HYpsQuCKB2xLWV8xRIoVAMRF4+OGHcbXltmrVqqW7fn/xxRd47bXXZLktMy+3RVFtYwEe64cbtgRDvcBg1PIvd1EoX6sZKlZtcFEc03SuUhPlbkPkOtra6TJZ7s2G2/mq3GxZpvT+tzFZm4u9g1XV1fs2RK67o1OJ1PV2nonivjYuLg6enp6oUqWKbkhLTk7WPYXCw8PB2cwpnrm0X2hoKBxVY4jBYMC+ffu0yGbDJ5cUoxd70aJF4D692LwuKy8PftGnJJQCBj5R4XCPOApufaNPwiPiOLwjTsC0z3g/VU/GeUYeL/P3PD/iNAwGA9yCQpEeFwWP0BpIj42ES2AInP2CkBB+CC4BFZQgDUf07o06rZ2Ta3F/1Ystf/eK1dDslRHo8v0cuIdUhZN3ANp/Mklva9z7NIJb90Dz175DxU53ounLXyGoRddis0UyFgLFQaAsCOvi4CZ5lgICfEEsBdWQKtwAgdTUVHz22WeYPXs2OA6d3Vn/+usvPePyDVx+3STr1q0DPXUUDyyLedMTZ7qQIuLzzz/X5WdlZelGIJMtpjQ3uy2cZ54SJrt379Yewkvz+ffff7Fz504cPnwYH330ke7ZcWmamz025XmlurLeb7zxBr766itQeHGug9uta+E8We8r1TUpKQmffvopVq9eXaR1JRt6XOltHTlypPa2sm685zxXloKfnx/OnTuHL7/8Ug/LodCmMD569CiOHz8OFxcX7YGm0A4ODgaFMwU2n4MTJ04gJCRE4+LM5xs3bgTvmaurK+yNRkR5l5dQChgcy83FsawM7EmIxlkXD5zIy8WOmJMIt3XADiW496cmIMIjALvizmDP+bN6vyzf+3wlnvk3ya1CFVRo2xvnD25HuWYdUa5xe/1dsXVygaOXL3j+6Nzx2pOrT8iHEBACFknAaJFWlUmjpNLmJsCXdXOXKeWZlwAFNMeCstSHHnoI06ZN08KSwpDdVCkKeO52Q1hYGOrUqYMJEyZowTFr1iztkTPlS3HB8lkmhR8FOCeZo0A0pbnZbeE8mR+72NI7WDgfdtX94IMPQKHD4RG0k706Cqe52X1TnhyWsWvXLlxaVwpfdvW99957taCnbbdb18J5cvmpK9X122+/Rf369VGvXj09FKQo6mpiw7HEe/bswYMPPqi7PFMY/vLLL9oTy9+RS8cZm64rbVt2+2YD0uuvv64nknz77bfRsWNHDB8+HEOHDtXs2WOoa9euekbzxx9/HJ06dcKQIUP0TOft2rXDE088AQp0Dt/hUB4+x1Or18BPygsuoYrVchgdVgX13voSbb77G1UffBYeNeqi7mufwa91J3hWq4vqg1+FV7V6sPcPhH+3XnCpUAkeVeugzqsf6et4bVkN+aphdM+EETix+C/Yu3kiLSYCJ1f+g6SThxDYsI3+GQls1BYU4N5V6+lj+RACQsAyCYiwtsz7YrlWWYBl9IL89NNP2LJlC7Zu3YqxY8eCE+ZYgGkWYQIncaOQojEUPvQUmQTcqVOncOzYMZ4q9YGTJ1FMtmrVCvb29tpL3KZNGwQGBoKzx/PlvqggcBwpPZoDBw4Ey6tatarOeufOnaD3lt1fKbop9NldlvZw8r3bEfYcQ2/K093dHXfccQfs7Oy0F54e1X/++Qf8nlDkUPzRO+jv74/bmdSPotaUJ73VLVu2xKV15cRV7du3xyuvvKLnRCiKulLImvKkd/7Sui5cuBAc/8uxvlySryjqqm/gfx/0uPIeP/fcc3r1AT47Lso7y3K4tN+IESPAsv9LLpvrEGADyN13342+ffvqlHwR2ZeUDAnWyyAlM1Pfy2PzJ+HshiVo+PRw2CuPdWjnu3V8SsRJ8bxqEpd/2Dg4osGT76D9p5PQ8Kn34VmpJpq9MgLtPv4DXmF1wS7RnNSLXaYDlMBu9c4Y0JN9eU4SIwSEQEkT4N+zkrZByhcCN0Xg999/R82aNVGhQgVQPFBUsOvt2bNndXdEZlZWA1u06R2kyKC4ZuMDxRC9pPT60WNKYVcW+DzwwANabLIb8qpVq7BgwQLQ20pvalHWn3w/+eQTnSW9mnrnv48GDRqAXcDJ/syZMzqWQpRjTHfs2KGfYR15Cx/0BJvyLHy5o6OjnmeAooXew4oVK4Jx3FJ08rtTOP3N7Ds4OOi8mdel15nqSh4rVqzQEwly7oOiqCsnwjLlSRtMZbNerCOFNsf2sqGNW9p3u3U1lcEtuzWzUYrltW7dGt99953ukcD4J598EuyNwEYbppVwfQKcZJJdwE0p7e0c0b9ymAQrZtCoXAVkpSRqTyuXStoxZjgit6/RE1WlxZyFaVyweF5NT71shYAQKI0ERFiXxrtayutE7xtnCB89erReyoVjpVNTU0HBze6ZHOtnJQiK3ExyCQoK0mMXDx06BM6QzjG9lSpV0h41Hx8fLXiKvGALzNBgMOjuqoMGDUKXLl10DweKXD4vfKn/+OOPwe3tmk6xxS7mXIKIAo/5cSxzuXLluKtDaGgo+LxOnjwZFKAUiZxFmR5kneAWPgrnyXo0btwYTz/9dEFOBoMBvN+c9O/+++8Hl6Jbv3697opbkOgmdwyGi/M0GAx63HbhulLY/vzzzyjKuhbO80p1ZTVeeOEFLF26FNwWRV2Zpyk0bNgQ9Iqzh0CPHj1Ajvy9oUDkPezfv78pqWxvgcDrXfrhlc79JVgzgy53wt7VA52+moZe49boCagCG7dDq7dGo+uo+Qhs1E48r7fw3ZBLhIAQsC4CIqyt636JtYpAqBIpe/fuRSUlFm1tbbWgbtSoETimc8CAAeDYPZWsTP5PAcIXfXr1yMTU7ZdeUnqx6UG8eTByhRAQAkJACAgBISAEhIAQEALXIiDC+lp05JxZCZw6dRI3Etq3b4cPPhiOzp074amnBuOLLz5HcHB55Yl1VB467xvKg+WkpaXecFqmt4aQkBAPFxdnVKgQjPT0NNStU0c3NFBws2s0l8mpXbu2We+r2QqTgoSAEBACQkAICAEhIASEQAkREGFdQuCl2MsJeHp4wpyhbZu2Zi3PnHUzleXm7qbXm72ctsSUFAEpVwgIASEgBISAEBACQqD0ERBhXfruqdXWyN3DAxKKloGbm7ueEdtaHgp3/1Aw2Ng5WIvJpdVOqZcQEAJCQAgIASEgBITATRAQYX0TsCRp0RMwGm0Qd/Ykfhx8l4RSwsDO/tZEsV+lBgis1lyHO555CxtnT5YgDK7zDMgz0uWxV4r+h1lyFAJCQAgIASEgBG6agAjrm0YmFxQ1gUGfjMZDn/4koZQwaHPfo7f9iJSvXgct+g+UIAxKxzNQjPfRPzTstr9vkoEQEAJCQAgIASFw+wREWN8+Q8nhdggYDHD3DYCTmwcijx/WgftuPv5IiYsF12XmeVMADDi1b6c+xzSm49TEeJ2PKZ1p6+Lpg6gTRxC+e6sO6SnJV0xnSm/a0oZzh/dfVr7p/NW2JnvOHNgNeyeXGyrrankxfvuiWbha3XieISHqnK7b+bOn4Orte9tlMs/bCc4eXpB/QkAIWB8BsVgIWDOB/LxcZCTEIjslSVcjJz1VHzOe+5lJcVB/1JGXk42M+BjkZmXodPIhBISAECgqAsaiykjyEQK3QyAu4gziVZj7/Uc4tn0j1s+YiEnvPo9oJYoL53v+7EkYjEYs/vUbxEeexqwR7+jT//4+CpnqjygPcnNykJWexl3k5eYgQ4npddPGIz0pEQYbI45sWQuKUYr29ORExJw6jtgz4Tq96WPPioX4+5NXcWrvDh2VkZqC4zs2ISU+Fnnqj3eaEvKHNq4C43UC9UHBP/XDl+EZEATamBgTgdSEOJzevwtZGem6HOZB+2hrTlamttm0TVYNCcyD+avskJmWgshjh5AYHanqegZMl56cBF7POjEN67n6z7Gwd3TG8vE/gI0BhW1jOqY3lVf4HPNLiT+PE7u2gOcZGGfa0o4zB/eoPPepd5F8FlcqA+/97uXzC54B3lM2xPDZMVWYLMhp/5ql+p6bjg+s+1ezM6UrvE1LSsC+1Uuwd9Vi/bwVPpcUG40NM//Q97Rw/PX2aRMD7+PCn74seM6vdh2fveTzMaAttJ/P/ZXK3bZwBo5sXnO1bC6K5zNSOCI7MwOH1bXXYsH0/L7lZmdzt0hCYkwkosKP6rziI8/g7KE9et/0we/10t++Nx3KtvQQkJoIgSsSSIs5h9Or52HN8McQtW01Nn4xBHt+/xKHZ4/D0Xl/YNmQvkg6fRQRW1Zg4RMdEbX9xn7zrliYRAoBISAErkBAhPUVoEiU+QkEhIahXFhNuHr5ILhGHTTpeTeCqtaEd/mKFxmTGB2BjTMnoVmfATh/+iR8gkJQoWY92NjaFaQ7uH45di6bq4/tHBwRUrsBPPzLIaxZa8wf+Qmi1cv4zC/fBkX6H28/i20LpmPmF2+BwpYXpSjxfEDl0f3JoVps8XjyO8+Bgnzim0/j7MG9mPX1e4iLOI3Fv3zNS7SAXz99Ajr97zntPT6tPNZ5eXn4+fkHcObgbmyeMxUU97uUXZvnTsWqST/jxM7NBduVf4zBvJEfYcUfo3F442qdZ0p8nPK2H1b5bcHc7z8GRfein7/CnhULsOav33QaikAKpyNb18LBxVUL+sK2rZs+HhSDc779APuUKCx8bvfyBZjwxmBt14G1/xbYQtvYALB8/I84uWcbVkwag8jjh3R5pe2DIvHckf3g/Zo9Sx0c8QAAEABJREFU4l1Vz8Ng48iqKb+oe5pbUN2UuPOwtbPHtkWzcHz7BmyaPQVHt65Xz8Q6HFNbJqTYZmMI9xnYKHNw/QqVT45uJGKPAgrciKMHVFw2arTsqBtceJ2pAYSC2dRgwwYR3gcKf+bH46W/fYedS+fq55Jpzx7ep4U9RSuFJMUz82P6C40uvyJNNR6x1wafPSc3d9Rs1QkGGxv1XG1F3LnToDDms8V0EccO8lKdJ593NgCwXJMdMSeP4c8PXi74rvDcrK/egamHRooS8aaGGW4ZmE9iTJRqMNuAGV++pRsT0v5rmOKW9yBFNfDQBjZ0cUubCtcpVzWQmdhxSyMjjhzAyj9+0g1NS8d+p+qReVHjFRulDEYDmCcbI7hlPtySFbmaAvMz2co681iC+QiMee5+DGtTuZQFqY857+nG2ZPh6OWHnIw0OLh7Iz3xPBw8fRDW+yGkRZ/VD7NbcCVE7VyH2P1b4Vo+VMfJhxAQAkKgKAmIsC5KmpLXLROggKNovPuNz5S49gWFhtHGVu17a2/YzK/e1t6p+l36oG7HO7B/7TJQBLgoIR6hvLount7aa0sDarfrpoU39xnoDXd290TcmVMqPx/U6dAD9ChTLHn4BaJp7wGwc3SCUXnCmX7LvGlKjC4D7aEg4Qu8u18A6nfujYDQqjh9cBfSlDDg9R0fegb8l628zxnKw+zg7IrQek2UeD+CZOWVrN6yg8r/PiWKd6BJr3vhGVgeecqjHh95Fk7KJm4p+ulJ7Pjwc3Dx8FaNBLbMEpzUrUqjlqjTvgds7e3h6R+oPZ9bVUNA3Y49dRo2NPgEVwTL5bjkU/t2XGSbs4eX5mdja4sU5T0vbHfs6RPo9vhLKt9ycFSinLaYbHJ298KxHRtxTonARt37I6BSVV1eafuwtXdA7bbd9PPG5yawcjU07nEX/CuGKeYOF1V36/xp6hlz0g01FH/1OveCi6dXQZqzh/Zh9Z+/FXj3zx7ei0oNmqG6egZc1XNKvmyYocA9tGEVdqsGEj5jx7ZtwLTPhiF895aLGmzWTfsd9MKavLzpyQm6ASAnOwtRx49oEcnGGgr7HYtng17nHYtn4fCmC14YNrpEHj+M5eNHYdm47xGg6rZv9VLsUt75haO/ABtW/vzgJRzeuEr3jKB3e5ny8CZEncX0z95ASlws5v/wCVarRgaTHRTu+arByCRuzxzYhcy0VLS9/3FUadQCJ/fuAIcvMG9uF/z4OVIT4pGtXnaPbl0HO8U7XDXW/PXRUP0dmf3N+9i5ZI5u4Fn956+YMGww2HhA73nhOu1TXv+JqlGL7IxGG82cwx5yc7JxbNt6/fyfO7JPNxIxDRuvyN8/pDL+UY1KbNTglr1ifn/tcWycNQm/DhmINVN/w7xRn6jv1cV1zs5I12XIh/kI8DmXkA2zM8gu+jLz1PfSJi8HUH/rWJ88VYZBNY4x3qDiGBif/186xvP4dgKfVK4mEdr5bu4iMyFWb9mopnfUR2Dj9ojcuhLZKYlwDRJhrZDI/0JACBQxAWMR5yfZCYGbJpCr/tBOfu8FRCjP4eKfR+iX/Hk/fKq7IPNFvVqztrjrtU/08Xj1UrxOeYbrtO+OwCo19Es8X8Tp4TYYDKCXbsr7Q7ToMBkSqbyt3kEV4OYbAHon/xz+Emq06qhf9tmFdfJ7zyOsSSslkrzVC/Y5Vf5BvD17PZ7+aRroObOhGNi1BX99PFQJ4yB4+JXT8clx0aDIYTkOTi5aWExR9fjn2+HwVp50esTLKRttlKfTzdsX80Z+rL3UNZSnMlWJ3Lnff4ik2CgYleilF3Pap69rURxStxGz1N5EepmnfToMDVSDAhsRMlNTENa4VYHQpefNT4mHqk3bKLF1WI+xps0m27wCymPvyoVo3u9BLaBN5zJVI0CiKpviJFkJKA+VrrBNbr6+WmznZGYgPvKcanS4IGa0YaXogzzmfDscbJxo3v9BXbPok0cRXKMuKEwpfNf+/btqkPFG1ydeQkJ0hGrQOQw2aNja2ilxeFTfa17InhNdH38RBoNBi2um4b1hj4I89Yw7ubjpcro89qJ+PoPCasLewUk34lDQR4Uf1fc/RXnH2WDDe7rr3/lIiolk9ipfo7LDF3VVw1DUicPo/Mjz+p4abWx0QxNFY6X6zfRzyAtYfqX6TXD/+9+BdgRWro5zysPtrRp32Guj9T3/g29wKGwdnVQdKqBht36wd3JG5NFD+nvA70qXR4fo74rJDnp8+d0LCL0wYRafGTZKsWcI1D/m71O+Ingty6vdtqsSr2ORm5sLfs8bqDL4zIbWb6oaHZqrK6C87yd0A49XuWB0f+pVbQsbhNh4ZqqTf6VqBewcXd30dZwHIE/lu23hTDTudY9qmNh2UeMVh1DYqvoYDAZ9Lynq1Y2BX8UqaKQaT6q3aK+2d8Ld11/dx2MX1Zl10oXIxw0TYA+DLVu2YMqUKTh37hz++OMPpKam3tD1gQFBaK0aHiXca/0cet+H5m3Ud6thQzSrFoLmd9yFZl17ommoP5p36oFmdaujaeXAC/FNmqBJeS8d37zv/bhWuN45Pmgxezdjx88fIC3mLLwq10J6bCR2//YZ/Ou34mk4+wfD3s0TfnVbwFb99upI+RACQkAIFCEBYxHmJVkJgVsiQG/qW7PW4/2FOzDwox+UYK6OgR+Owqt//guKalOmDdVL+aMjxuHliQtRs3VnfW7o5CV4YexsBFWrrZNRGDz4wUhQSOgI9dHyzkFo98CTCKxcDS/+Pg9P/zgVjIs4dhD9X/kAQ8bNRdsBj6uUAMdHPzD8e/DFPkCJh4c+GQ2K4o4PPwuf8iGgN7q2EgvPjpmuxb63EgP6QvXBPIZNW4Xnfp6Bns++octo1ONOJYgM6PPie3h69F947OvftUDg9hkl3J/8fhKylMevYt3GeP7XWXj4859Bka6yQ3Ml9JjfyxMXoJYqM+rEUSWcffQsyQaDgUm0MKAIq6SEyv3vf4u67XugsG1sQCBXerML200+9775he5+/8Dw71CuSnVtm8kmNh787/Nf8IBi0eruh3RZpfFjxcTR2Dz3L7Ab/9Et6/TSTvSUHt60Wle3x1OvacZT3n8Rf330KiiOy1WtAXr2p370CujZ9w+totOyS/Sx7Rv0fkZKkhKXBzDhzacw5b0h6D54KNKS4uGhGneYID01GRzmwJ4Q7MbPoQ0efoEFDTbJ8bHYtmAGKCL5LPIaDi1gY82hDSvB602NIr4VKqnnwld3K6dn1uTRpYD1KlcBWempSFH5uXh46et81XOdp7xH9FazYYeNJ15KbLMBwMM/UDVA+YMNAfRKJ8REXWQHPbls7OE52lSuak0lSo/ihyfvxKrJv2gBy4au4zs2gvbuXb1YNQb4wNHZBZmqzntVI4+naphid3Y2QDXs3h/J8ee1/SmqgcfZ3RNkx+8h68e5CVinxMizmh17GLBcBgdnZySfjwb5BFWtBX5PTY1XVVTjE4Weo2rwOr1/J+Z894EuIz7ijM4n+XyM+q6XV40WUfAKDIaLp3dBnTPU95H5S7g5AnFxcVizZg26d++OjIwMREVFYdmyZYiPj8eiRYuwatUqpKWl6f3169fj0KFD+PPPP5GSkoIw1VhSPT4aEqybQTV1D3u/+C7uGTEJnYZ8AP6d6fn0q6gSFIDAmo3QWTXUVWrcWv32haJF526oEBoKz9BqOv7et7/C7QSuIuFXtzlavTUaXUfNh3+D1mj38UR0/OpvlG/ZDTXufRrBrXug+WvfoWKnO9H05a8Q1KLrzT3k108tKYSAECjjBIxlvP5S/TJMoFmf+7VgvR4Cep+rKy/z3cM+V97AltdLftPn/ZXQ6fncG1qAX+tivqTc/963WmxdK52cu3EC3Z58BZ+tPgI27FRr3k43WrBBh0MS2D2eOTkrsTfo4x/x+DfjdcOHq6cP2ODCBpR+rwwHhyww3Z2vfVzwfDi5eeiGknf+2agabuaADRtVm7UFy6M4vFc1aviohho2+Lw6ZRk8/MuhdtuuBY0i5ZVQ7D3kHTzx7UR9LfOncGSZDVQDE68vpzzeD6hGEQrr/qqBiA0hXR4bAhs7OybXDQJsdOEwgUEfjwafM17HxqCG3e9EdeWxpV3sAk+72AjDhgTGvfDbP7j3rS9RtUkrFLaD9rLuZMJCKEqHjJuj69p+4GDc8+bnumFpyLi5qNKwuW58YmMY63fX65/qBqaabTqrxrEFOl3NVp1Am1iXAe9+rXtiPKAacyisC9epessOmh3LNAXWiw1B/V5+H0ajUedtarxiI9r9732DysoG3k9yY+OG6R7UaNVRz4fAYSVkVLjO7HlgKkO2N07A29sbjRs3xqRJk7SoDgwMRExMjBbSBoMB4eHhWLhwIQ4fPoz9+/djw4YN4DUuLi66EG+bfEjIh7shB142efBQW1dkwcuYp4MrsvWWjNwM2fBAjsXx0jdSfURuW4W9k75F4xc+wdkNi5F89jhSo88gaudadRYo36objs2fBAd3Lzh6+Og4+TAnASlLCAiB4iIgwrq4yEq+Fk+A3kB6y69nKNNQ1Di5uV8v6S2dp9AyeamvlQHLZ9prpZFzQuB6BDiDfA0lVFveNQg9nn7tesnlvBC4IQIUy9u3b4eNjQ1Onz6NkJAQfZ27uzs2bdqEzMxMmER0gwYN4O/vr73W9GLHhVTCnsYdym5o1BGJTTpjT2YydsaeQnz91ogoXwnH7Wxx0JiH2OoNsP3cYZz08dfndsWexiElvFNa9oAlBYc23YH8PJxY8reefXvLd8MQpLzFzYZ+De+q9eBTo5F+Jjwq1YDR1g4BDdvqY/kQAlckIJFCwAoJiLC2wpsmJgsBISAEbpWAwWDQXZ9dvXxhNNrcajZynRC4iEDt2rXx8ssv4/nnn8d9992Hdu3a4YknnkCvXr3w3nvvYfDgwejRoweGDBmCJk2aoGfPnnqfYnu1ixNGZqSU2XAkKADV738MbT74FW4VKqNSr3sQ1n8Q7NzdUKF9LwR3vAOeFKMONnAJCYZ7xapwq1AJYXc/ZHHBzsMbLd/8Eb3Hr0OHz6bANTAETt4BaPLi5/Cr2xwNnx6OgAZtdDftck07otU7Y+BVte5Fz5IcCAFrIiC2CoHCBERYF6Yh+0JACAgBISAEhIDZCWTk5aGshivBdqtQBRXa9sb5g9uRl50Fd3Vs4+CI8GUz4Fen2ZUukTghIASEwNUISLyZCIiwNhNoKUYICAEhIASEgBC4nECzyjUwrHWnMhvCyl3oNm8ik5uViT0TRuDE4r/0LNawsYHBxhb0+Nq7usMtuIopqWyFgBAQAqWIgPVXRYS19d9DqYEQEAJCQAgIAasl0K16fXSp0bDMBtafN49dptt/Mkl3n27w5Dto/+kkNHzqffhUb6C7UIe074sWw0bp2a2bvvwVL5EgBISAEBAC5iZwjfJEWF8DjpwSAkJACAgBISAEhIAQEAJCQAgIASFwPVCSDCIAABAASURBVAKWJKyvZ6ucFwJC4DYIZJ/YCwnCoLiegby05Nt4OuVSISAEhIAQEAJCQAhYNwER1jd9/+QCIWCdBHLOn0P2uaMShEGxPAPW+a0Qq4WAEBACQkAICAEhUDQERFgXDUfLy0UsEgJCQAgIASEgBISAEBACQkAICAGzEBBhbRbMUsjVCEi8EBACQkAICAEhIASEgBAQAkLA2gmIsLb2Oyj2m4NAqSkjPz8fSalpyM3Ls4g6ZWRl40xMHGjX9QwypU1MScP2wyduuA5xSSlguF7+pvMsZ+vBY+DWFFdc25zcPCSkpN5wXYrLDslXCAgBISAEhIAQEAJC4PYIiLC+PX5ytRCwIALXNiU6PhEPfjAS9733HR79dPRlYjMzOwdT/12Pc7Hx187oFs/uDz+DLi99hDte/RTdXvkYa3cfRGRcAmav2YysnNyCXK9mhynticgYTFq8BkxXcNElO8lp6ZiwcBW43XzgKJZt3XNJiqsfpqRn4Oc5y8Dt1VP9/5lRMxah84sf4sS56P+PvM4eGxL+Wr4e3RWHgeqe3P/+dwhX9brOZXJaCAgBIVDqCGSnJCEjIRb5eRf+DvA4MykOedlZOj4vJxtQjcKM47lSB0AqJASEQKkhIMK61NxKqYgQuDaBxRu2oX5YRSwc8SbGvfks7O1s8d5vf6PXa5/hx5mLQS/td3/Px7CfJiEmPgk/KMFIIf738g1ahL+v0t719td4esSvOHomUm95vHTLbn3+jTFT8MqoiZi5chMoNtOzsvDZH7Nw/FxUgWH1qlTEjE9exedPD8QvSrzGJSUjPikVSWlpYP5PffULFm7cAZMdx85GwZQvy2Ta/Pw8RJyPx9Mq7btj/0JKWga+njoXm/Yf0YH78zfsUHVahHvf/Rajpi+EwWBAVFziRTYfOR2h8p6MwV/+ojmkZWYV2Mk83/r5T53+ZGQsPp4wQwvnzfuP4oeZiwrS0dt87Gyk4hqKbYeP63jyeOijUegz7AvMXbcN5EeO5EkPNROdU/YvVDb+/tazmP/Vm5j6wUuoGOALchv202R1zUYVNqDfG1/izZ+nID45FdNWbNSBdn80fgb2HD8F1p/3g1vazLwlCAFrI3Bw/QpIKJsMspLicWzhFOwYMxzhS6fj+KI/seu3TxCzZxPij+zB0ud74cSSv5EeF40Vrw/Azl8/srbHW+wVAkKgDBEQYV2GbrZUtWwTiFLe4UBvTy0ybW2McHKwx6v398GI5x/WojpECbtWdarjzYfuxPGIKJyJOY/hj92D5dv3Yt2eQyjn44Xn7uqOFrWqYvLStejZoiG+HfI/TF+5UXdnPqk8roO6t0XTWmHYdfQkdh05iSjlJff39LgMPMtysLdDRlaOFo3nYuIRcT4Brz/YF92a1oPJDg9XZ5jyDfT20GmV4wJuzk5anCcrz/S+8NNISElTeWXrwP0uTeqiftVQTHrvBdzbsSVSlRd6zD9LL7I5LjlFNQikYtjAvohUZYdH/L/HmY0OjA8N9MOWg0fh4+GGVTv361AlKLCgPodOnYOPuxvu69RSe+ApgFfs2If3HrkHdauEoLyfN9bsOqA5soHh8Olz+tpEZa+3us5gMODxz37Cwx//gJNRsYhWvKoGB6JmaHnNffzbzyHAyxP/btuj68B6ZOfmag7ZyssfpRoLWJaJg85cPoSAlRFYOflnjH35YQlljMHWBdNh7+6Fanc+Dgc3T+QqD3Xk9jV6mxp5GjAa4RZcGecPbEfM3k1w9guysidbzBUCQqCsETCWtQpLfYVAWSXg6+muu17nK2VKzyk9sS+PHK/HK1OkFebC8cUxCclgmkHd2l4QiLsPYP76beiihG+OEncuTo5wtLNjDz3k5ubB1dkRFMzBSkxSHI6asRDVQ4J0fOG8uX9KicjMrGzYGA08RJgSky/c00N7jpdu2aPjTB+mfI3qJcsUx0YBV1W+g50dCtvOepnSXLrNucTmvLx8MA8PVxe9LZze1sZGxTmBdUxXnuyuTephifLMs8GgXliITkqOK3fsx2olnD/8fToOhJ/Vnn5XR0d8oI4bhIXC3tZGeePTceR0JPq0boJgPx99rYdqMIhJSESeuhdfPDsItCUtI1Ofq1qhnObiYGcHBztbZYcDaIM+qT6YNk957dUuG0fUeUeV7mIOPCdBCAgBIXCrBFSbH+xtDLDhDgBbtbWzMcDw3z6P1S74E8506jQPbzrkpKdi68g3lYCugood+8FoY4Oqff6HxPCDyE5NgnuFKrBxcET4shnwq9PspvOXC4SAEBAC5iRgNGdhUpYQEAIlR6Bn66bYeSQc3V75RHdxTsvIUKIvA+uVN5qik15aFycH3X2bnu28vDzM37Bdj0/OUOKS3bBjEpLwz5ot6NSoDj6dOBODPhqFNvVqwNPNpaBiBoNBx52JjtOeZ9MJG6NRd1++++0R+ERd+/xdPbTnmefpzR2/YCV34e/trgTtBTsSklN13KUfJ85F4cEPvtde9arB5cDwzq9/YfSsxbC1sdGC36BeAb+c/A9S/xOsXZQXu7DN7i5Ol2ZbcEzP8OOf/wR2125WMwzB/j7wUnXklmyYMDE1TY+LvtCd+w10bFQbWw8dV97kFD0Z2aJNO3Wjg7ebKxZs3KG7hZsEcZDy/vdu3RiPfToagz4cpceCOzs6MFsdQsv5623fN74ExXvnxnURWs4PvytG7479SzdkMMG+E6dx77vfFHBgnGUGscqaCGzZsgU//fQTxowZg+PHLwxxKGz/unXrsGHDhsJRl+3fSBrTRS0bNMMDj70kwUIYPPr+d7h78Ivo3v8edGxaHwOGDEPHFo3QoVULFT8EXTq1R5s6lfHwhyPR++770SzEDw8MHY5Hvxp3U6Fht/6IP7YPUTvX4uj8P3Bq1Vx4V6uPXWM/RU5mBmwdnGGwsYVf3eawd3WHW3AV0yMjWyEgBISARRIwWqRVYpQQEAJFTsDfy0OP5V367TsYO+wp1KkcgmkfvYwfX3lcxweo8x89MQB/vPuC9jRTMH435BEMf+xeHD4dgZ4tG+Lx3p2wP/wMmtaogn+/fw/M6+Ee7eCnvOG/vv4UfD3cwH+uTo6oVyUE9L7ymIHea6ZfOOItzPh4KJrVCkOt0GB888LDqKts+fr5hzH5vSFoWbsaTHbQk23K15S2UbVKmPPFMMz78g2dPsDbA7RhzY8f6Hzff/Qe7SX/5fXB+FJ5g5+7qzse6dkB7RvUusjm2pUq6LJ9lc20gfnTTh5zzDPzXzDiTc3CTnmeKcR7NK+vvMkXfjY9laf7p6FPINjPGwaDAW8M6o9uzeohMTUdwwb2g79iwhnPvx3yP82YZfAalmEwGDCgUyttz6Kv39J1Ybdz1ru9stPZwR7fv/gIln33ru7OHuTrhQ4Na2PVD8Mx69NXMerlx+Bob6cYV8Ssz14r4MC8JdwGAblUE6hevTrYsNaqVSucOXMGixYtQmpqqt6uXLkSx44dw6FDh7Bjxw4sX74cs2bN0vvh4eGYMmUKoqKicOLECXh5eWHt2rWYO3cuMlRDHgX7uHHjdNrt27djz5492L9/P2ySExF4eLsEC2DgcmgHwpq0QovHXkXdfg/D2cMLLsZ8VGzdA3XveRKe7m7wCakCFy9/eDnbw8GQo7zKlVFJNY7UbtcVNxvohe4zcSPu+GU5qvQciGp3PoGOX/2NVm+Nhm+dpmj49HCEtO+LFsNGIbh1DzR9+Sv9jMqHEBACQsASCVx4Q7REy8QmISAELIbAfZ1boXH1yjAYDPjymYFauF7LOHdnJwy55w5QIF4rnbWcY3fzO9s2U40BVa9pso+7K956+E7Qs/9or46gEL/mBbdxMtjPBxzTzu7it5GNXGqFBIrbZIPBAA69SE5OxubNm3HkyBEsW7YMtra2aNq0KRITE1GxYkXs3r0b+/btg6enpxbLc+bMQeXKlbU3m9fGxMSAYjsnJ0cLcOZjZ2cHnlu/fj22bt2q84H6l5ZvQGkPKbl5SMnL1/VMzQeS1TG3iYqPKT45Jw9Jubk6TUnwULdC/x+5bRX2TvoWjV/4BA4e3sjPy0WeskufVB/lW3XDsfmT4ODuBUePC0NcVLT8LwSEgBAo0wREWJfp2y+VFwI3RoACuWWdatrry3HH17uqUpD/Rd7q66W39POOyjtMDzs5XMtWg8EAep67Nq2nPd0Gg+FayW/rHD3o9N7bGOVn/LZAysWXEYiPjwcFsKurqz7XoEEDODo6aiHMruE8l5WVhYCAAJ2O+xTaaWlpWLp0qY6Pi4sDBfXRo0d1d3J6rw8cOKBFeqVKlRAXF4f69evDxcUFm+s3wrqed5fKsF7VK+jF4chu2Bj7z+2Hfac74PPYiwjPjEOkXQ68HhyM8JRIJAWXQ8DTw3DOLgsRttl6n9eZO1RQthqQD87EnXT6KLZ8NwzuFasiYutKHJk9DgGN2uhnwqNSDRht7RDQsK0+lg8hIASEgBAA5I1MngIhIASEgBAQAkKggEBISAieeOIJLXxfffVVtG3bFt27d8cbb7yBunXr4umnn9bHPXr0KNjv3LmzPv/uu++iZcuWePvtt9GxY0cMHz4cQ4cOhbu7O+rVq4fQ0FBQbFNcU1iz0HNZGRh34lgJheItd3nUGbhUDEOth15GcMtucPALhHedpmj60pewV55ex6AQuJWvjIzEOKTER8PW0RmOnn5wrlBZX8drzR3s/YPQ8s0f0Xv8OnT4bAr8ajdDp6+m6S7aXlXq6O7ZAQ3aoN3HE1GuaUe0emcMvKrW5a2UIASEgBAo0wSMZbr2UnkhIASEgBAQAkKg2AlUrVoV3bp1wyOPPIImTZpg4MCBsLGxKSg30M4WpTEUVPAaO45evnCrUAVH546HX90WV04psUJACAgBIWDxBERYW/wtEgOFQNEQMNjawejiIUEYFMszUDRPqeRSWgnY29vDw0P9/hiNcHNz02O4TXV9uXN/jHvgmVIZfrxnsKma19wGNmoLLuHnXbXeNdNZ+kmxTwgIASFQlgmIsC7Ld1/qXqYIODboCAnCoLieAaPzhRnhy9SXSipbJARc7B3g6lB6gwkSZ7QOatFVH7LrNLtQuwVVAuMDG7dH+08mIUAJbMbbOrnodPJRLAQkUyEgBIRAsRAQYV0sWCVTISAEhIAQEAJCQAgIASFwqwTkOiEgBKyNgAhra7tjYq8QEAJCQAgIASEgBISAELAEAmKDEBACBQREWBegkB0hIASEgBAQAkJACAgBISAEShsBqY8QMAcBEdbmoCxlCAEhIASEgBAQAkJACAgBISAErk5Azlg5ARHWVn4DS4v5ERERWDZhNBaPGylBGMgzIM+APAPXeQaW/D4KERHnSsufAKmHEBACQkAIWA0BMfRqBERYX42MxJuVwPmTR5GeeB7dHxsiQRjIMyDPgDwD13kGuj36Ao5vWmXW32kpTAgIASEgBISA1RAoAUONJVCmFCkELiOQk5NzWZzEconQAAAQAElEQVRECAEhIASEwNUJyO+mYpOfj8ykOB2g9nPSUwv283KykREfg9ysDJVQ/hcCQkAICAEhULwEbkVYF69FkrsQEAJCQAgIASFQZgjM+PxN3GrITk3GmbULseHT5xCxdSWOzvsDy4b0RdLpo4jYsgILn+iIqO1rygxLqagQEAJCQAiUHIFSLKxLDqqUXHIE0tPTYS1enJiYGHz//ffYunUr0tLSMH/+fCQlJZUIvGvZkpGRgV9++QVLly5Famoqxo4dq202p6GFbeD93bBhAw4dOlRgQr7yVC1evBinTp3CX3/9pW1lXEECM+ywPNpw5swZHDx4ELTRVOyqVavw7rvvYv/+/ZodGfKem86bY1vYhoSEBP28ZWZm6qJzc3NB2ydOnIijR4/ixx9/BJ8JfdLMH5Zky/WqPm3aNH1fP/74Y5w9e1Yn53PA7wm3jOBv0meffYbz58/zUMIVCMScPoENsybddEg6HwU7V3cYbWxhtLOHk2+gzt0tuBKidq5D7P6tcC0fquPkQwgIASEgBIRAcRMwFncBkv91CMjpWyZAETV69Gjs2bMH33zzDSgcnnjiCS38TOLq+PHjWrz+8ccfWoh9+eWX2LZtGyZPnoxx48ZhxowZOHLkCDZu3HjLdtzshRRUa9euhdFoRN++fbUQ3LFjB5YtWwaT0LnZPG83vZOT01VtcXBwQL9+/TSjhQsXwtHRERQUsbGxt1vsDV9f2IbTp09j+fLlBUKGmezdu1ffT95H2kVRS3HLc+YKJhsosGgfBaqpbNrcvHlz+Pj44J9//oG7u7u+76bz5tiabKhUqRLWr1+v7ydFLMtm4w4bKnr27Ik///wTFStWxK+//spTZg/XsoX3t6S+I1cC0b17d5Bhhw4dwAYV/g4tWrQI/fv3188oj/l7w4aMvLy8K2Vh8XG0e9OmTfr7FRERcdP2siGMDWP8PmzZsuWq1xvU7+HNBlNmQS27wq18JcQf3q2jAhu3R+TWlchOSYRrUKiOkw8hIASEgBAQAsVNQIR1cRMuJflbWjXoBRo5ciTuuOMOLfSys7OxevVq1KhRA87Ozpg6dSrofWOadu3agcKVQoHCYfbs2dprSKGza9cuLXBcXV3NUkW+ZNN7VatWLdjb2+uX1d69e6N169YICQkxiw1XKoTeNTY0FLYlMjISI0aMQHh4OGbNmoXExERER0fD29sbFOK85kp5FUdcVlZWgQ0BAQFo2bKlLoYCn/d55syZ4P2Mj4/XXClcKXh0IjN8sKeByQY2mPCZs7W11R5qMqxWrRr4rC1YsACsi6enJwwGgxks+/8iGjZsqG1gzwgKQd7Hc+fO6XvMRip6qD/88EPtWeU51uP/rzbfHr29V7JlyZIl+vvCZ5Hfd/NZdPWS+Jzxu8AUvP/t27fH5s2b0ahRI5QrVw60kz09eN5aAxuCTp48qRvX+DvJhgM2YsbFxenf2d27d4O/qdOnT8fKlSt1AyEbD5mODYhs1GQDA581Dw8P/XsyadIkUGSzESclJQVdatbFI/c/ccNh+B+L8NWGk3j0q3FIOnkYu379WHunHTy8NWZn/2DYu3nCr24L2Do46Tj5EAJCQAgIASFQ3AREWBc3Ycm/WAjQaxoUFIQxY8boLqwUfXl5eVrwUSTwHEU0BQLFdXJyMvz8/LT3mtfa2dnB399fizF6GMPCworFzkszbdy4MR577DHdVZkvo3xhpce8pL1wFFuX2hIYGIhXX31VC1WKbNalTp064IsyPVBubm6MMkugF9pkQ+EC7733XgwcOBDPP/88+NJPMcOXeXpfuV84bXHuu7i4FNhQuBw2oJAhvef0GNMmCu7ff/8dFNuF0xb3Pht1aIOXl1dBUfye0L7atWuDfCkSy5cvj1GjRqFy5coF6cy5w+fuSrZ069YNbPhh7wl+f81p0/XKYmOewWDQv0e0nw0Dc+fO1Y1R9Phe73pLPs/vXoMGDXRvC363DAaDFscc1sB68nmmJ5timg2efNb//fdfHD58WA+J4O9tnz59cOzYMfB3Y968eejVqxcOHDigG+n43clQDWe+pw/iRoLDyUPILeT9d69YDc2GfoOuI+chqEVX1Lj3aQS37oHmr32Hip3uRNOXv9LxlsxYbBMCQkAICIHSQcBYOqohtShrBAwGA1555RV88cUXWtB8+umneP/997UQfOedd/QY0QceeABt2rTR4pnCYdiwYbp769tvvw12CacwpADjyzpf/szFsFKlShgwYAAeeugh7VVn93V2dX755Ze1+DeXHYXLuf/++69qC4XW8OHDtWeTnlh6mT7//HPdU6BwHsW5X9gGiphOnTqBgWXa2Njol/7Bgwfr7uwTJkzATz/9pON43hyhsA1NmzYFGyD4/JnKfvjhh7Xo6tGjBz755BPd3bpVq1am02bZmmzo3Lmz7tXB540sWTgbANijg9+n1157Tdt333338ZTZw7Vs4dAJin+zG3WNAjl2nh5qfifI8KmnntKedf7e8Hfpo48+0r9TbNi7RjYWe6pChQrgd4peZhrJbuFsCOQzz14hFNhsoKGw5m8qe2OY7hF7kdAjzW7yFOG8jo2gHCrBYRH8/eV1Nur3PMrFG9cKkU4eiHT2QKqrB3JSk8AZv5F/YUbw7JQkmiZBCAgBISAEhECJEhBhXaL4pfDiJsAu1hSxL7744mVF0ev1+OOPg57ty05KBCAMhIAQKPMETI1BgwYN0kNv3nvvPbARi8MxXnrpJdxzzz26m/jTTz+tGzKZrkuXLhgyZAjq1q2LJ598Ul/3+uuvg41ObNi8++67tdeaaeix/rtGTUxo0Pjy0LAx6n0wCs5Nm+HE4fXw63knQh56Guu+fgknlvyN9LhorHh9AHb++lGZv08CQAgIASEgBEqegAjrkr8HYkExEqAnmF1fDYbLx7PS48IxfwbD5eeK0STJuogJSHZC4GYJ0EtKDyq7OXNyrZu9XtIXLQEbld2W2FhcGs6npqozQFjvh1C+RVe9zw+34Mo4f2A7YvZugrNfEKMkCAEhIASEgBAocQIirEv8FogBQkAIlAECUkULIsDJ5p599ln89ttvFmRV2TUlKx/oXiHkshDm43dFKO4VqsDGwRHhy2bAr06zK6aRSCEgBISAEBAC5iYgwtrcxKW86xLgBEsnTpyAJYZTJ8Nx7OgRiw0H9+7GwX17LTYc278Xh5R9lhoO7rFsfry3e7ZtKcb7u/e28w4/fBCH9u+z2HDy+HE9iRbHk3McOcf/cuZ7awmcKOy6P6JWluDDngPwdo/7LgvvqLgrVcVgYwu/us1h7+oOt+AqV0oicUJACAgBISAEzE5AhLXZkUuB1yPAicQsNaScPICU43ssNmye/CPGPnaHxYa5X7yB8c/cabFh0osD8NvjvSw6LPv+Pfw+uI/Fhn/HfIZpwx4p3nAb+W/8YyRCQ0P1rOeVKlXS+zy2lsCZ5a/3G1oaz5tm9/aqWhcNnx6OkPZ90WLYKD0DOM+VxjpLnYSAEBACQsC6CBity1yxtqwQ4MyxnIl2ypQp4NJEhevNJVu4lIspnstVbdy4sXASi9x39vCCZ2Aw7BydCuxz8fKFg4sb3Hz8C+KYjqEgoph3AipVRYOufcEtg2m/cLGVGjRDhZr1wa0pnvtMbzourq2DswvqtO+OKo1a6iI8/AJRsW5jvW8616BLH1Ru1AJVm7TW8fwIrlEPDNwv7lCzdScwsBxuGbjPUKFWfc3Xw78cqjVrC24Zzy2PuV/cIbhmPdRXjDz8A3VRofWaKDsu7DOO55imUv2mCAitqtOQbdWmbcCtjijmD39Vrm+FSnD39Uftdt0QVLWWLpHbuh17gqFWm64Iqd1Qx/OD+7yG++YKHJ/N2a1ZHrc85j7XdefvlmnMNmfMPn/+PHiecdznluni4+PB7ui8ToIQEAJCQAgIASFQOgiIsC4d97FU1SIrKwujR49Gw4YNUbNmTf0Cyu7hXEJp+/bt4OyyCxcuxN69ezFt2jTw5ZbXzJo1C+PHj9frp/I8l76h6LYEOBTUAZVrwGD8/6+cjxIRwTXqwzsoBMG1GsK3QmUYbW0RXLMhfIIrmc3sOu17wKd8RfQe8o4SsP+/bzKg5V0P4a7XPkabAY/hvre+RI1WHVGxTiPc8+YXSjD2MyUrtm2ttl3hGxyqy+8xeCge+OB7tH9wsC4vWInnJr3u0fsU/v1f/Qgt7hyoxWD/oR+gWd8B+lxxfoQ1aYUQxaNBt364750RBftdHhuii63drqsSiTXR+4W30PP5N3HHM6/r+M6PPIdeL7yt94v7o7ZiGBRWE72eewv9X/kAd772SUFDxV2vf4rg6nXR/cmh6P7Ua+j78vvanJZ3P4z+Qz9Uz2N9fVycH63ueUSXRUHdU9lYTtnaftDT8C4fUlAsGyvqqwYgMqvSuBXKK5t7PvemFuEFiYp5Z/LkyXr5vnXr1oFrOrdo0QKMY7FHjx4Fl63jOs48ZsMgl/XjigRM3717d0yfPh3R0dG499579bJrTGcBQUwQAkJACAgBISAEioDA/7/lF0FmkoUQKAoC6enpOpuwsDC93i49P1xDlesWr169GuyyScEdHBwMo9EIrqPK8ZHcVqpUCfPmzUNcXJxeZ5kz/+rMSvjD2cMbNnYO8AwIhoOzKxxd3eHq7Y/szAxtWXZGOpyUR9urXAXk5eUhLzdHx5vj49/xoxAVfgRZ6WkovM+y6ZGmcEyMjuQhEmMitde1RqtOSI0/r+OK+2PH4tnYMGsSMtNScPrgHmz6509kZaTpYm3t7TXLas3b6WPaV0F5Z+l1z83JVukuPEv6ZDF9HN26Hot/HoHM1BREHjtUsJ/133O8aMwIzS1T8U2OjdYeWXqqvYMqICUuppisujjbxb98XWDD7G/eR9TxQwUJDAYDzhzaAxvVqGO0sYHBYAAbCSjEk+NiC9IV58766eMRvnurLsJgMCDi6AFtT1BYLZw7sl9/H7IzM3Hu8F4kn49G5YbNwecyLTFBX2Ouj4EDB8K0PF+bNm3ACdBYdnJyshbYFStW5CH4G7Zjxw69Vn1ISAgSEhJQrVo1bNu2DVu2bAF/u3RC+bgJApJUCAgBISAEhIBlEzBatnliXVkk4O7ujvLly4PrndLzbKNe9n19fTFu3Dhw+SxnZ2ccOHBAi2pbJQZMjCiy7ezs4ObmBnYNX758uelUiW/pqU5LOI/05AS4+5VDuaq1QSHDbuEM2UpgG21s4eYToARaklntbd7/QTTtdS9WT/kVhfdpRC/lEXR0cYNHQDm4evkg9ky48qaHIrByNUSfPMokxR78Q8Mw4N1vcHzHJuxbveSi8g5tXIUxzw5AWlKC8sC2QLISqnYOTmAX5qgTRy5KW1wH7Cr94AcjkaIaGjb9MwWm/dV//qqL7PLoC2DX66Vjv1ONJrk4f+Yk2Asg7twZ5GRn6TTF/dH5kee1DcvGfXdZUVvnT1PsWupGnpysLNXI+o6YZQAAEABJREFUchT1OvYEGwIyUpIuS1/cETuXzUXFuk2Qo4R0WmK8Li6oWm2Y7ie5eQUGwy+kin4edYIS/qAn+vjx4zh16hTWr1+vf5v4W8RGQQaax4ZCzh3BtPR0M05CKSQgVRICQkAICIEyS8BYZmsuFbdYAgaDAQ8//DC+/fZbvPTSS2BXyieffBKcxfeZZ57B008/reMY369fP3BmX6Z/88030apVKzCud+/eoPeoQoUKFlHP9KQE7Vl18fRRHmsX0FN5fNs65SVOBb3VNJJpDAYjKLJ5bK7QsFs/LfAadOuL5n3uL9i///1vsXrqb/j1xUGIP3caFI60LSHqHDKUd5b75rCxhRL+9k5OCKnVALXadCkoss19j6LfKx+AXdLLhdUA+eUrb/+5w/tgY2evPJvm8Qa3e+AJePgHgB5oMjPt3/Pm56pB4GvQu5+Xm4tWdz+kbT+2fSOcPTxx5uBufVzcHxw3Xb1lR+X1zdWC3lSem48f2C08uGZ9cFxzthKyfC7PHtyjn1FuTWnNufUMCIKbty+yszIR1rSNahBoCgrpSOXFph05Kj4pNkoJ/1Rwn3ElHQYMGICvv/4aDRo0gI+PDz799FM0atQIH374oe49w4ZCCu3mzZvD09NTT5xW0jZL+WWbgNReCAgBISAEip6AseizlByFQMkS8PPzQ4sWLfDWW2/BUoR13NlwHN++Dse2rsGJHRsQ85+3l/sRR/bh5O7NiD5xSJ1bj8ij+3HWTKKLd4oe3z/eegb/fDMcIx/vC9P+1A9extGt65gE4159DH8Of1GnmfXVO/jro1f0/uJfRujzxfkx57sPMfalhzH98zewf+0ysGs4bVv79+/Khvcx/bNhSvw/hD+VvYxfOflnTBj2JJb+9h3mjfy4OE3TeS/97Xv89MwAsOwJwwYX7E//7A3FaSh+ePJO/Dn8JSz86Uv8/urj2Ll0jkpzHzbP+Usf60yK8ePEri0Y/dTdmPrhy1g05itd0pT3h2DV5F/AbuELfvwM419/ApPeeRaM37pguuI5CBtnT9bxx7at19cU98eSX79WNv2MDTMmKm6vYIa634wL370Ff388FMd3btLnGbdozJeY+90H4P4qdb+L27bC+bOBj8NSGMcGPwb2ouHvDgX13XffjQ8++ACDBg3CjBkzMHLkSDRp0gTvvvsu2OD33XffoVu3brqhkHlIuHECeTnZyIiPQU56KvR+QqzeIj8fmUlxyC6BHhY3br2kvAUCcokQEAJCwKoIGK3KWjFWCNwAAYPBAA8PD9jb299AakkiBISAEBAC1kAgYssKnFjyN9Z/8gxi927G0ud76eP0uGiseH0Adv76kTVUQ2wsdQSkQkJACAiBCwREWF/gIJ8WRMBgMIDdJi0xuPkGgMv7WGoIqFwVXf73nMWGirXrocOgwRYbWg94RLF71qJDWMNmyj7LvceBlaqh9b3/s9gQUq8xONmYtQYu32VBP9dFYsqY5+7HBz0bXTNwKEr5lt0Q0KB1QZluwZVx/sB2xOzdBGe/oIJ42RECQuAKBCRKCAiBYicgwrrYEUsBN0sgPz8f2dnZFhnyc3ORlZ5mscHN0wdJ56MtNrh6+yE5NtpiQzrXF7Zgfry3Tu6eepI2TtRmicHDLwApcbEWG/It+PflRn73bvb31FrSJ5+PwbUC6xG5bRX2TvoWjV/4BHYu7nCvUAU2Do4IXzYDfnWaMYkEISAErJyAmC8ErJmACGtrvnul1Ha++O7atQs//vgjlixZgn/++cfqa2prZw8XL184uXkU1MXZwwsMPEexZDrB5bgYTMfm2HLCKHcliLyDQhBSpxG4byqXttFDzzi/kMqmaHCfcQURxbhDbj7BobC1d0D5GnXhHxqmS3P3DUBI7YaoWKcxKtSqjwDlLdUn1AeXLmNQu8X+P+3y/Y9NubCaYDAVShsrKBu5DahcDU7uF54BbnlsSlfcW/IjR69yweCEZdxnmTzmPQ+sUkP3xqCdjGed/EOrauY8Lu7Act1UwwvLKbzPpenKV68DBp/gSvAuX5FJdOC+6RodYaYPzvQdrxphuKwWi6T3OyEhAfzt4rHpfEpKCpguKyuL0dpTXjidjiylH1xW7KeffsKYMWPAGdOvVU0XV1c06NjjiqF+h+6o26EH8nJzdLfvpNNHseW7YchKToDBxhZ+dZvD3tUdbsFVrlWEnBMCQkAIFCUByUsIXJGACOsrYpHIkiSQlJSEKVOmoE+fPnByctLL13DZrRMnToAvagcPHsTp06cxYcIEMI5bCvGStPl6Zds6OoFLbnkEBMNZeZW9y4fCRYkILq/lpYSCr/K8uPuVg9HGBj4hVeDmG3i9LIvsfI3WndG8/0AtUF08vbXYr9ept86fwq/l3Q/rma0pYJv0vk+LRh9lc+Ne9+prdMJi/KBYbnHnINRo2RHlq9WBm2qgqNqs3UVl+1eqqhoEGqPRHXehSuNWoCjkfuWGzYvRsgtZe/iXQ6t7/oe6HXtqwe8TXFHZ0gi12nYFZwpv2OMuULzW6XAHyLVux176wpqtu6Be5z56v7g/GnTrj4bd74RfxSrgUm8eAUGo2+mCHRT9bFChDdVbdUK9Ln25iyqNWoLX0XYdUYwfnP2bnIKUgC68zyLZqBNUtTZ3EVilOup36aM4V9VM63fuDV6jT5rpIzMzEx9//DHmzJmDw4cPY/bs2fj++++xY8cO3cum8Pnt27fjiSeewKhRo0AR/sYbb+hlBDMyMsxkbckVU716deTl5aFZs2bgb/aqVavA3+mjR49i3bp1+nf9zz//BBsfGgaUR/3M9CuG+9/4Av/74lewsaXlmz+i9/h16PDZFAQ0aouGTw9HSPu+aDFsFIJb90DTl78quQpLyUJACAgBiyMgBpmbgNHcBUp5QuB6BDjx2MCBA/H5559r4Vy7dm29pYDmbLzz58/X3uydO3dqb/aRI0fg7e19vWxL9Hyu8ljRC52Xlwsur8VltfKys5Gbk6OXhsrJzgLPu3j5Qbm9kK/Smcvgg+v+RXT4EV0cvUJc2ojjGRkRdfwwOCs07eNxenIiKLbLVa2JzLQURhV7iDpxGMe3bwRtOLl3G45uW4+crEzFLhtJsVFISYhTQtoesaeOIz0pUYtZemDzcnPBa4rbwMToCBxcvxxZGWmK41HsXbkI2ZkZyFH33Ghrp+9l7KkTsHdyRq7yujm6ummGLqoRIzM1ubjN0/nvXDJbs+LB/tWLkaHuIxny2EbZ6O4XCBfV4HPh2TQo738DUHxnmMm+o1vWIvb0CZqDwvuMsLGzg4OLq7qvFZXXMhcZKclgbwl/5U3PTE9jErOGkydP4ty5cwgPD9eicOPGjVpQM85oNKLweXbtDg4OxqlTp0CRbTAY4Kq8s2Y1uIQKMxgMIA/W3UY1GJJXQkIC/v33X/17zkYJ/m67uLiA//xt8nFpMKjfwdzsTORxNnCZAZyYJAgBISAESh+BUlQjYymqi1SllBBITEzUL18ODg5gF0o79WLNwJewcePGaS82l9GqXLkyGjZsiICAALDboSVXP1t5YxIjz2gTndw8lMiJBPjiqV44KQBzlbCmR9vZ3VOP30YJ/Tt7aC9OKfHq7usPNx8l8i+xg2NnXZXHmEIsOTb6krPFf+juG4Dm/R5EzMljoK0sMUAJLDYEUHBRCNrY2usu4UkxijETmDHQU07vPxsdDm9ahVgl9mlnULVayFH3ODs9Hanx50GveqpqEKDQNqN5uqgarTrDJzgUB9Yu08c7Fs3EzsWzEBhWAw7OLurZjEL5GvVA4Z2tGgh0ohL8OLl7K9b+9RsosL0Cy4PcnFWjhJuPvx7HbW7T8pQXtly5cujXrx/WrFkDW1tbDBgwAGzg429X4fMbNmyAj48PKlWqBHpnmzZtam5zS6w8doHn7zaXItu0aRPoyQ8NDcWZM2dADv7+/jh06BA4GVtKYDkcqtemICTWb4vjru44cm4fYvZsQuKJgzIDeIndSSlYCAgBISAESOBGggjrG6EkacxKgB7rl19+Gd9++63uRvnAAw/gySefxJAhQ/DFF1/g2WefxXPPPYcXXngB7du319u77rrLrDbebGEe/kHwDq4Eo40N7J1dwTHNRhsbJRbskZORDv7LSk8FDEZQZKOE/unu3XUagyKQ3a39lWgtbEqu8hylJcUjJ/OCx7jwOXPsV27UUjPzLh+CJr3uA210U40AyecviHyOcU1QDRhGGxvt2TSHTYXLqNa8vR5H76K8v2RZu313sLGEIS0xHnn5uYhWjQL2Ti6IjzhT+FKz7HPyOHanpvijwGZXb4aabbooz3qe8rqnIyHyLNhAEK+2ZjHqGoXUbt8DNVt30d3YOR9Blvqu8Bk0edy5f43Li+VUxYoVdYMfu39TMLNHzTfffAN27544cSLi4uIKzgcFBWkbWrRogfz8fNSsWVMfl4WPkJAQ/fvdrVs3vPfee/jf//6HnTt36q7h7Cbes2dP/ZtOj/UyLy98m5epwxhDNqo99DRaDv8Jwa26w8bFVeNykxnANQf5EAJCQAgIAcslYCx508QCIVD6CSRGn0P0iUOIPLIPsSePKI/rUcSEH0HE4T2IO3dSn0tQgjDq2H4luE7h/JkL3WLNRWbH4tm6C/O2+dOwYcYErJ82HtsXzkC0spEew40z/9DnmW77wpnYPOdPcH/vykVmMZFdwDfNngx2aV495Wdsnfc3ts7/G0c2r8bmf6YgfNcWmNIc3LAC6/4eh32rF2PX0jlmsS86/CjW/TUO+9cswco/RmubyHLfqsXYs2IBVk/5RfNkmtP7dmDlxB9xYucmfY1ZDFSFkNN+xYT2bZ07Vd0/5aleMlszJdv1037HplmTcHLPVqyd+itO7NiIDdPHI0Y1BKjLi/3/fasW4ZC6dyzItM/tgXXLlK2z1DP5O7bO+wuMI1M+C9w3XcPrzBE478Onn36K33//XXuq2fA3duxYPXSFDYKtWrWC6fxjjz2mRSWFNSdj5HhjNg4yD3PYakll0HvNoTy9e/e+olmJOblguOJJFSkzgCsI8r8QEAJCQAhYNAER1jd6eySd2QhwXJ69vT0sMTgo74mLpzcsNfAmcXZnSw3s9h5QqSosNfhWrKwnyKJX11KD0WiDgMrVLTawG7xfaBgsNbALuaurqx7rbI1bW1tbfs2tLhiNRri5ucFgMFxme+2gULzYtJUOA+o1u+w8Iww2tjIDOEFIEAJCQAgIAYslYLRYy8SwWyJQGi5iN1WOrbbEgPw85GZnWmxwdHFBUkyExQZn9WKdEHkWlhpSoqMUu0iLDvZOTso+y73H7uyaHxuFZAsNORlpFtlodzMNiaXhd75wHe6s3xz96rf8L7QoONX05a8Q1KIrvKrWlRnAC6jIjhAQAkJACFgqARHWlnpnSrdd16xdTEwMRo4ciREjRoAzgBdOzHGM7FLJiXEKxxfe37Ztm54tvHBcSe9zYjJHN09wfLXJFhK9+CMAABAASURBVDtHZzi5eYFbBxc3U7Q+ZlxBhBl23H0D4OZ9YbKywvumojmmmePCuS0cZ7rGFFdcW0dXd5iWhCq8z/I4yVr56nXBZZm4nBTjGDwDyoOB+8UdbO3tC+wrvM9yPQOCEFStNmi3b0hlvWW86Zj75ghcNotlunr7olzVWuCW5TKOx5wHwCuoQkG8rZ29Zsot0xV3cFXPn4unDxzVd4E9LjhBnqlMxnmq+8nznLXeFM99xpmOzbHlWGn+/vB3ir9Hpv3z588jNzdXm8AJuRifk5MDxnPiLp7gUoKMZx48liAEhIAQEAJCQAiUHgLG0lMVqUlpIcDZv1u2bKlfUsPCwvR61dHR0Xqm8BUrVoD7U6dOBdeNnTRpkp5tNzY2FpMnT9Zp+FLLtVHnzp2LGTNmgC+y06ZN02MiZ86cqdfA5pIvqamp10FWdKcdXT1ha+egRIs/nNy9tKB29QkEDAZwIiuPgApw9vQFBbhHQLDa94G5/oU1aYOG3e9CUPU6KLxvKr9i3Sao06EnKjVojnqd+8I/NAwUNPU69dHXmNIV15ZiuXGv+xDWtA0K77M8isVa7brD1t4BnoHllX19EFq/mT6u17k3KtZrzGTFGtgQ0ajnvajRujMK75sKZbdtd99A1GzTVU/EVaNVJ32K9WGcPijmDzKqre6hX0gVcII1itQarTrrUut0uAMefuV0fPUWHVGrbXcdH6Lue612PfSyWzqiGD94z+oq+yioqzRurTgGomrTtqC49ilfEXU79Vb3tSl4vmbbrlrwe/iX00wZV4ymXZY1xfGwYcPw9ddf4+DBg/o3hmOqOaFicnKyXkqK+zzPcdj33XcfvvzySz379fPPP48XX3wR6enpl+UrEUJACAgBISAEhIB1EzBat/lifWkkYGNjA3d3d9jZ2WlRvXPnTr09duwY2rRpA3vlHaxVqxa4hAu9Rjym0OZ6sSdOnEBUVJRe0oUvwBzXx4mFuLRLQkIC6CmaPn06mI7LwJiLX3pSHFITYsB1rPPz8mDn5AyjjY0S2Z4w2toiNycL9o7O6thb28g0N2zbbSY8unUtYv+bLK3wPrOlR9q3QqWCGbYzUpLgq8SZf6WqyEo3T8MEJ886uXuLnqm88D7t86sYBlvVYEGPq7NqsEhX9nkqgc3lovLyctU12UxWrCEpNgrHtq7XM2oX3jcVysm1MlKTwNneM1KT4eDiqhhW1rOFczyyKV1xbjlpWcr5GDh7eKrGGxscWLtUP2dcdgswIDEmQsUbYTAYwH/0sLORICvNPPc4fNdmxJ07xaJh5+iI2NPH1fOVBhcPb5w/exJnDuxS/C7cy8zUFHgrse1bobJinqavMecHh6jwt8TLywvly5fXM183btwYnJTL09NTe6i55czXe/fuBWcR5+/N5s2bNV83NzdzmitlCQEhIASEgBAQAmYiYDRTOVKMELhpAhTFpvWq6cGmd4ieZsbbKdHNLQMn86GonjNnDii+XVxc9CQ57BLOdWRDQ0Mxa9Ys8CW3SpUqOHXqFOrVq6dfcm/aqFu8wNbeEZ7lQpGVlqJEaqIuO1sJ0+yMdNg5OCMvJwf0Vju4uCEnKwOW8q9G6y7a++vk6g561tMS45TY8QIFd0p87E2ZWRyJySwlIRbnDu1V3s0AZCrhamNrB/+KVWBagqs4yr2ZPMOU59WrXAgOb1qlxWxaYjwqKm9wWlIiOJnbzeRVVGlt7eyRz4aHrCycObgLPuVDlS05KuSC9zWwSk3kZGchuwSfRTaC5eXmXFbltKQEOLt5wtXLRzVWxV12vrgj2KPmt99+g5+fH2bPno3ExERs3LgRHTp00EU3bNgQAwcO1MtveXh46HTseUPvNX/HdCL5EAJCQAgIASEgBEodARHWpe6Wlo4K0dvz0ksv4ZlnntHrVNNTzbVi+/fvjzfffBNc0mbw4MG6W2W/fv3AeHa9/Oyzz3DHHXeAa10zPbtgcokbLvPCdVXzlLeYL8b0eJuTlLOnL9gIYOfoAs/AECWibWDr4KjFal5eDvLVfxTZBoMBeTkXPHMo4X+12/fAiZ0bsWn2JFDM0EOdqxoA0pOTlODKVF72y0WPOU3mmtbay+/qobukZ2dmgGIsMVp5X21skKE8m7dgT5FdQq95/a794B9aFfnquatYr4nO+/yZcNg7OiEx+pw+NudHWmKCbtRpeMfdamuD8jXqwtM/SHvRc9Vzl6k81ImKH7vWJykvtjltM5WVo8R+aP2mqsHJEd5BITqYznGbp55Bev6ZjvuMM2dISEjQXbvZWFe7dm0cOXIE7P1Srlw5cCktNv79888/WLp0KXr06KFNa9u2Lfhs1q1bVx/LhxAQAkJACAgBIVD6CBhLX5WkRkLgYgL0Zrdv3x5vv/02atasCY6P5DI7F6cq3qOk6DM4f/ooEiNPIYEh4iTizhzXcQnnToIhJS5KxyXHRiIp+mzxGnRJ7vuusoZw7OkTOuWWuVy3epZeQ3jvygXYtfQfvc9uzjpBMX+wK/D2BdN1Kab949s3YM/yedg4c6IOXIOZaY5uWYPNsyfj0Prl2Ldyob6muD+47vjWuVN1Mab9swd3a07rp43DziWztD1Mc+7wPnCtcK5nzWN90U1/3PwFtOH0/h3YOu8vbJnzJ7Yt+BvsIn5w/b/YNv9v7Fg0U9tJuzf/Mxmn9m7X8WwIuPnSbv6KQxtX4Ni2deDztX3hDOxYPBMH1i3TXcQjju7HnhXz9Xmmo837Vi8C93nNzZd261f4+Pjgo48+AudwYANfkyZNtNDmEBb+tnTr1k2f//vvv8HzFNsU1hMnTkTr1q3ByRcpxG/dArlSCAgBISAEhIAQsEQCRks0Smwq2wTo2aF3t6iCnZ0dOB7S3t4e7Cbu6Oiovce3kj9ghI2trcUGO3sHOLl7WGywV+wt2T4nN3c4uSl+Fhw0Q20nbbW8YO/gCA4d0MFV2Wdhwd7BSXuP+TtjraE0/4XIz8tFRkIsctJTde8d7uflZEPdNGQmxSE7Jak0V1/qJgSEgBAQAlZMQIS1Fd+80mq6wWBAXl6eRQZXT09wkixLDZUbNEOjrn0sNtRs3QmNuvW12FC/W2807GrZoUaLDqjf8Q6LDZUbtUDttp0tNgTXqqdXCuBqAaZgTdv0Ujij+Kl9O8CQHBeLw7PHYc/vX2LjF0MQvWMdlj7fCyeW/I30uGiseH0Adv76UWn90yf1EgJCQAgIASsnIMLaym9gaTU/MTFRzwTO8Yo3U0euI8vltpYtW4bIyMibubTY0yYnp4ChcEFcB5dr3dJmU3xmVhYYTMfm2tJ7l5GRWVBcenoG4uITcIFput7ypOmY++YOGRkZBXawbNrCuAxld85/awizHmlp6crBlc8kZg3ZOTkw2UHbyI8cGUcbTcZwn3GmY3NtaVOGYsjyyCkhMQnJKSmaKZkxniFLPYMM3DdnoE0m+1gubSBD2k37uGU8tzzmfkkGilyKctpDO/hdjouLA+3muYSEBP0cFo5nulsMpfayBaO/wMjH+iI3MwNxh3YirPdDcAmsoDzU8XALrozzB7YjZu8mOPsFlVoGUjEhIASEgBCwfgIirK3/Hpa6GvCldPTo0eDsuhy/yLGMM2bM0MtoTZgwAStWrMCkSZPw559/YuHChVi/fj12796tjxcsWICXX34ZfLnlyyyFOa/ndbt27SoxVifCT2LL9h1YtOxfnDx1WttxTgn/ESN/RGRUNN758DOci4jQL+EjR/+MLVu36zTm+qAgnDp9NiZM+augyNS0NJw6cwar123Aj7+Ow6q1G/S5Ldt3YuTPY/W+OT82b9uBr38YA4pBU7mr123EPwsWY/b8hfhz2iwdfeLkKXz2zUhkKLGtI8z0cVzd4y+/+wFHjh3XJWZlZWvBStt27NqLj7/6FimpqcjMzMTn344sSKcTm+GDQvTXCZOxYOlyXVpuXp62ZZW6v/sOHMLwz0fgXGSUfgZ/+GUctuww7/flwjM466Jn8OjxE/p78e/KNf89g+u17fwujRzzq94vqY8tW7Zg+PDhekbwNPVdobjmetacMZxjradMmYIHH3wQJ0+eBFcn4HJcXCKwpOw1X7m3XpLBaIDR1g6cDT5fPZ9Q/9wrVIGNgyPCl82AX51mKkb+FwJCQAgIASFgmQREWFvmfSnTVtHTQwBcoubAgQNISkoCx0NTJHMGXhsbG8TExGivEMdNL1q0SE8IxCVvMpQ3jjN+RyiRymMuvxUUFKRn7uVs4My3JML5uHgEBvijds0aiIk9j5ycXGzfuRtVKlXS5tSoFoaDh48iIioKHAPOoE+Y6cPO1hb9e98BP1+fghLpPTwRfgrB5YNQMaSCEl2RSFOe4HDVMBASXL4gnbl2mjVuiCYNGxQUdzZC2ZOeDk8PD3h5eiJf/RcXH4+jx8MRUsH89lUOrYgeXToV2MdnM1yJfFdXFzg5OaJaWGUlpk/guIoj04KEZtpxdnbCvf37wMXZWZdoq75HsefjdAOEp6eHsq8KDh05hsjo6AvPoIODTmeujwvPYE/1DPoWFFmrRnVwfgRnZXvFCsFKZKt7rp/BMyiJZ7DAMLWzfPly8B4fP34cBoMB/F2qVq0azqjGKG7t7OxQuXJlUIDv3LlT78PM/7KysjBz5kyMHTsW1+rBw99NNlbyt5bfe9rM60y/xTSb13PJsHXr1qnfrxxGFVloWr8pHnj8JRjtHOBXt7nu7p2ZeB4uAcEw2NjqOHtXd7gFVymyMiE5CQEhIASEgBAoYgIirIsYqGR3+wTc3d1Rvnx5PYv3tm3bwECPD5ezCQgIwL59+7TQ9lRiysnJSb/cUjw3atQIVapU0S+2acqD5Ovri4MHD2LPnj3gdXxZvH3rbi8HNhA4ONhj9rz5SExMUiLwOCgGyyvxSg/x5i3b0LBe3dsrpIiupshu3LA+Dh45CoqwKpVCsWzlalDgOJpZdF1aJXav/nvmP+CL/zHl1czJyUZN1TixZv0muLg4w8fb+9JLzH5sY2NEowb19KRL8fEJCKtcCRTa9MLWql7N7PZcqcBaNaopIeuDs6ohqny5QKSlp2HLtp2oX7f2lZKbPY7e/737D6BlsyawVY0/VRTDZStWXXgGHR3Nbk/hAilA+/TpA/7WUEynpKRgx44d2ksdpRrI2DOBs4CvWbNGfdcTUbFixcKXm2WfQvncuXOgnbR36tSpYGNjeHg46FGnnTzPGcvZbd3FxUX3Yti+fTvOnj2LJUuWgPs0ltdxXW7W8aTywrNBk72F1q5dC+Yxb948HD58GCzj9OnT4HJkrDt/d8eNG6fTmPaZN69jHjk5OXBISYJDajLcvH1RuccD6Pz1TLR880f41mmKhk8PR0j7vmgxbBSCW/dA05e/ojllJkhFhYAQEAJCwHoIiLC2nntVZiw1GAx4+OGH8e233+K5557DN998o5ez6dixI1544QU888wzePHFF9GvXz+9nM0777yD999/H/+LpK/0AAAQAElEQVT73/9Acf3VV1/hzTffRIcOHfS1jzzyiL7urrvuKjGGvj7e2Lh5K1avXY+8/Hw0bdQQAwfcg5pKYHl7ecFoMKKW8s5xbLW3t1eJ2cmCz8fFYe+BQ1ipbN2xaw88VEMH46tXDUN0bCwqK88sj0sqcGK7vQcOYsjTT6Jjuzag2LK1tUNoSAiSklOUfSElZVpBudt27sbho8fw76o1YNd19kBwUI0R5YMC4arEC/cLEpfAzqnTZ7Brzz4sVSL17LkIuCgvttFoRM1qVfX4fm8vzxKw6v+L5DO4a+9+LF2+SjfqHDx8RJ+88AyeV/fY/CJVG1Dog6L5l19+AT3WFJLjx4/XDYLTpk0Dn1EbGxuwMZANgBzSUhL3nML5/Pnz2Lp1q/Zc05POoTRz5szRHnQKYw6V4Xrc5VVjJm3m/BT+/v6gxz1Wfd9D1PeK1aaYpnBml3c2bnJ///79OHHihBbRfMa5fnd0dDTY04him0Kdgpx57VRe+yNHjuh8KdbZo4jHbJhg/gz5MiM4MVhjEJuFgBAQAkJAERBhrSDI/0KguAmEVgzBYw8PxODH/of6dWqjYkgFXeQ9/fvqrtZ3dOsMeoQH3H2nFthNGv1/l2ed0AwfTk6OuKtvL+3trVOzOjq0aYV+vXqgXasWOp5i6wlVhwB/P31sBpMuK6J75w7aw9pU8bGxMSpbvcA4BnrYH7r/HpQLCMBdfXrq7teXZVDMEY2Vh5rilNtqYVXQrVMHPHT/vaohpT4Y16xxI3Rs21rvMx3M/M9HNdqQVUiFYNArTfsevPcu1KtdS3OsrBpN7u3fRwts2mtm8/Q9Mz2D9evUwrNPPorOHdrpIRSM18/g/waiJJ9BExOuTc0u1j/99BO6du2K559/HkOGDMGIESPw4Ycf4rHHHtONe9zv0aMH3nvvPfAa0/Xm2NKT3qVLF20fPdack4Jin2J26dKlCAoKAoU3PceMp03sFk4xnJCQAAprepTZpZzDa2xUY4Gtra3uJcS0zZs3B3sYMb8GDRroLvHBwcG6d0HlypV193j2GmJ+TEfBTTHNtcB5Pa9hvH2HrqjY806ZEZxQJBQjAclaCAgBIVC8BERYFy9fyV0ICAEhIASEQIkQ6N69O+hZ51hwCv+3334bvXr1whtvvIF3330XFMZvvfUWPvroI7Ro0ULbeM899+DVV1/VaTgJW2BgoBbSQ4cOxWuvvaZ7EbGhgI0IdevW1T2HGM+hN7yOPYM6deqEO+64A/Xr18fw4cN14Fj5evXqoVKlSrpcpjU1NOzMyYF9hSoyI7i+A/JR5gkIACEgBKyWgAhrq711pddwelboGbHEYDAYYbSxtdjAp8LWwRGWGoxGG9g5OltssHe0XHame2q0McJWMbTUYDAAtvaKo6UGWzs9IRqFnjUGJycnWOO/qlWrolu3bnjkkUe0J/vSOhhkRvBLkcixELBoAmKcEBAClxMwXh4lMUKgZAkYDAa9TBHH8llayIf6Ly8XHAtoicGohGt+bg4sNcBgtFjbyCwvN8+i7ctX99ZgtGyGlv4MGgwGGAzWHUr2F/rWSqfXnJOfGQyGyzL4P/auA76Kovue914S0iEFEkgCSQghNOm9CCoodhREmigIivWv32fBLlIEEQREUBRRgY8O0psSegmhi0AoKUBCCBAghZD23zOw8dEUkGw2cPPj7s7O7s6cOTPv8e7cmXvb12sOpxKuKC0ewSF/woAwIAwIA8WXAVGsi2/f3bbIGUpr5MiRaq/iggULbpt2nj2bBgobRKt86unTyqs1Jw+4R5H5FDowozBtpNDDNjERG+vNycnFyVOp4DkjI1NNdjD/At5MJg0V4tDxsOKzaWlIOXFSYUxPT1c4mU/8xMszr40S8kJ89n1HjBRi595VHQvTzNOvjToTC4X1sf4TJ08pDunRmpwxn8I2UJg2UuzHIPuP45F9zHN6ekaRj8HLucjJyVEev4mV93jNfcn0CJ6RkYFTp06B9+zz+ZzIpQxwMkab7TC7R/BLQcuVMCAMCAPCgDBwGQOiWF9GiFwWPQPe3t5o3Lix+hEdFhYGOgei91qGfqEHWp7HjRsHeqkterTXh+BQbByiordg8bLfEBefACo0JzSlcO6CxTgYG4sP+g0EQx7xR/iI0d9i0+Yt11fwLXqKCuHS31diY9QWbNu5S5U6bfavSDh8BHPmL8Sob79H5Oq1Kn9T9FZ89c23Km3UgbwsWLIMh+LiMPPXeQXVUoFZuHQZZs9biEnTZqj8gxrX/b8YBiqvKsOgw8q16xGXkIAp02cpz9r0Cr52/SaNt3VYtW49+g3+Emlp6TiXlYWBQ0cg5sABg5BdqOZQXDw2b9mGJct/13AevpCpHXfs+gPR23fgo/6f42hiklIER40dp43Xrdpd4/79NQajC8Yga2c4uhWr1uDr777XuNTH4BbDxyCxXC70AM69xpwQ4MTKoEGDMGLECLz99tuYMGGC2s9Mr+ErV65Es2bNwBjQl5ch18LArWVAShMGhAFhQBgoKgZEsS4q5qXeazJgs9mUp1mGaJk1axbuuecerF+/HgzXwtAw9HRLS5CHh8c1yzDbDSrS/v5+qFY1AsdTTsDXxxuhIcFaOz3gYHVA5fBK2Ls3BolJx5RnZBdnZ0ObcCw5GYHlyqJu7Zo4duw4+MfrDVHRCAwoh+DyQZrin4QMzXIdqylo9CrNZ4ySc+fOaRbpbNStVRMODjZl6fdwd1fhv5jn6+MDTSNUExb7DxxUcY6NwqbXw1jVEZXC4FemjFqZ4O9XBglHjuBUaio8NayVwypin4btkKb4BwWW018z7HxSs04TU7UqEUjRxiB5dHNzxVlN2a+ijb/K4WHYG7MfSceSwdBJRTcGa6kxaLFYUKpkSaXsN6pfTxuD5e3GYALKBwUYxt3VKtqxY4eKW617uOZ30gFtsoTewMkfPWlzXzEnBTdv3gymr1aO5AkDdyQD0mhhQBgQBm5DBqy3YZukSbcJA1Sw6Wl2/PjxcHV1RZ06dZCUlISqVauqOLEM21Lcmmq1WsG9hjk5uZgxZx5q3VUDHp4eoBKbrimtGzdHq7yialdeXq7GtQuoyCYcOYpnOnXQFJtEBScsNARLf48EQ4UZrXQpANqBlmtOuFhtNk2PzsdhDWNIcAXtDlClcjhWaVZjNzc3NXGhMovgQIWVsi/mAOpoEwF3Va+qJkzCKoaCkxIxBw6pkGpFAE1VqY9BXiQkHNb6MxBWqw0B2sRKekYGNm7eglo1qvN2kYg+Blk5LcEZmZnghAA5DQsNvjgGA1FUY1DHxZU0Z8+exc6dO7F//37lkItjk5ZrCp9r2bIlfv/9d6RqkysMP8U8EWFAGCg+DAhSYUAYEAZuhAFRrG+ELXnWMAYqV66M119/Hb169cLgwYNVTFguA2dMVoaFYbgYhooxDNC/rMhXs1Cv3xiFlWvWIR95WLhkqWbVPIs9+2K0c5qm2Fg1ZSsc57POw8fb61/WduOv08q6ZfsOLFi8HJ4eHuBy6pycHCxc+huys3OU0hChWTWPp6SgYkjwjVfwL9+gBTBHm4yYPH0mnEuUwPYdu5TV1aYp2Lxm8cHB5XFGU3SKAh/rL6lNkMyat/Ci1fyQmkDh0uut23bCVbMME2dAWX+4u7upNvAdI8VHG4MbNm1Wkw+coOCydS4PL+fvp2BYLVY1OUFLa9GOwWVqDPKzwckdX29vWCwWhTEiPBxFNQYVgIsHjseBAwequNWc6OOEH7enhIWFgeGr6G2c3rsDAgKUB3JubeE7F1+XkzAgDAgDt5IBKUsYEAZMwoAo1ibpCIHx9ww4ODjg6aefRqtWrf7+QZPeDa5QHj27d8ULPbqjZvXqePShtujxTBe0atEMIZpC2LbNfaioWYQ7tm+nKdiVUa9OLUNb4u1VCr2e7YbnunVCrbuqKwzdO3fEk489jI5PPo72jz8C/Rm/MqVVvpEALRaLwtHlqfZoc28rNKhXB6VL++JBjTfieKD1PSjj6wtiLqspik8+9gio2PCeUXJfq7vR5aknFU72Hy3VL/R4RnF6793NwWX2DevXxT1anzNNC7tR2FgPl/M/162z6mdiqxAUpLgsU7q0svCTQ05KPPXEY0rBJka+Z5To44sYOQY5kRMeVlH1NTGwT/VnOBHEa+YXhVgsFqUwV6lSRe2pZhgp7qtm3Odp06aB8aJfeOEFFV5q2LBhePTRR9UEIbe1FAVeqVMYEAaEgaJnQBAIA7c/A6JY3/59XOxaSCtkCc0qaS9cCs5l4bT62OcbnbbaHGFzKmFaoTXcydUNZhWrzaJhczWtOLo4a9jMyx/7leG2nFzNyyGQr3FoXnxWB6vao89l5sVVit2XugAWBoQBYaC4MCA4hYF/wYD1X7wrrwoDhcIA9yfS27MZJT8vF3k52aYVq4MTcrOzTSsWi8202MhbXnauqfHlan1rsZqbQ6uDo6k5zMvNL9aKNZfxF8oXr0kK5XfsudQU5GSmq+9Zpvmdi/x8ZJ05iey0MyZBKjCEAWFAGCg6BqRmczIgirU5++WORpWtKQ//+9//MHToUPydgzJ64P3xxx8VVydOnACdnO3YsUNd88B3GfqGXnmppDOvKOXs2TS1n1rHoF9zIiEjI0PPVqGass6fL7g2KkHrXWrqae33a76qkhgY6kjHxzNv8GyPl3lGSE5ODoiHZ9bHs36dqbyG5zBb4Sc+oxUQ8kI85I1AWD/5JK/ESozMpzDNPKaNFH3M6XXq18ROzvR8toGiXxt1JlfkjNzpdZIrHR/PzOfZHi/zjBZioCdwYtbrZp+ePHkS3KfO/NTUVDUe7fP1Z+X8FwOLvhkMyunkROybMx47fxyCDYNfQ/LWtVj2ykM4tHQaMk8mY8XbHbFt3Gd/vSgpYUAYEAaEATMzcMdhE8X6juty8zeYP1ipND/++OOw2Wyg9909e/YgISGhIE0Feu7cueCPWLYoPj4eKSkpiIqKApVyeus9fvy42ge5atUq5bWX+WvWrMFvv/2Gffv2gQo386KjozF79mwlVNRXr14NlkdFneG+Dh48iJ9++glU3lnXzQhDLG2K3oJFS5cjLj4B9tc7/9iN9z/pjyNHE9WP8BFfj8WmqOibqeam36FCuGT5CmyI2oxt23eqcmL2H1Bet5f9HokR33yHFStXq/yNGrbho8aotFEHKlrzFy1VvM2YPVdVeyg2TuuTk+D1rDnzMHHKdJV/8FAs+g36Qnk2VxkGHSJXr1V9O3nqDDU5ckJTsChzFyxCVPRWfDpgMNLS0nAuKwsDBn+JfRq/BkFT1ZCvKG0MLl52YQxS8Ys/fBjrNmxC9Nbt+ODTAX+NwdHaGNxc9GOQztaGDBuhQpYV9RhUJNodpk6dilGjRqn91MnJyeD3Fh2a/fDDD+Be68mTJ6Nz586Ii4tT4QIffvhhbNy40a4ESeoMxP2xFb/99DVyss7h5N5tCHu4G9z8gzQL9Sl4Dkbt4AAAEABJREFUBIbixJ9bcHzXRriWNj5MnY5RzsKAMCAMCAO3KwO3rl2iWN86LqWkW8gAFZAZM2ZgwoQJoMOfBQsWKOWW6Tlz5oBKdYsWLZTizR+0mzdvhp+fn1KuU1NTwT3ZhLN27VqlzKxcuRJML1myBFTKly5dii1btqg8lse80NBQpdhGRkbi559/Br2O79q1C99++y22bdsGhs1hmTcjVLDoVKt6tSrKq7H9NdMRlcOVh/DEpGPgPnIXF+ebqeam30k6lozAgLLKaVqSpiSwoOpVq8Db20vj0gUhFcrjSGIiaCWMjYtH+aBAPmKYMPxXdk426tauBZuDTS3lrRRWEXS8RS/bxEnlm1zGHDgIOoszDNzFijg5QYdbDA3FiR1fHx+EhgTD09NTjdPK4ZWUMk3FPygw4OJbxp3Ijb+/H6pp/UrP2i4uLqhWJUJ5KXdycgTx7d0Xo0KDMZQVxTh0wNXGYKMG9dCgXl0Fo6jHoAJx8cDxyDBbTz31FOj5mxN8Nm0SMDw8HIe1yQqeHR0dwe+UKG2yj98fTF98XU7XYMBqtYBbCfJyc5Cflwf+eQZVhK2EM2KXz0Tp6g2YJSIMCAPCgDAgDJiSAWthopKyhYGbZaBkyZJ4/vnnERQUpJZ4U1EuU6aMSru5uamllhMnTgR/4LIOnrn0OzY2FrRUU5hPoZLOdyn0Kh4cHKx+/FavXh3Ma9q0qQqNRKsTreL8gcw6aLFOT09HYGCg+oFcp04dFvevxGqxqrr0Qnjt6OiEwHLllNK6UbMY165ZQ79t+Dk3N09TpF1VvftiDmDnrt1o2qghqMyGaRMPtGpXKB8EZ4MVfwVIO1B5dtL4stpsShFbtiIS993TUrsD5cl85ep1cHNzBUNLqcwiODho2BxsDuDy3xlz5qLWXTWU8lqpYqgKYxaz/6BSaIsAmqrSar0wBsnlkmW/q8mTwIByoKRnZGBjVDRqmWQMKsAXD2YZg4RDDqk4c1Iv76ICyO+ZrVu3Kiv1sWPHkJWVBX63rF69GqdPn0aFChX46m0r+/fvx/fff68mITm2rtZQfp/+8ssv4Nn+/t3Va6FPrzfg7OmN0jUagsu9s06fgJtfICzaZ4l5Tu6e8AisaP+apIUBYUAYEAaEAVMxIIo1YKoOETAALbZ9+/YFvYD36tVLhanp06cPevfurdKvvvoq+vXrh+HDh+Pdd99V1kDm9e/fXy0V/+ijj+Dv748mTZooa/NXX32F9u3bg/m0eLdr1w6ff/45WrZsqfIeeOABsL7WrVvj448/xnvvvaes1bVr1wYtTyybUrHizf+o89Wsl+s3bsLKNWvBH53cv6pfl9OsiFbNUlM1orJaQlwUSqG/Xxm1HHj+oiXw9HDHtp27sGT5b6CSuHvPXjUsq0SEI/n4cRUWTGUYeHB2dkZuTi4mTZkO5xJO4HL1eQsXaekS2PXHblC5CQmugDNnz6JiSIiByP6qqpRmmZ45Zx5OnDwFWs25xJp7mPdoVuD09AxtXJcAJ1BoYXd2LvHXiwalLozBKKxcfWEM8hyXkIAjR44i5cRJUFnkGDx/Pgs+3t4GofqrmsvH4J979/1182KqKMfgRQjq5OTkBE600Q8E91lzG8qECROU9Xr69OlqPNpsNpQtWxalSpVCvXr1wAgG6uXb9LB9+3Y1eRAZGYkTJ05g8eLF4EohrnLR05zw5IQDVxjpW3E4IZGTkYnz+YCLhydCH+iEe7+chcZ9R8O3en3UfvETlL/7UTR6ZxQCmz6A+m98cZsyKM0SBoQBYUAYKO4MiGJdbHpQgBrJAH8IP/LII+jRo8ctqZZLk3t274YXej6LmjWqKyuwfh2mWTLb3t9aKaxPt39CWV7r1al9S+q93kK8vbwUtp7du6J2zbtQS8P4ap/eaH1vK9SoVhUd2j0G/RkqQLyGgX8WiwVPd3gCXTs9hftb34uG9eui13Pd8XDb+0GuHnqgDcqU9sWzXTuhXFl/hZdLnQ2EqLgiPuKsX7c2WjRrgh7PdEGrFs3Aa+Lk0uZ7W7ZQmKnEGonvwhjsqvqZY7Clhqt3j+7K4s8l7G3b3KfGYEeTjMEqlcMVPcTFSQGOuaIcgwqM3eHxxx8HfTJwX3WzZs3wyiuv4LXXXlNOFznxx+8OTt4xzck7Tuw1b97croTbJ0nLfWJiIrjknauNuJfcYrEgNjYWixYtgsVyIU1/Fbt3X5gIo4XbW5vAcXNzg1W7b7FYkJ+Xi3PiEfz2GRjSEmFAGBAG7jAGRLG+wzq80Jt7iypwcHBAUQqXnvtoVmYu97THkQ8LLDYH0wp/mFo1fGYVzZQHs2IjLovNYmp8xGh2Drk3ljjNKharTVmPaUEujsKVBTDZH63O3GfO1Ti05vN7k8o1rdP8LtXTtOxz0pLOIfn9unfvXrUFJumBRxDe43XxCG6yfhU4woAwIAwIAzfGgPXGHpenhQFjGOD+1MKUmy1bs6kgn451TCpUGuj4x6wCqxVmxUZc+bn5psaXp407s3NoMXkfWy0AraTFVbgtwphv4euvhVZqWuTffvttdOnSBW3atAGvuX2nbdu2BWk6e6On9O7du+Ohhx5SFn72Q0raGZzPTBeP4NdPuTwpDAgDwoAwYEIGRLE2Yafc6ZD0ONYMhXXkyJGr0sEQWb/++utV75k1k/ttKTo+Lp+0j9Gr53P/NQWAnmXImeGXUlNPg1YnVkgM9HRNnNwnyTPzeeY100YKJ0OIh2fWy7N+TR55zXziJz6eeW2UkBfiIW+sk/WTT/JKbMTIfArTzGPaSOH4o+h1Mk0hdnKm57MNFP3aqDO5ImfkTq+TXOn4eGY+z/Z4mWe0EAP3EtvjYJ/SKktLLfO5/5ptsc83GmdxqM/TxUWbL7JCPIIXh94SjMKAMCAMCAPXYkAU62sxI/lFxgB/sHJvHp2XzZw5U4XHGjdunIotPW/ePDDvzJkzyvs3Q3IxDBbDY/FHeZGB/oeKD8XGYVP0loI41vzRPWbceMxfuETF6C3ecaz/ofG34DaVk/mLloI8zpg9V5XI9IkTJ8HrWXPmYeKU6Sqf4az6DfqiwGO8yjTgELl6LeLiEzB56gzlhO7EyZOgzF2wCFHRW/HpgMEq9Nu5rCwMGPylCr1lAKyCKshXlDYGFy9brnDy8xJ/+DDoZC1663Z88OkAHDmaqCZWRowei02bowveNSLBSQl6nd8QtRnbtu9UVW7YtBlDho1Qn5ER33yHFStXq3x6Lh8+aoxKF9Xhp59+wpAhQ/D6668jKSkJ/N56//338fXXX+Pll18GowrQKst9xStXrgT3YTPkX1HhNXO9bWs0gpOLm3gEN3MnCTZhQBgQBoSBf2RAFOt/pEgeKAoGGJ5mzZo1qur58+ejUaNGoHJNhZp7DA8dOoSFCxeqGMHcv0fPu9wLrV4w4YEKln0ca+47pJMrdzdXhVbiWCsarnlgOLV/Hcf6mqXfmhtUDOkEjM7dzp49CzrcCg0JVmPUZrOhcnglpUxT8Q8KDLg1ld5AKRyD/v5+qFa1Co6npIDO3apViVChwJycHBW+vftikJh0DC7OzkpuoPh//WjSsWQEBpRFvTq1kJScrMqjs7cG9eqqdEiF8jiSmKj25MbGxaN8UKDKL4oDJyUYWqtbt24oX748aKVmH1epUkVNAFatWhXcZ1ypUiXQ+zW9YDNdFFiLU53iEbw49ZZgFQaEAWFAGLicAevlGXItDJiFASpTFotFwWHMav6A5RLw9evXK2Wlfv36iIqKUiGx+COXDnTUwyY+WC3WS+JY61AZholW7I2atU7iWOusXHmm5fp2j2N9ZatvbQ4npuhgilwuWfY7vL29NIW2nJL0jAxsjIpGrZo1bm2lN1Babm4eOPF0+Ss2BxvCQkNBq3aF8kFwdnG+/BHDrskhFWdaqSmsmJMp/D6iN/CjR48iKytLhfTjiprU1FSEatj5nIgwIAwIA8KAMCAM3J4MiGJ9e/ZrsW4VnfMwzvTgwYPB+NHvvfeeil/NmNbDhg1Tyy/bt28Pxp7m0ssnn3xSxZ/28vIybbtpvdTjVlOhiY1PuASr1WpRYba4r9XHp+hjCEsc60u657ou7rA41tfFyY085O9XBlySPn/REnh6uOPPvfuueL1KRDiSjx9XYcGuuGlgBr2JN2zYEAylRW/YxzVMY8aMQVBQEDgJmJeXB66gCQgIAL+XGjduDH6vGQhRqhIGhAFhQBgQBoQBgxkQxdpgwqW6O5OBCzGE/4pjHaxZ3KhsM361fq4YGgKJY3318WGxWMCl84wTLXGsr87RP+VeGIN3Whzrf2Ll5u937NhR+XsYOXIkWrVqBXrEfvfddzF27FhwAvCll15S3rGZfvTRR9Xk4D333HPzFcqbwoAwIAwIA8KAMGBqBkSxNnX3CDhhQBgQBoSB254BaaAwIAwIA8KAMCAMFHsGRLEu9l14ezaAexjNKPmk26p9bEwq+Xl5YBxhswqQb2p8FqvF5Pi0sZdvbg7NPgZzc3JA54jFVeiLgV9DRSFSpzAgDAgDwoAwIAxcmwHtV9q1b8odYaCoGOAeRTOK4kNTXmFSoUJNxcasAlhgVmwXcOXDrH1bgMtibg45IVaA1YSfE4vFokJj0elYcRTI3z8xIPeFAWFAGBAGhIEiYUAU6yKhXSr9Owbo3Gv79u0YPXo06F3375692r3z589jwYIFKmbw1e4XVd7Zs2mg6PUzTeGPe3srFB2YUfTnjDozhFBq6mmQf73OzHPnlBJCfMTJfJ55zbSRkqNZGhnSime93uzsHPCaOHlmPvETH8+8NkrIC/HZ9x3zdGw861iY1vHqeUacOd4oel3kiFiIk5zp+WwDRb826pyRmQkzj0F7HsjZqVOnwM+NfT69g6empqqwYDyTY/Y1nZzxu8n+WUlfyUBOZjrOpaYgPy8X2WlnlPCp3PPncO7UceTlZPPyNhBpgjAgDAgDwsDtxoAo1rdbj94G7Tlz5gwmT56MRx55BB4eHpg0aRJ+++037NmzBzExMVi+fDnmzp2LuLg4lZ43bx5Wr16NJUuWYMKECdiyZYtSthjmZtasWaZQsA/FxmFT9BYsWroccfEJsL/e+cduvP9Jfxw5mgj+CB/x9Vhsioo2tCepEDKM0Yaozdi2faeqe8OmzRgybAROpaZixDffYcXK1Sqf4ZiGjxqj0kYdyMv8RUsVbzNmz1XVHjh4CIOGDlOxoWfNmYeJU6arfMaJ7jfoCzBcm8ow6BC5ei3o7X3y1BmgUkpFdcz3P4JervftP4BPBwxWY/FcVhb6D/5S4TYImqqGYy5KG4OLl10Yg5yUmKRx9uPPk1Qff/DpgL/G4GhtDG42fgwuXb4C67UxuNVuDA62G4O/243BYQaPQUWi3WHq1KkYNWoUGJkg+WLc7Tlz5mDEiBFg+L9p06ahc+fO6nuKIQIffvhhbNy40a4ESeoMjH35acz8vC8yU5KwYfBr2PnjEOybMx7bxpH5Wo4AABAASURBVH2GyPc6I+v0ScT8OgHLXn0Ypw/t0V+TsxEMSB3CgDAgDAgD182A9bqflAeFAYMYKFmyJLp06QKG3Bo3bhwCAwNx6NAh7Nq1Cwxrw3RCQgIWL16M+Ph4pWRTgeaP2ZCQEPWjdvfu3aBUqFABLi4uBiG/djUnTp5EWX8/VK9WBcdTUmB/zXRE5XDs2ReDxKRjKiyPi8ExepOOJSMwoCzq1amFpItKQqMG9dCgXl3VqJAK5XEkMVFZ4WLj4lE+KFDlG3WgkpytWarq1q4Fm4NNWQnpRf3B+1srCIzFTOWbXMYcOAh6wFY3DDxwciIivBIYNopWS8Zifrp9O7i7uSkUlbV7ezUFm4p/+cAAlWfkgdz4a2OwWtULY9DR0QFPPv4ISpf2VTAUvotj0MXZGRR1w6CDPgbra2PwmN0YbHhxDLJPj14cg4eKYAza08DxuHPnTjz11FNgSC1ao5m3YcMGZGdnq5U2FotFxa6OiorCtm3bVNq+DElfyUDqoT9RopQPwh7uhozkI3BwcYNDCVck71iP03F74Va2/JUvSY4wAEBIEAaEAWHADAyIYm2GXhAMlzBAp0K0UDNWrI+Pj1KcDxw4AF9fXxXeZv/+/QgPD1cK9F133QU/Pz8wjA2fd3R0hMViUeVZLBa4u7vDZrOpazMcrBYrnJycCqDw2tHRCYHlyimldaNmratds0bBfaMTubl5oEJ4eb1UZsNCQ0GrdoXyQXA2WPHX8VB5dtL4stqu7NOqEZWxcvU6uLm5wsfHW3/F8DPHm4PN4Yp6K1UMVRb3mP0HUa1KxBX3jcrgHmgnuzGo1xsYUA7pGRnYGBWNWiYcgw7ahIo+BoO1MWj05JPOE8/kkN81XA6ex33kWibHJmNXMwwXV9ZQ0W7atKlaTcPvNE7yaY8V639c0h4ZGYkZM2YgKyvrptrC5fBcXZSWlnbF+1YHR5WXl5ujzjwENGmDAwsmooSnF5xL+jBLRBgorgwIbmFAGLjNGRDF+jbv4OLYPFqs33jjDQwfPhzdu3fHl19+iUGDBqFly5YqPXjwYLRu3VrFi61Xrx769++vlo3znSZNmuDFF19E37598c4776By5cqmoMBXmyBYv3ETVq5Zq5Z7Z50/D/26nGZFtFotoGLI/KJQCv39yiB663a1bNnTwx1/7t13BW9VIsKRfPw4aCm+4mYhZzhrFtTcnFxw6bJzCSdwuTqVGvtqQ4Ir4MzZs6gYEmKfbVi6pKcnZs6ZhxMnT4FWc+4Xtq/c2bkEOIHi7u4Gpu3vGZG+MAajtMmHC2OQWxLs66WyyDF4/nwWfLyNn5gw+xi054oTE3Xq1MHQoUPBfdYpKSkYP348qlWrpmJYU6mm4l22bFmUKlUK/J7ixJ99GcUxffDgQfzxxx948MEHVbunTJkCTnpu3rwZf/75J7j9ZsWKFcpiP3/+fOzbtw98hiuMuEyeCnliYqLy20DeuNJox44daF6xMpo0bIGSIRFqOfiOHwahTM0miiLmUeH2q91cXctBGBAGCpsBKV8YEAZulgFRrG+WOXlPGLgBBoIrlEfP7t3wQs9nUbNGdTRt1LDgOkyzZLa9v7VSWJ9u/4RSsOvVqX0Dpf/7R729vBS2nt27onbNu1ClcrgqtG2b+0CFrEO7x6A/QwWI1+oBgw4WiwVPd3gCXTs9hftb34uG9euqlQjkicogcZYp7Ytnu3ZCubL+ID4Xg7cAtLm3Fbpp+DppOOvXrQ1XrX5yR2zESKxcXn9vyxZgmnkG0aequTAGu6p+5hjkygNyRK50nJw06ShjUPH1T4fHH38cP/74IwYOHIhmzZrh5ZdfRqdOnfD999+rbSw9evRQk4H9+vXDAw88gI8++gjNmxdv5TA0NBT+/v7g/vKZM2eqlUNr164Fl7rTKh8XF6eU6tmzZ2uTR8749ddfkZycDCrdukJNxfzYsWNISkoCt0xEREQgLx/Q/sHJvSQa/OdLtBjwM/xqNUXVzq/Br2ZTNPvkB3iFVUfDt7+CV6Ua/9Q1cl8YEAbuBAakjcKACRkQxdqEnXKnQ6LljBYhM0oJN0+U8PA2rTi5esDZ08e0UkL74WxmfC6lfOHi5WdqcfbwgquG0azi5FYKJbQxaFrxKKmcItIxYnEUR8cLy6WL4v+JdevWKX8X/I7m0vdFixaBW3G4x5zbd8gnt9/QcV+tWrXUthz6yOASeZ65/NvZ2Vkp1PSVUaNGDbU1pkQpbzjarNj+w0D8MekrbBr2X+yb/QOWv/YoziTsR2LUCix6vhWObVldFM2WOoUBYUAYuGkG5MU7iwFRrO+s/i4WreWeRe7DM6NYbI6wOTqZVrhkUvDdfP9YbQ6wWK0mF5u58dlspv188LNh1T7DVE6LsxTVF3mLFi3w3//+F9yi88orryiP6Pfffz/efvttlW7fvj0ee+wxvPXWW8onBp994oknlA8MRnno2bOnSr/22mvK8RuX07MtCY2bwKNGHZw9fBDh7XrCoYQLcnPOwyMwBMe2rUXK7s1wDwjmoyLCgDAgDAgDt54BKfEWMWC9ReVIMcLALWOAnr9Hjhyp9i8uWLCgoFzuW6TzHD0jOjpaLTXUr816ppMfWnC4J/jEiRNgODEdK9NsL/dosn28zzbSGsQ9iLyvP1tYZ9bFZZyslzhZL/P0+pjmfbaD+HjmPWK7/FnmF4awLtZLjOSKaft69Ps8U3iPz/BZvsPrwhTWxXr1PiaPen2snzj4DPN1zuzz9WcL66z3YXp6uvKszzFHLKzPHjMxsY955jvEynbxucIW1qNzRL6IgXXq+JjH+8THM+/xHWIkVl4XtrBecsczhWm9fuLk50THYn+fnsKJm23ifb5D7IWNt7iUn58PbbLIBqvNAfk5OcjPywX//OvejaTNkchOOw33cqJYkxMRYUAYEAbuXAbM33Kr+SEKwjuNAW9vbzRu3Bj8oRoWFoYxY8Zgy5YtyirCvX10kDNp0iSloOrKgVk5WrNmDRo1agTi5Z7ChQsXgnsvueeQmOkdlw6QnnvuOaxatQq0/tDBD/cldujQAQMGDEBh/9HL+tNPP60cD3GfKJ3F0eGQXq9+f9OmTcrKNGTIEOXBnBar119/XYW+0p8tjDMVki5duijvyu+//z6+/vprtZ+V+zNZn36fez3JF5+l4vLzzz+De1v37NnDxwpNqCixD1k3x+oXX3yB3r174/Dhw2oM22Omg6uHHnoIdAK1cuVKtTeXuAsN3MWC9T7kcl1OWhGfPmllj7moxqB9H5IX9vGnn36q0B89ehS0cI4dO1Y5w2KIK6PHoAKiHbh3eOLEiXj33XdB51x0kMi9xvxs01pLnJmZmdqTAD/b+n2G5iqKz7YCUgwONcqFgF6/PcuHIfrrD+Dk4QWG2XItE6ilS6F0jUbatUsxaIlAFAaEAWFAGLiTGVCK9Z1MgLTdfAzYbDZ4enqCSzXpNZahtPiDPzg4GNy3xyXiVExpLTIf+ksR0anRSy+9pDJ9fX2VQsozhZlUnqlocSKBHoQZRoyW+KioKHBPIp8pTKFySqW/QoUKSE1NVR6M6Ul927Ztqlr7+8zgc9wbSSXbYrGovarMLyyhhY/KKOu1Wq2oUqUK4uPjUbVqVRUWzP4+MXB/Jx1ybdiwAVSoQwzwEL5s2TJwjynrZv9xUiQoKAicIOJYtsfMMV2pUiVwryo9KTNN3IUp9n1I51OcDCG+Vq1aqWrtMfNzx2sjx+Dlfci+JocREREKH63AXM1RunRpMGIA7xs5BhWIiwdOQHHs8ZIYeSYeOvT67LPPVHg/5lHooItn3me/G80r6y4u4uflC2jfJ3f16ItWX0xDrd4fokrHlxDY9AE0fOsrVLinHeq/8QXKNWoN+RMGhAFhQBgQBszKQHFSrM3KoeAqJAaolFABpWLFUDWurq5Yv369UkroDKeQqi20Yp2cnNCuXTtVPi2WTNAqT8th27Zttd+VFtBCT+c+tFo3atSIjxSqsB5iobJK5ZDWXioxpUqVUvXa36ciSOWGGOkNmZMB6qFCPNCaSyWUHoW5UmHjxo3K4k8rJpfS2t/n6gDySS5/+eUXeHl5oUyZMoWIDuDyZHqBJhZORnBFApUvVkrMVGo5ScJVCsTM5cEtW7ZUqwM4kUFFl88Wptj3IbmksA/52SJfkZGR0DGzPbxn5Bi8vA85ocTJJq5SIV9UsCdMmACGbKLCb/QYtO+byZMnY+nSpfjkk0/w7LPP4sMPP1Qessmb/XNMd+3ateA++9poXolBRBgQBoQBYUAYEAaMY0AU61vOtRR4Kxig1ZSWtV69emHw4MHo06cPXnzxRTz//PNg+Br+sOWSUIa3uRX1GVEGFVNip4JAJfbjjz9WS4KpfOkKFi1bDRs2VJZjPa8wsXXs2BFc+l2rVi3QesrwOLTAUjml0lC/fv2C+9WrV1dQGDKIy5/p0VdlFOKBkwvfffedWjLdoEED0PrHpbh5eXkYPXo0aMXW79MREidjOHbII3EWIjRVNJV3LqV+5plnQAWQPE6bNk0p3FxVwXu0DuuYOSEUEBCglH5OTFCBVQUV4sG+j2vWrAlOQDRp0gR79+5Vn6WKFStCx0xrP7kzcgza9zHHGJeBcysCVwDQCszVKjxzOTWVblLFvjVqDLI+Ci3nXArOyR1+/3AShcv/iZPesPkMJSYmBvxs2993c3NTK3CM5JVYRIQBYUAYEAaEAWHAOAZEsTaOa3PVJGgMY4CTAxQqqVQadAs195BSmf3mm2/UElcqFVRmH374YXz11Vdo06aNmlQoTKBcBUAL4MCBA3HvvfeCCgyVLCqITBOTfr9169YKD5Ua7l9u2rSpUm5ZRmFh5EoF1v/GG2/g0UcfBfe2cq/tsGHD8MEHH4BY9PvkjfxRafzpp59w9913K3xsQ2HhoyLv4+OjcFDJohWTFuxx48aBeOgt2R4ztwWwX4mf7eGkEbc6FBY+lsv+IUfsYyp23J9cr149cAKCY5CemnXM5IwcErtRY9C+j+lB+r333gNXHBBb//79lRdpYuakDz9D5Iz9btQYJIcULkOfPn26mpgYPnw4nnzySZA38sQJEo4zTvZw8oLY7e9z0sdoXolZRBgQBoQBYUAYEAaMY8BqXFVSkzBwfQzQqscfqhSzicViub5GyFPCgDAgDAgDwoAwIAwIA8KAMHDHMCCK9R3T1cWnoVxea1bh0uOrMClZwoAwIAwIA8KAMCAMCAPCgDBwBzMgivUd3PnS9DuNAWmvMCAMCAPCgDAgDAgDwoAwIAwUBgOiWBcGq1KmMCAM3DwD8qYwIAwIA8KAMCAMCAPCgDBQzBgQxbqYdZjAFQaEAXMwICiEAWFAGCguDJw/fx70bG8WvHk5OWaBIjiEAWFAGLhlDIhifcuolIKEAWFAGDAdAwJIGBAGiikDGWdSMW3AW5g+8G2cSzurWrFv3z6MHz8e8fHx6vryw5YtW8BQb/b5SUlJWDB6KJYIRsIzAAAOm0lEQVSO+gLRS+apW1SyGdYuMjJSXV/rMHnyZLDOJUuW4MyZM8jIyCh49EbKOHTokHovNzsLK7dEYvraeVi5dRXyc3PAslkPQ+oxlKJ68OKB+fq7+/fvR1RUFDhJQLn4iML3d5zwuVOnTinezp07x0sRYUAYEAYKhQFRrAuFVilUGBAGhAFh4PoZkCeFAWHgcgai5k3DprlTsPHX/yFq/jRQwVy8eDEefPBB+Pv7Izo6GlQ8jx8/jsjISMydOxdUHLdv345ly5Yh56JVeP/mjSgdtxctUg/hwPq1SExMBMPVMUQcQ+9RYWWYxT179mDWrFnYtWsXMjMzMWfOHFVndnY2cnNzVai5AQMGgIp6VlbWJWUcO3ZMhcnju/bl2ZfB9mVlnMWq+P0Yve8A1sXF4FzmGcTFxSEsLAybNm3CqlWrkJCQACr9J0+eVMo827xhwwbk5+crpXrMmDGYMGGCSl+LE777+++/Y968edi7d69qC5VrlkEcIsKAMCAMFAYDolgXBqtS5g0z4FcxAm6+/lj+y1gR4UDGgIwBc44BE/XLbxO/RXjT+274u1ZeKD4MuHv7FIB19/ZFSkoKypYtq5RqR0dHULmlQktllkqpr68vLBYLQkNDlfJMizIL8PItjaTsfMTlOcLm4qKUZObzOXd3d1UuLcAsh0r50qVLMX/+fLA8CpXRAwcOoHTp0ggODlb165ZrvQxioSK/fv36S8rj+xTWR3FwcoRfCWeEODuhrIszbDYHhblUqVKIiIhQ73KyICYmRinZbGfjxo1BXEePHlXtCggIwF133QUnJyf1/NU4oZWdCj4xsz0NGzYEyyIGEWFAGBAGCosBUawLi1kp94YY4H+M93Tuhfu6vSgiHMgYkDEgY+AfxsC9XV9QStbVvmgl7/ZgoG7bJ/HqD78qqd3mMVSuXBlUcAcPHoytW7cqodJrsVhQqVIldU3l1mazwWq1FpBQpUEjVOnaC5nNHkKDzj1AxbRMmTIYOnQopk+frp5zdnZW+V5eXqhbty4CAwNBi29sbKy6z4OLppQnJycrizUVYfsyqPhS2SYePquXd3kZTi4l8WT9lnizQWO0a3APnFw8leV55syZyurepEkTsNxy5cqhZs2a6t6iRYtYZIFi7OHhoazqnAy4Fid8wWKxgDhdXV0xe/ZspKenM1tEGBAGhIFCY+Cvb95Cq0IKFgaEASMZyMpMByUvNweHtkeB+/T+rv5jsftB0Z85l56G1GNH9UvDzrey3tPHkxD/x9Z/xH69HP1jQSZ9IGH3dpw9cbwAHX/0njgSj+ws2WdYQIokiooBqfc6GKhQvQ4ofNTT0xPvvvsu3nnnHdSpUwcvv/wy3nzzTbRs2RLt2rVT182bN0f79u3RtWtX+Pj48DWlZFdr3Bx3P9EBQUFBykLcsWNHfPTRR+jQoQMaNWqk3qFl+P/+7/9w9913g2neHzRoELhk/NVXX1Xn999/H/7+/leU8cgjj6j6e/fufUl5ehnh4eEKCw8+voGoWbk+SnqV5aV6r2/fvmDZVKife+459OzZEyEhIejTpw9474UXXgCVbrbt/vvvx/PPP68s1tfihG3q1asXIjQrOMti2SyHkwOqUjkIA8KAMFAIDIhiXQikSpHCQFEwkJuTg9lDP8SQDi3xRcd7sDNyMZZ+PxzZ5zKvgLNn3QpQeGPV5O+QfCiGSSV/rlmOPetXqLSRh6vVe2TvLrXH8HpwZJ49g8iJY8Hz9uXzEBO15pqvse2U9NOp1+To8pf5POXyfLNeZ2WkYcXP3yDj7OkCiJlnUrFy0gWOCjIlIQwIA3/DgNwSBoQBYUAYEAaujwFRrK+PJ3lKGDA9AztXLMTx+IN4a8rveP/XDfAuFwQXd0/YHB0x96t+GPREUyz5bijidkZjSr838OvwTxC3eyvSTp3ApnlTMfaljspSfezQPvgGhahnpw96B191fxBH9/2B08mJ+O61LhjTpwNmf/EBsjLSsWHOJFD5hfZHa+i6mb9gcIe7lUJ3YMsGjOzxqJLEA3tAmdLvTVXGvJGfae+nYcHXAzGq52M4uHUjWK9PQHmsmfajyls15XtM/vg1zNeeidm0Gizv21c748e3euJMSvIl+I7s2YF5I/phybhhWPbDV0jcv0e1f+pnbyI99SQWjx2C/dHrNJTQLNnbCtp/YMt6NfEw8cNXQEy0YF9eD1+K/+Ovd8iZPZ/n0s6oCY2pn/1HcXMq6TBfUbJozBBM/OAlrJ/1yyX4ycVUO2wxm9di27J5+Lr3E8oDcNqplIIy9X6ZP7I/YrdHYeeKRao8rkpgHvljP6gKtYPeTxPe7oVzGWmgMv3Le33wy/sv4VjcAc3SZMWO3+YjetFMcKUC+/LU0QQQD8vap3FNfPo7xKIVK/+EAWHAzAwINmFAGBAGhIEiZ8Ba5AgEgDAgDPxrBqgQUuGq92B7OLt7aMqTBalJR+FZ2g/rZvwMJxcX9BkzXVNgN8G1lDdCazXEs1/8gFK+/jhzPAnNnnoOzh6eOJV4GMmxB1DCzR1xu7aiUr1m8A+tjJOJCVgwehC456/ZUz1wLv0sHJyc4BdcCaX8yin88bu2aFbyRXhl3GzUaNkWizRltnO/kajWojVo6U2JPwQu0W7Z5QVwOfKRfbs1JXcrnv54OAIqV1P1Wh1KYMvi2XjszU80TD1QvlptdOs/Gj6BwUphvu+5V8FlzMma8m+P7/TxY6jS9F40fKwT7u/9JrLS0+ATEIxMzYrNyYbjWt1+IReWIvqFhBW0n45zHJ1d0LrH6wpTsjYxQcVcr+eU1m42zv6dvWtXXMLnicPxYNsbP9FVcZEY8ydfURMHCX9u19p/v+LRvtzUpCM4nZwELrk/rFnlz505jeiFM/BA7/8gJSEWepm1Wj+q+iXlcJxSgl1KeuHA1g1w9/LFyonfav3kofokdkc0OAYoej81efIZeHj7qkmIDM1q/dgbn+CsNiFhsdmQl5er8vdrCr1ryVJY/N2XCK3dGBXrNlHKO/tKf8et1IXlpKpRcjA9A8E162HGoHdFhANTjgEZm/LZvFVjoGqz+0z/fSwA7zwGrHdek6XFwsDtx0DO+fOaEnm6oGE557NweM9OBIZXV+fyVWtpilwiSri6ISf7PGjtdNcU7JOaIk2F0z80HLRAW6wXlC6rxQYnTeEMvqsuzmdmwMWjFM6fy0SZ4DAc2bcL/hUjYLU5aApxdbhp5UD7O7r/T5Qs7a+uabUt4eIKt5JemiU6Rr1HPPUf6qApgLlwdnVHhRp10OjxLqBl9PCeXUrZK1sxHA++9I5mtX0H+6PWKGu6Z5mymqIZCzrjocLc6ZMR8CpX/hJ8Hj5lVDv9Qipp75xUZfkEBMHZzUMt9WY+lUwNprqvt/9yTGc0Zde+ngo16vKVgndctAkHvmPPZ/qZUyCHPgEVkH76lDaZ4V/wDjmMaNwS5MO+3NA6jeCk9cWq/40Dy0o7fRJUcPNyc/GcNuFBxZdlFvSLxaLKtDk44LhmdeaEybHY/eDkRlC1Wujw3hCwP7K1fr+8n7iigLx7+pZRqwtYn682UUHL9J9rf0P1Fg/gtDa5kpeTjboPPon7er6uuNTfsVgu1K0AyMH0DHh4l0b7vp+LCAcyBm5+DAh3xYC7Vs+8ZPrvYwF45zFgvfOaLC0WBm4/Bpw0JbbxE93U8u6B7ZqAS7JTDsfCJyhYWSFpxeQsMa2YDjYH8N7aGT8h6eBelNQU1/RUTbHzLIVMTTGkBTft1HHwTKZonfYJKA+rpnRzWTPjqpbVFOu96yMx6aNXQSWez5WpUBFU1EY89zBsjk6aon8G377SSVnPK2iWZ9bpVTYQiQf2oFx4VSz59ktsWzYXVPKyNAs469u5YiFWT/kBrhoWKoJchhz5yzfw9PXD2ZMp2LJkNjbOmYyTR+IuwVfKPwA52VlYO32CZnHdpO65eJRUbUvT3mvS/hlCVEIFklhWTx2veCCm5Lj9ChPT9vWoF7SD/s6GX/93BZ8nNCy7NQV1+DNt4aMp/GXDqmhvoAAjJzOIz77cEi5uSumndZqrBcpUCMPhP3dg49wp+GP10oJ+4Tsu7p5wcfcAMf70Tm9lsffW6vEuF6T4XjnpWzXxwEptWt/q/bR9+XywT9hWtov9pKc9tQkQLu+v3eZx+IVWgruXD3atXILffhyJtBPHC3hhmSLCgDAgDAgDZmRAMAkDwoDZGBDF2mw9IniEgZtkoEartvh0yXa8N3sdWnR6Ht0GfIOQmvVxd+deat/1fyYvQ0STViitKcB9Z65Bm+ffQON2XdG2z9uaUllNPV+l+X3o0m8UKjdqqc5c5t171GRlha7/yFO477nXUbp8RWWBZlm0rjo4lVCIK9ZprOp//cf5CK3dEK+Nn4v/+2khaGFmDFYdT6tufTR8vZRl+rmh4/HM59+iavPWqr6Gj3UG8/qMmaas4iyr44fDNOUvHP+ZtBRd+3+D+3q8hkoNmqvndXwe3r545LUP8d/JyzWra3t173xmJo7FxqDdfz/TFEdf6H96+x944b+qzeSoRadeClPp8qGX1HP5O+Tscj6pEHfoOxgfzN2Idm/1B63KfE/HSEvy1cp9+qNhKoyOq2bVr6hZsN+aukLh4XJ7vV8CI2rgmUFjVf+wz8jBS2NnqCXeD73cF0x37T9a9QfrZF/weT77zvSVqNaijSqTbeQ9vQ9YLsdK3bZPgPkso+fwn9D505Gg0q0/xzJFhAFhQBgQBoSBm2ZAXhQG7iAGrHdQW6WpwoAwcJMM0AEal1W7eHiiy2dfK8dgN1mUYa9xuTf3cwdrkwuFVWlebg7qPdRBs2I3LqwqpFxhQBgQBoQBYUAYKGQGpHhh4FYwIIr1rWBRyhAGbnMGuLyYVs/qd98PT98yxaK13O8dfFc9tRS9sADTGk1euHS9sOqQcoUBYUAYEAaEAWFAGAAgJJicAVGsTd5BAk8YEAaEAWFAGBAGhAFhQBgQBoSB4sHAnYvy/wEAAP//PQwkhAAAAAZJREFUAwAk0GZEVq0vnwAAAABJRU5ErkJggg==&quot;"/>
    <we:property name="snapshotTimestamp" value="&quot;1788519484812&quot;"/>
    <we:property name="snapshotAltText" value="&quot;customer pbi1, Duplicate of Duplicate of Page 2&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4405</TotalTime>
  <Words>1540</Words>
  <Application>Microsoft Office PowerPoint</Application>
  <PresentationFormat>Widescreen</PresentationFormat>
  <Paragraphs>152</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Inter</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 Raj Singh</cp:lastModifiedBy>
  <cp:revision>6</cp:revision>
  <dcterms:created xsi:type="dcterms:W3CDTF">2026-09-04T10:01:14Z</dcterms:created>
  <dcterms:modified xsi:type="dcterms:W3CDTF">2026-09-21T09:22:53Z</dcterms:modified>
</cp:coreProperties>
</file>